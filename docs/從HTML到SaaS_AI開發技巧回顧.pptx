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197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3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7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Connector 2"/>
          <p:cNvSpPr/>
          <p:nvPr/>
        </p:nvSpPr>
        <p:spPr>
          <a:xfrm>
            <a:off x="685800" y="914400"/>
            <a:ext cx="2377441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Oval 3"/>
          <p:cNvSpPr/>
          <p:nvPr/>
        </p:nvSpPr>
        <p:spPr>
          <a:xfrm>
            <a:off x="658368" y="886967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1450847" y="886967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8" name="Oval 5"/>
          <p:cNvSpPr/>
          <p:nvPr/>
        </p:nvSpPr>
        <p:spPr>
          <a:xfrm>
            <a:off x="2243327" y="886967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9" name="Oval 6"/>
          <p:cNvSpPr/>
          <p:nvPr/>
        </p:nvSpPr>
        <p:spPr>
          <a:xfrm>
            <a:off x="3035807" y="886967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685799" y="1280160"/>
            <a:ext cx="10607042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SPRING-MISSIONBOARD  ·  技術回顧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685799" y="1828799"/>
            <a:ext cx="10607042" cy="17170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pPr>
            <a:r>
              <a:t>未列管專案結案報告：</a:t>
            </a:r>
            <a:endParaRPr b="1"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pPr>
            <a:r>
              <a:t>從 HTML 到 SaaS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85799" y="3794759"/>
            <a:ext cx="10607042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2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什麼！？這也要兩個月</a:t>
            </a:r>
          </a:p>
        </p:txBody>
      </p:sp>
      <p:sp>
        <p:nvSpPr>
          <p:cNvPr id="103" name="Connector 10"/>
          <p:cNvSpPr/>
          <p:nvPr/>
        </p:nvSpPr>
        <p:spPr>
          <a:xfrm>
            <a:off x="685800" y="4663440"/>
            <a:ext cx="4983481" cy="1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TextBox 11"/>
          <p:cNvSpPr txBox="1"/>
          <p:nvPr/>
        </p:nvSpPr>
        <p:spPr>
          <a:xfrm>
            <a:off x="685800" y="4846320"/>
            <a:ext cx="82296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2026-06-08 → 2026-08-10   ·   Spring-MissionBoard 及其前身專案</a:t>
            </a:r>
          </a:p>
        </p:txBody>
      </p:sp>
      <p:grpSp>
        <p:nvGrpSpPr>
          <p:cNvPr id="107" name="Rounded Rectangle 12"/>
          <p:cNvGrpSpPr/>
          <p:nvPr/>
        </p:nvGrpSpPr>
        <p:grpSpPr>
          <a:xfrm>
            <a:off x="685800" y="6126479"/>
            <a:ext cx="2999233" cy="310897"/>
            <a:chOff x="0" y="0"/>
            <a:chExt cx="2999232" cy="310895"/>
          </a:xfrm>
        </p:grpSpPr>
        <p:sp>
          <p:nvSpPr>
            <p:cNvPr id="105" name="圓角矩形"/>
            <p:cNvSpPr/>
            <p:nvPr/>
          </p:nvSpPr>
          <p:spPr>
            <a:xfrm>
              <a:off x="0" y="0"/>
              <a:ext cx="2999233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6" name="personal project"/>
            <p:cNvSpPr txBox="1"/>
            <p:nvPr/>
          </p:nvSpPr>
          <p:spPr>
            <a:xfrm>
              <a:off x="820414" y="72898"/>
              <a:ext cx="1358404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22D3EE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personal project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685800" y="640080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DISCLAIMER</a:t>
            </a:r>
          </a:p>
        </p:txBody>
      </p:sp>
      <p:sp>
        <p:nvSpPr>
          <p:cNvPr id="110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11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Oval 7"/>
          <p:cNvSpPr/>
          <p:nvPr/>
        </p:nvSpPr>
        <p:spPr>
          <a:xfrm>
            <a:off x="685800" y="2121407"/>
            <a:ext cx="310896" cy="310897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8"/>
          <p:cNvSpPr txBox="1"/>
          <p:nvPr/>
        </p:nvSpPr>
        <p:spPr>
          <a:xfrm>
            <a:off x="685800" y="2175255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7" name="TextBox 9"/>
          <p:cNvSpPr txBox="1"/>
          <p:nvPr/>
        </p:nvSpPr>
        <p:spPr>
          <a:xfrm>
            <a:off x="1188719" y="2130551"/>
            <a:ext cx="10304741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以下介紹之專案（WbsScaff、Spring-WbsScaff、Spring-TaskFlow、Spring-MissionBoard），均為個人興趣開發，非公司指派或授權之專案</a:t>
            </a:r>
          </a:p>
        </p:txBody>
      </p:sp>
      <p:sp>
        <p:nvSpPr>
          <p:cNvPr id="118" name="Oval 10"/>
          <p:cNvSpPr/>
          <p:nvPr/>
        </p:nvSpPr>
        <p:spPr>
          <a:xfrm>
            <a:off x="685800" y="2834639"/>
            <a:ext cx="310896" cy="310897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11"/>
          <p:cNvSpPr txBox="1"/>
          <p:nvPr/>
        </p:nvSpPr>
        <p:spPr>
          <a:xfrm>
            <a:off x="685800" y="2888487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0" name="TextBox 12"/>
          <p:cNvSpPr txBox="1"/>
          <p:nvPr/>
        </p:nvSpPr>
        <p:spPr>
          <a:xfrm>
            <a:off x="1188719" y="2843783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使用之時間與設備均屬個人所有，與現職工作內容無關，亦不代表任何官方立場或部門決策</a:t>
            </a:r>
          </a:p>
        </p:txBody>
      </p:sp>
      <p:sp>
        <p:nvSpPr>
          <p:cNvPr id="121" name="Oval 13"/>
          <p:cNvSpPr/>
          <p:nvPr/>
        </p:nvSpPr>
        <p:spPr>
          <a:xfrm>
            <a:off x="685800" y="3547871"/>
            <a:ext cx="310896" cy="310897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14"/>
          <p:cNvSpPr txBox="1"/>
          <p:nvPr/>
        </p:nvSpPr>
        <p:spPr>
          <a:xfrm>
            <a:off x="685800" y="3601719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3" name="TextBox 15"/>
          <p:cNvSpPr txBox="1"/>
          <p:nvPr/>
        </p:nvSpPr>
        <p:spPr>
          <a:xfrm>
            <a:off x="1188719" y="3557015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目前均為個人技術驗證，未經正式上線審查，畫面所示資安、權限設計均為模擬情境，非真實系統</a:t>
            </a:r>
          </a:p>
        </p:txBody>
      </p:sp>
      <p:sp>
        <p:nvSpPr>
          <p:cNvPr id="124" name="Oval 16"/>
          <p:cNvSpPr/>
          <p:nvPr/>
        </p:nvSpPr>
        <p:spPr>
          <a:xfrm>
            <a:off x="685800" y="4261103"/>
            <a:ext cx="310896" cy="310897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TextBox 17"/>
          <p:cNvSpPr txBox="1"/>
          <p:nvPr/>
        </p:nvSpPr>
        <p:spPr>
          <a:xfrm>
            <a:off x="685800" y="4314951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6" name="TextBox 18"/>
          <p:cNvSpPr txBox="1"/>
          <p:nvPr/>
        </p:nvSpPr>
        <p:spPr>
          <a:xfrm>
            <a:off x="1188719" y="4270247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本次僅為開發心得分享交流，非提案亦非報告</a:t>
            </a:r>
          </a:p>
        </p:txBody>
      </p:sp>
      <p:sp>
        <p:nvSpPr>
          <p:cNvPr id="127" name="Oval 19"/>
          <p:cNvSpPr/>
          <p:nvPr/>
        </p:nvSpPr>
        <p:spPr>
          <a:xfrm>
            <a:off x="685800" y="4974335"/>
            <a:ext cx="310896" cy="310897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20"/>
          <p:cNvSpPr txBox="1"/>
          <p:nvPr/>
        </p:nvSpPr>
        <p:spPr>
          <a:xfrm>
            <a:off x="685800" y="5028183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9" name="TextBox 21"/>
          <p:cNvSpPr txBox="1"/>
          <p:nvPr/>
        </p:nvSpPr>
        <p:spPr>
          <a:xfrm>
            <a:off x="1188719" y="4983479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若因本簡報內容引發贊助衝動，歡迎抖內支持一位假日還在寫 code 的 AP 工程師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32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33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TextBox 8"/>
          <p:cNvSpPr txBox="1"/>
          <p:nvPr/>
        </p:nvSpPr>
        <p:spPr>
          <a:xfrm>
            <a:off x="978407" y="212140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身為一個 AP，開發本身不是最花時間的，最花時間的是每次開會都要重新對一次文件，格式不對齊、資訊分散</a:t>
            </a:r>
          </a:p>
        </p:txBody>
      </p:sp>
      <p:sp>
        <p:nvSpPr>
          <p:cNvPr id="139" name="Rectangle 9"/>
          <p:cNvSpPr/>
          <p:nvPr/>
        </p:nvSpPr>
        <p:spPr>
          <a:xfrm>
            <a:off x="685799" y="297230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10"/>
          <p:cNvSpPr txBox="1"/>
          <p:nvPr/>
        </p:nvSpPr>
        <p:spPr>
          <a:xfrm>
            <a:off x="978407" y="2880867"/>
            <a:ext cx="10515053" cy="664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換算一下：每週簡報，一人約 2MB，500 人一週約 1,000MB；一年 52 週下來，約 52,000MB（≈52GB）在四處流通、重複對稿</a:t>
            </a:r>
          </a:p>
        </p:txBody>
      </p:sp>
      <p:sp>
        <p:nvSpPr>
          <p:cNvPr id="141" name="Rectangle 11"/>
          <p:cNvSpPr/>
          <p:nvPr/>
        </p:nvSpPr>
        <p:spPr>
          <a:xfrm>
            <a:off x="685799" y="373176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TextBox 12"/>
          <p:cNvSpPr txBox="1"/>
          <p:nvPr/>
        </p:nvSpPr>
        <p:spPr>
          <a:xfrm>
            <a:off x="978407" y="3640328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想法很單純：能不能用 AI 幫忙，把「做文件、對文件」這件事變輕鬆一點？</a:t>
            </a:r>
          </a:p>
        </p:txBody>
      </p:sp>
      <p:sp>
        <p:nvSpPr>
          <p:cNvPr id="143" name="Rectangle 13"/>
          <p:cNvSpPr/>
          <p:nvPr/>
        </p:nvSpPr>
        <p:spPr>
          <a:xfrm>
            <a:off x="685799" y="41846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14"/>
          <p:cNvSpPr txBox="1"/>
          <p:nvPr/>
        </p:nvSpPr>
        <p:spPr>
          <a:xfrm>
            <a:off x="978407" y="4093209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所以就動手做了 Spring-MissionBoard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先講一下 SAAS</a:t>
            </a:r>
          </a:p>
        </p:txBody>
      </p:sp>
      <p:sp>
        <p:nvSpPr>
          <p:cNvPr id="147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48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東西放在同一個地方，大家連上去看到的都是同一份、也都是最新的</a:t>
            </a:r>
          </a:p>
        </p:txBody>
      </p:sp>
      <p:sp>
        <p:nvSpPr>
          <p:cNvPr id="149" name="Connector 4"/>
          <p:cNvSpPr/>
          <p:nvPr/>
        </p:nvSpPr>
        <p:spPr>
          <a:xfrm>
            <a:off x="685799" y="191109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" name="Oval 5"/>
          <p:cNvSpPr/>
          <p:nvPr/>
        </p:nvSpPr>
        <p:spPr>
          <a:xfrm>
            <a:off x="658368" y="1883664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Oval 6"/>
          <p:cNvSpPr/>
          <p:nvPr/>
        </p:nvSpPr>
        <p:spPr>
          <a:xfrm>
            <a:off x="106984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Oval 7"/>
          <p:cNvSpPr/>
          <p:nvPr/>
        </p:nvSpPr>
        <p:spPr>
          <a:xfrm>
            <a:off x="148132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3" name="Rectangle 8"/>
          <p:cNvSpPr/>
          <p:nvPr/>
        </p:nvSpPr>
        <p:spPr>
          <a:xfrm>
            <a:off x="685799" y="2414016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9"/>
          <p:cNvSpPr txBox="1"/>
          <p:nvPr/>
        </p:nvSpPr>
        <p:spPr>
          <a:xfrm>
            <a:off x="978407" y="2322576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開會前要人工合併，常常對到不一樣的版本　→　不用互傳檔案，也不用問「哪一份才是最新的」</a:t>
            </a:r>
          </a:p>
        </p:txBody>
      </p:sp>
      <p:sp>
        <p:nvSpPr>
          <p:cNvPr id="155" name="Rectangle 10"/>
          <p:cNvSpPr/>
          <p:nvPr/>
        </p:nvSpPr>
        <p:spPr>
          <a:xfrm>
            <a:off x="685799" y="2848990"/>
            <a:ext cx="4946631" cy="359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Rectangle 11"/>
          <p:cNvSpPr/>
          <p:nvPr/>
        </p:nvSpPr>
        <p:spPr>
          <a:xfrm>
            <a:off x="685799" y="2848991"/>
            <a:ext cx="4946631" cy="384049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12"/>
          <p:cNvSpPr txBox="1"/>
          <p:nvPr/>
        </p:nvSpPr>
        <p:spPr>
          <a:xfrm>
            <a:off x="685799" y="2926715"/>
            <a:ext cx="494663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以前 · 各自一份檔案</a:t>
            </a:r>
          </a:p>
        </p:txBody>
      </p:sp>
      <p:sp>
        <p:nvSpPr>
          <p:cNvPr id="158" name="Rectangle 13"/>
          <p:cNvSpPr/>
          <p:nvPr/>
        </p:nvSpPr>
        <p:spPr>
          <a:xfrm>
            <a:off x="6546829" y="2848990"/>
            <a:ext cx="4946630" cy="3597530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Rectangle 14"/>
          <p:cNvSpPr/>
          <p:nvPr/>
        </p:nvSpPr>
        <p:spPr>
          <a:xfrm>
            <a:off x="6546829" y="2848991"/>
            <a:ext cx="4946630" cy="38404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TextBox 15"/>
          <p:cNvSpPr txBox="1"/>
          <p:nvPr/>
        </p:nvSpPr>
        <p:spPr>
          <a:xfrm>
            <a:off x="6546829" y="2926715"/>
            <a:ext cx="494663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連到同一個地方</a:t>
            </a:r>
          </a:p>
        </p:txBody>
      </p:sp>
      <p:sp>
        <p:nvSpPr>
          <p:cNvPr id="161" name="Connector 16"/>
          <p:cNvSpPr/>
          <p:nvPr/>
        </p:nvSpPr>
        <p:spPr>
          <a:xfrm>
            <a:off x="5742156" y="4647755"/>
            <a:ext cx="694945" cy="1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2" name="Isosceles Triangle 17"/>
          <p:cNvSpPr/>
          <p:nvPr/>
        </p:nvSpPr>
        <p:spPr>
          <a:xfrm rot="5400000">
            <a:off x="6290797" y="4556315"/>
            <a:ext cx="182881" cy="182881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165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166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8"/>
          <p:cNvSpPr txBox="1"/>
          <p:nvPr/>
        </p:nvSpPr>
        <p:spPr>
          <a:xfrm>
            <a:off x="978407" y="212140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先從一支單一 HTML 檔開始，一個人就能做完，快速驗證想法可不可行，不做過度設計</a:t>
            </a:r>
          </a:p>
        </p:txBody>
      </p:sp>
      <p:sp>
        <p:nvSpPr>
          <p:cNvPr id="172" name="Rectangle 9"/>
          <p:cNvSpPr/>
          <p:nvPr/>
        </p:nvSpPr>
        <p:spPr>
          <a:xfrm>
            <a:off x="685799" y="266572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10"/>
          <p:cNvSpPr txBox="1"/>
          <p:nvPr/>
        </p:nvSpPr>
        <p:spPr>
          <a:xfrm>
            <a:off x="978407" y="2574289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確定方向對了，才往剛剛講的那種「大家連同一個地方」的系統走</a:t>
            </a:r>
          </a:p>
        </p:txBody>
      </p:sp>
      <p:sp>
        <p:nvSpPr>
          <p:cNvPr id="174" name="Rectangle 11"/>
          <p:cNvSpPr/>
          <p:nvPr/>
        </p:nvSpPr>
        <p:spPr>
          <a:xfrm>
            <a:off x="685799" y="3118611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12"/>
          <p:cNvSpPr txBox="1"/>
          <p:nvPr/>
        </p:nvSpPr>
        <p:spPr>
          <a:xfrm>
            <a:off x="978407" y="3027171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過程就是做出來、自己用用看，好用的留下、不好用的直接砍掉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178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現在的 Spring-MissionBoard</a:t>
            </a:r>
          </a:p>
        </p:txBody>
      </p:sp>
      <p:sp>
        <p:nvSpPr>
          <p:cNvPr id="179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0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Rectangle 7"/>
          <p:cNvSpPr/>
          <p:nvPr/>
        </p:nvSpPr>
        <p:spPr>
          <a:xfrm>
            <a:off x="630936" y="1975103"/>
            <a:ext cx="5330677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84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50" cy="3263095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Rectangle 9"/>
          <p:cNvSpPr/>
          <p:nvPr/>
        </p:nvSpPr>
        <p:spPr>
          <a:xfrm>
            <a:off x="630936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Rectangle 10"/>
          <p:cNvSpPr/>
          <p:nvPr/>
        </p:nvSpPr>
        <p:spPr>
          <a:xfrm>
            <a:off x="630936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9" name="Rounded Rectangle 11"/>
          <p:cNvGrpSpPr/>
          <p:nvPr/>
        </p:nvGrpSpPr>
        <p:grpSpPr>
          <a:xfrm>
            <a:off x="685800" y="5457652"/>
            <a:ext cx="1024128" cy="310897"/>
            <a:chOff x="0" y="0"/>
            <a:chExt cx="1024127" cy="310895"/>
          </a:xfrm>
        </p:grpSpPr>
        <p:sp>
          <p:nvSpPr>
            <p:cNvPr id="187" name="圓角矩形"/>
            <p:cNvSpPr/>
            <p:nvPr/>
          </p:nvSpPr>
          <p:spPr>
            <a:xfrm>
              <a:off x="0" y="0"/>
              <a:ext cx="1024128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8" name="分類管理"/>
            <p:cNvSpPr txBox="1"/>
            <p:nvPr/>
          </p:nvSpPr>
          <p:spPr>
            <a:xfrm>
              <a:off x="200914" y="47497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分類管理</a:t>
              </a:r>
            </a:p>
          </p:txBody>
        </p:sp>
      </p:grpSp>
      <p:sp>
        <p:nvSpPr>
          <p:cNvPr id="190" name="Rectangle 12"/>
          <p:cNvSpPr/>
          <p:nvPr/>
        </p:nvSpPr>
        <p:spPr>
          <a:xfrm>
            <a:off x="6217644" y="1975103"/>
            <a:ext cx="5330678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91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8" y="2029966"/>
            <a:ext cx="5220951" cy="3263095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Rectangle 14"/>
          <p:cNvSpPr/>
          <p:nvPr/>
        </p:nvSpPr>
        <p:spPr>
          <a:xfrm>
            <a:off x="6217644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Rectangle 15"/>
          <p:cNvSpPr/>
          <p:nvPr/>
        </p:nvSpPr>
        <p:spPr>
          <a:xfrm>
            <a:off x="6217644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6" name="Rounded Rectangle 16"/>
          <p:cNvGrpSpPr/>
          <p:nvPr/>
        </p:nvGrpSpPr>
        <p:grpSpPr>
          <a:xfrm>
            <a:off x="6272508" y="5457652"/>
            <a:ext cx="1024129" cy="310897"/>
            <a:chOff x="0" y="0"/>
            <a:chExt cx="1024127" cy="310895"/>
          </a:xfrm>
        </p:grpSpPr>
        <p:sp>
          <p:nvSpPr>
            <p:cNvPr id="194" name="圓角矩形"/>
            <p:cNvSpPr/>
            <p:nvPr/>
          </p:nvSpPr>
          <p:spPr>
            <a:xfrm>
              <a:off x="0" y="0"/>
              <a:ext cx="1024128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5" name="任務看板"/>
            <p:cNvSpPr txBox="1"/>
            <p:nvPr/>
          </p:nvSpPr>
          <p:spPr>
            <a:xfrm>
              <a:off x="200914" y="47497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任務看板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199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200" name="Connector 3"/>
          <p:cNvSpPr/>
          <p:nvPr/>
        </p:nvSpPr>
        <p:spPr>
          <a:xfrm>
            <a:off x="685799" y="152704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Oval 4"/>
          <p:cNvSpPr/>
          <p:nvPr/>
        </p:nvSpPr>
        <p:spPr>
          <a:xfrm>
            <a:off x="658368" y="149961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2" name="Oval 5"/>
          <p:cNvSpPr/>
          <p:nvPr/>
        </p:nvSpPr>
        <p:spPr>
          <a:xfrm>
            <a:off x="1069847" y="149961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3" name="Oval 6"/>
          <p:cNvSpPr/>
          <p:nvPr/>
        </p:nvSpPr>
        <p:spPr>
          <a:xfrm>
            <a:off x="1481327" y="149961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4" name="Connector 7"/>
          <p:cNvSpPr/>
          <p:nvPr/>
        </p:nvSpPr>
        <p:spPr>
          <a:xfrm>
            <a:off x="685800" y="2606039"/>
            <a:ext cx="10807660" cy="1"/>
          </a:xfrm>
          <a:prstGeom prst="line">
            <a:avLst/>
          </a:prstGeom>
          <a:ln w="254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Oval 8"/>
          <p:cNvSpPr/>
          <p:nvPr/>
        </p:nvSpPr>
        <p:spPr>
          <a:xfrm>
            <a:off x="1954460" y="2523744"/>
            <a:ext cx="164593" cy="16459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TextBox 9"/>
          <p:cNvSpPr txBox="1"/>
          <p:nvPr/>
        </p:nvSpPr>
        <p:spPr>
          <a:xfrm>
            <a:off x="685800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207" name="Rectangle 10"/>
          <p:cNvSpPr/>
          <p:nvPr/>
        </p:nvSpPr>
        <p:spPr>
          <a:xfrm>
            <a:off x="795528" y="2926079"/>
            <a:ext cx="2482458" cy="320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Rectangle 11"/>
          <p:cNvSpPr/>
          <p:nvPr/>
        </p:nvSpPr>
        <p:spPr>
          <a:xfrm>
            <a:off x="795528" y="2926079"/>
            <a:ext cx="2482458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TextBox 12"/>
          <p:cNvSpPr txBox="1"/>
          <p:nvPr/>
        </p:nvSpPr>
        <p:spPr>
          <a:xfrm>
            <a:off x="941832" y="3108960"/>
            <a:ext cx="218985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</a:t>
            </a:r>
          </a:p>
        </p:txBody>
      </p:sp>
      <p:sp>
        <p:nvSpPr>
          <p:cNvPr id="210" name="TextBox 13"/>
          <p:cNvSpPr txBox="1"/>
          <p:nvPr/>
        </p:nvSpPr>
        <p:spPr>
          <a:xfrm>
            <a:off x="941832" y="3547871"/>
            <a:ext cx="2189851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單檔 HTML WBS 工具，氣隙環境，無伺服器</a:t>
            </a:r>
          </a:p>
        </p:txBody>
      </p:sp>
      <p:sp>
        <p:nvSpPr>
          <p:cNvPr id="211" name="TextBox 14"/>
          <p:cNvSpPr txBox="1"/>
          <p:nvPr/>
        </p:nvSpPr>
        <p:spPr>
          <a:xfrm>
            <a:off x="941832" y="5166359"/>
            <a:ext cx="218985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38 commits · 6 檔 · 0.9MB</a:t>
            </a:r>
          </a:p>
        </p:txBody>
      </p:sp>
      <p:grpSp>
        <p:nvGrpSpPr>
          <p:cNvPr id="214" name="Rounded Rectangle 15"/>
          <p:cNvGrpSpPr/>
          <p:nvPr/>
        </p:nvGrpSpPr>
        <p:grpSpPr>
          <a:xfrm>
            <a:off x="941832" y="5705855"/>
            <a:ext cx="1517905" cy="310897"/>
            <a:chOff x="0" y="0"/>
            <a:chExt cx="1517903" cy="310895"/>
          </a:xfrm>
        </p:grpSpPr>
        <p:sp>
          <p:nvSpPr>
            <p:cNvPr id="212" name="圓角矩形"/>
            <p:cNvSpPr/>
            <p:nvPr/>
          </p:nvSpPr>
          <p:spPr>
            <a:xfrm>
              <a:off x="0" y="0"/>
              <a:ext cx="1517904" cy="31089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3" name="耗時 11 天"/>
            <p:cNvSpPr txBox="1"/>
            <p:nvPr/>
          </p:nvSpPr>
          <p:spPr>
            <a:xfrm>
              <a:off x="409181" y="66548"/>
              <a:ext cx="69954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11 天</a:t>
              </a:r>
            </a:p>
          </p:txBody>
        </p:sp>
      </p:grpSp>
      <p:sp>
        <p:nvSpPr>
          <p:cNvPr id="215" name="Oval 16"/>
          <p:cNvSpPr/>
          <p:nvPr/>
        </p:nvSpPr>
        <p:spPr>
          <a:xfrm>
            <a:off x="4656375" y="2523744"/>
            <a:ext cx="164593" cy="16459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TextBox 17"/>
          <p:cNvSpPr txBox="1"/>
          <p:nvPr/>
        </p:nvSpPr>
        <p:spPr>
          <a:xfrm>
            <a:off x="3387714" y="2103120"/>
            <a:ext cx="270191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217" name="Rectangle 18"/>
          <p:cNvSpPr/>
          <p:nvPr/>
        </p:nvSpPr>
        <p:spPr>
          <a:xfrm>
            <a:off x="3497441" y="2926079"/>
            <a:ext cx="2482459" cy="320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Rectangle 19"/>
          <p:cNvSpPr/>
          <p:nvPr/>
        </p:nvSpPr>
        <p:spPr>
          <a:xfrm>
            <a:off x="3497441" y="2926079"/>
            <a:ext cx="2482459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20"/>
          <p:cNvSpPr txBox="1"/>
          <p:nvPr/>
        </p:nvSpPr>
        <p:spPr>
          <a:xfrm>
            <a:off x="3643745" y="3108960"/>
            <a:ext cx="218985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</a:t>
            </a:r>
          </a:p>
        </p:txBody>
      </p:sp>
      <p:sp>
        <p:nvSpPr>
          <p:cNvPr id="220" name="TextBox 21"/>
          <p:cNvSpPr txBox="1"/>
          <p:nvPr/>
        </p:nvSpPr>
        <p:spPr>
          <a:xfrm>
            <a:off x="3643745" y="3547871"/>
            <a:ext cx="2189851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搬上 Web，多人即時協作、部門權限</a:t>
            </a:r>
          </a:p>
        </p:txBody>
      </p:sp>
      <p:sp>
        <p:nvSpPr>
          <p:cNvPr id="221" name="TextBox 22"/>
          <p:cNvSpPr txBox="1"/>
          <p:nvPr/>
        </p:nvSpPr>
        <p:spPr>
          <a:xfrm>
            <a:off x="3643745" y="5166359"/>
            <a:ext cx="218985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97 commits · 152 檔 · 6.9MB</a:t>
            </a:r>
          </a:p>
        </p:txBody>
      </p:sp>
      <p:grpSp>
        <p:nvGrpSpPr>
          <p:cNvPr id="224" name="Rounded Rectangle 23"/>
          <p:cNvGrpSpPr/>
          <p:nvPr/>
        </p:nvGrpSpPr>
        <p:grpSpPr>
          <a:xfrm>
            <a:off x="3643745" y="5705855"/>
            <a:ext cx="1517905" cy="310897"/>
            <a:chOff x="0" y="0"/>
            <a:chExt cx="1517903" cy="310895"/>
          </a:xfrm>
        </p:grpSpPr>
        <p:sp>
          <p:nvSpPr>
            <p:cNvPr id="222" name="圓角矩形"/>
            <p:cNvSpPr/>
            <p:nvPr/>
          </p:nvSpPr>
          <p:spPr>
            <a:xfrm>
              <a:off x="0" y="0"/>
              <a:ext cx="1517904" cy="31089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23" name="耗時 14 天"/>
            <p:cNvSpPr txBox="1"/>
            <p:nvPr/>
          </p:nvSpPr>
          <p:spPr>
            <a:xfrm>
              <a:off x="409181" y="66548"/>
              <a:ext cx="69954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14 天</a:t>
              </a:r>
            </a:p>
          </p:txBody>
        </p:sp>
      </p:grpSp>
      <p:sp>
        <p:nvSpPr>
          <p:cNvPr id="225" name="Oval 24"/>
          <p:cNvSpPr/>
          <p:nvPr/>
        </p:nvSpPr>
        <p:spPr>
          <a:xfrm>
            <a:off x="7358289" y="2523744"/>
            <a:ext cx="164593" cy="16459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25"/>
          <p:cNvSpPr txBox="1"/>
          <p:nvPr/>
        </p:nvSpPr>
        <p:spPr>
          <a:xfrm>
            <a:off x="6089629" y="2103120"/>
            <a:ext cx="270191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227" name="Rectangle 26"/>
          <p:cNvSpPr/>
          <p:nvPr/>
        </p:nvSpPr>
        <p:spPr>
          <a:xfrm>
            <a:off x="6199356" y="2926079"/>
            <a:ext cx="2482459" cy="320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27"/>
          <p:cNvSpPr/>
          <p:nvPr/>
        </p:nvSpPr>
        <p:spPr>
          <a:xfrm>
            <a:off x="6199356" y="2926079"/>
            <a:ext cx="2482459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28"/>
          <p:cNvSpPr txBox="1"/>
          <p:nvPr/>
        </p:nvSpPr>
        <p:spPr>
          <a:xfrm>
            <a:off x="6345661" y="3108960"/>
            <a:ext cx="218985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</a:t>
            </a:r>
          </a:p>
        </p:txBody>
      </p:sp>
      <p:sp>
        <p:nvSpPr>
          <p:cNvPr id="230" name="TextBox 29"/>
          <p:cNvSpPr txBox="1"/>
          <p:nvPr/>
        </p:nvSpPr>
        <p:spPr>
          <a:xfrm>
            <a:off x="6345661" y="3547871"/>
            <a:ext cx="2189851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拆出獨立看板系統，核心從樹狀改拖曳卡片</a:t>
            </a:r>
          </a:p>
        </p:txBody>
      </p:sp>
      <p:sp>
        <p:nvSpPr>
          <p:cNvPr id="231" name="TextBox 30"/>
          <p:cNvSpPr txBox="1"/>
          <p:nvPr/>
        </p:nvSpPr>
        <p:spPr>
          <a:xfrm>
            <a:off x="6345661" y="5166359"/>
            <a:ext cx="218985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32 commits · 115 檔 · 2.0MB</a:t>
            </a:r>
          </a:p>
        </p:txBody>
      </p:sp>
      <p:grpSp>
        <p:nvGrpSpPr>
          <p:cNvPr id="234" name="Rounded Rectangle 31"/>
          <p:cNvGrpSpPr/>
          <p:nvPr/>
        </p:nvGrpSpPr>
        <p:grpSpPr>
          <a:xfrm>
            <a:off x="6345661" y="5705855"/>
            <a:ext cx="1353313" cy="310897"/>
            <a:chOff x="0" y="0"/>
            <a:chExt cx="1353311" cy="310895"/>
          </a:xfrm>
        </p:grpSpPr>
        <p:sp>
          <p:nvSpPr>
            <p:cNvPr id="232" name="圓角矩形"/>
            <p:cNvSpPr/>
            <p:nvPr/>
          </p:nvSpPr>
          <p:spPr>
            <a:xfrm>
              <a:off x="0" y="0"/>
              <a:ext cx="1353312" cy="31089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3" name="耗時 5 天"/>
            <p:cNvSpPr txBox="1"/>
            <p:nvPr/>
          </p:nvSpPr>
          <p:spPr>
            <a:xfrm>
              <a:off x="365115" y="66548"/>
              <a:ext cx="62308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5 天</a:t>
              </a:r>
            </a:p>
          </p:txBody>
        </p:sp>
      </p:grpSp>
      <p:sp>
        <p:nvSpPr>
          <p:cNvPr id="235" name="Oval 32"/>
          <p:cNvSpPr/>
          <p:nvPr/>
        </p:nvSpPr>
        <p:spPr>
          <a:xfrm>
            <a:off x="10060205" y="2523744"/>
            <a:ext cx="164593" cy="16459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" name="TextBox 33"/>
          <p:cNvSpPr txBox="1"/>
          <p:nvPr/>
        </p:nvSpPr>
        <p:spPr>
          <a:xfrm>
            <a:off x="8791544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237" name="Rectangle 34"/>
          <p:cNvSpPr/>
          <p:nvPr/>
        </p:nvSpPr>
        <p:spPr>
          <a:xfrm>
            <a:off x="8901272" y="2926079"/>
            <a:ext cx="2482459" cy="320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Rectangle 35"/>
          <p:cNvSpPr/>
          <p:nvPr/>
        </p:nvSpPr>
        <p:spPr>
          <a:xfrm>
            <a:off x="8901272" y="2926079"/>
            <a:ext cx="2482459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36"/>
          <p:cNvSpPr txBox="1"/>
          <p:nvPr/>
        </p:nvSpPr>
        <p:spPr>
          <a:xfrm>
            <a:off x="9047575" y="3108960"/>
            <a:ext cx="218985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MissionBoard</a:t>
            </a:r>
          </a:p>
        </p:txBody>
      </p:sp>
      <p:sp>
        <p:nvSpPr>
          <p:cNvPr id="240" name="TextBox 37"/>
          <p:cNvSpPr txBox="1"/>
          <p:nvPr/>
        </p:nvSpPr>
        <p:spPr>
          <a:xfrm>
            <a:off x="9047575" y="3547871"/>
            <a:ext cx="2189851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全新 repo 合併兩者，拆掉節點模型改用任務導向</a:t>
            </a:r>
          </a:p>
        </p:txBody>
      </p:sp>
      <p:sp>
        <p:nvSpPr>
          <p:cNvPr id="241" name="TextBox 38"/>
          <p:cNvSpPr txBox="1"/>
          <p:nvPr/>
        </p:nvSpPr>
        <p:spPr>
          <a:xfrm>
            <a:off x="9047575" y="5166359"/>
            <a:ext cx="218985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73 commits · 83 檔 · 0.49MB</a:t>
            </a:r>
          </a:p>
        </p:txBody>
      </p:sp>
      <p:grpSp>
        <p:nvGrpSpPr>
          <p:cNvPr id="244" name="Rounded Rectangle 39"/>
          <p:cNvGrpSpPr/>
          <p:nvPr/>
        </p:nvGrpSpPr>
        <p:grpSpPr>
          <a:xfrm>
            <a:off x="9047575" y="5705855"/>
            <a:ext cx="1517905" cy="310897"/>
            <a:chOff x="0" y="0"/>
            <a:chExt cx="1517903" cy="310895"/>
          </a:xfrm>
        </p:grpSpPr>
        <p:sp>
          <p:nvSpPr>
            <p:cNvPr id="242" name="圓角矩形"/>
            <p:cNvSpPr/>
            <p:nvPr/>
          </p:nvSpPr>
          <p:spPr>
            <a:xfrm>
              <a:off x="0" y="0"/>
              <a:ext cx="1517904" cy="31089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3" name="耗時 24 天"/>
            <p:cNvSpPr txBox="1"/>
            <p:nvPr/>
          </p:nvSpPr>
          <p:spPr>
            <a:xfrm>
              <a:off x="409181" y="66548"/>
              <a:ext cx="69954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24 天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247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248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9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0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8"/>
          <p:cNvSpPr txBox="1"/>
          <p:nvPr/>
        </p:nvSpPr>
        <p:spPr>
          <a:xfrm>
            <a:off x="978407" y="212140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→ Spring-WbsScaff：從一支單機 HTML，變成大家連得上、資料存得住的系統</a:t>
            </a:r>
          </a:p>
        </p:txBody>
      </p:sp>
      <p:sp>
        <p:nvSpPr>
          <p:cNvPr id="254" name="Rectangle 9"/>
          <p:cNvSpPr/>
          <p:nvPr/>
        </p:nvSpPr>
        <p:spPr>
          <a:xfrm>
            <a:off x="685799" y="297230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5" name="TextBox 10"/>
          <p:cNvSpPr txBox="1"/>
          <p:nvPr/>
        </p:nvSpPr>
        <p:spPr>
          <a:xfrm>
            <a:off x="978407" y="288086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Spring-TaskFlow：把看板做起來，也把開發流程順出來，後面要長新東西就快很多</a:t>
            </a:r>
          </a:p>
        </p:txBody>
      </p:sp>
      <p:sp>
        <p:nvSpPr>
          <p:cNvPr id="256" name="Rectangle 11"/>
          <p:cNvSpPr/>
          <p:nvPr/>
        </p:nvSpPr>
        <p:spPr>
          <a:xfrm>
            <a:off x="685799" y="3425190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7" name="TextBox 12"/>
          <p:cNvSpPr txBox="1"/>
          <p:nvPr/>
        </p:nvSpPr>
        <p:spPr>
          <a:xfrm>
            <a:off x="978407" y="3333749"/>
            <a:ext cx="10515053" cy="664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WbsFlow → MissionBoard：想把兩套的特色合在一起時卡住了，目標互相打架，乾脆重新確立方向——任務導向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WBSSCAFF</a:t>
            </a:r>
          </a:p>
        </p:txBody>
      </p:sp>
      <p:sp>
        <p:nvSpPr>
          <p:cNvPr id="260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一支打開就能用的 HTML 檔</a:t>
            </a:r>
          </a:p>
        </p:txBody>
      </p:sp>
      <p:sp>
        <p:nvSpPr>
          <p:cNvPr id="261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262" name="Connector 4"/>
          <p:cNvSpPr/>
          <p:nvPr/>
        </p:nvSpPr>
        <p:spPr>
          <a:xfrm>
            <a:off x="685799" y="191109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3" name="Oval 5"/>
          <p:cNvSpPr/>
          <p:nvPr/>
        </p:nvSpPr>
        <p:spPr>
          <a:xfrm>
            <a:off x="658368" y="1883664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4" name="Oval 6"/>
          <p:cNvSpPr/>
          <p:nvPr/>
        </p:nvSpPr>
        <p:spPr>
          <a:xfrm>
            <a:off x="106984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5" name="Oval 7"/>
          <p:cNvSpPr/>
          <p:nvPr/>
        </p:nvSpPr>
        <p:spPr>
          <a:xfrm>
            <a:off x="148132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6" name="Rectangle 8"/>
          <p:cNvSpPr/>
          <p:nvPr/>
        </p:nvSpPr>
        <p:spPr>
          <a:xfrm>
            <a:off x="685799" y="2414016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7" name="TextBox 9"/>
          <p:cNvSpPr txBox="1"/>
          <p:nvPr/>
        </p:nvSpPr>
        <p:spPr>
          <a:xfrm>
            <a:off x="978407" y="2322576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不用安裝、不用連網路，檔案傳給誰都能直接打開來用</a:t>
            </a:r>
          </a:p>
        </p:txBody>
      </p:sp>
      <p:sp>
        <p:nvSpPr>
          <p:cNvPr id="268" name="Rectangle 10"/>
          <p:cNvSpPr/>
          <p:nvPr/>
        </p:nvSpPr>
        <p:spPr>
          <a:xfrm>
            <a:off x="685799" y="2848864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TextBox 11"/>
          <p:cNvSpPr txBox="1"/>
          <p:nvPr/>
        </p:nvSpPr>
        <p:spPr>
          <a:xfrm>
            <a:off x="978407" y="2757423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用樹狀結構把工作拆項目，最多五層，雙擊就能改標題，也能直接拖曳搬位置</a:t>
            </a:r>
          </a:p>
        </p:txBody>
      </p:sp>
      <p:sp>
        <p:nvSpPr>
          <p:cNvPr id="270" name="Rectangle 12"/>
          <p:cNvSpPr/>
          <p:nvPr/>
        </p:nvSpPr>
        <p:spPr>
          <a:xfrm>
            <a:off x="685799" y="3283710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13"/>
          <p:cNvSpPr txBox="1"/>
          <p:nvPr/>
        </p:nvSpPr>
        <p:spPr>
          <a:xfrm>
            <a:off x="978407" y="3192271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上層的完成狀態由下層自動算出來，不能手動亂填——這個設計後來每一代都留著</a:t>
            </a:r>
          </a:p>
        </p:txBody>
      </p:sp>
      <p:sp>
        <p:nvSpPr>
          <p:cNvPr id="272" name="Rectangle 14"/>
          <p:cNvSpPr/>
          <p:nvPr/>
        </p:nvSpPr>
        <p:spPr>
          <a:xfrm>
            <a:off x="685799" y="371855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15"/>
          <p:cNvSpPr txBox="1"/>
          <p:nvPr/>
        </p:nvSpPr>
        <p:spPr>
          <a:xfrm>
            <a:off x="978407" y="3627118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可以匯出入 Excel／CSV，銜接大家原本就在用的檔案流程</a:t>
            </a:r>
          </a:p>
        </p:txBody>
      </p:sp>
      <p:sp>
        <p:nvSpPr>
          <p:cNvPr id="274" name="Rectangle 16"/>
          <p:cNvSpPr/>
          <p:nvPr/>
        </p:nvSpPr>
        <p:spPr>
          <a:xfrm>
            <a:off x="685800" y="4153406"/>
            <a:ext cx="10807659" cy="64008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17"/>
          <p:cNvSpPr txBox="1"/>
          <p:nvPr/>
        </p:nvSpPr>
        <p:spPr>
          <a:xfrm>
            <a:off x="914399" y="4226559"/>
            <a:ext cx="292608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這一代還留著，可以直接玩：</a:t>
            </a:r>
          </a:p>
        </p:txBody>
      </p:sp>
      <p:sp>
        <p:nvSpPr>
          <p:cNvPr id="276" name="TextBox 18"/>
          <p:cNvSpPr txBox="1"/>
          <p:nvPr/>
        </p:nvSpPr>
        <p:spPr>
          <a:xfrm>
            <a:off x="3886199" y="4226559"/>
            <a:ext cx="742438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https://lingaoscar.github.io/WbsScaff/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畫面</a:t>
            </a:r>
          </a:p>
        </p:txBody>
      </p:sp>
      <p:sp>
        <p:nvSpPr>
          <p:cNvPr id="279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WbsScaff：離線 WBS 樹狀編輯器</a:t>
            </a:r>
          </a:p>
        </p:txBody>
      </p:sp>
      <p:sp>
        <p:nvSpPr>
          <p:cNvPr id="280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1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3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4" name="Rectangle 7"/>
          <p:cNvSpPr/>
          <p:nvPr/>
        </p:nvSpPr>
        <p:spPr>
          <a:xfrm>
            <a:off x="2889229" y="1975103"/>
            <a:ext cx="6400801" cy="4041649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85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092" y="2029966"/>
            <a:ext cx="6291073" cy="393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Rectangle 9"/>
          <p:cNvSpPr/>
          <p:nvPr/>
        </p:nvSpPr>
        <p:spPr>
          <a:xfrm>
            <a:off x="2889229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10"/>
          <p:cNvSpPr/>
          <p:nvPr/>
        </p:nvSpPr>
        <p:spPr>
          <a:xfrm>
            <a:off x="2889229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90" name="Rounded Rectangle 11"/>
          <p:cNvGrpSpPr/>
          <p:nvPr/>
        </p:nvGrpSpPr>
        <p:grpSpPr>
          <a:xfrm>
            <a:off x="2944092" y="6126479"/>
            <a:ext cx="3986786" cy="310897"/>
            <a:chOff x="0" y="0"/>
            <a:chExt cx="3986784" cy="310895"/>
          </a:xfrm>
        </p:grpSpPr>
        <p:sp>
          <p:nvSpPr>
            <p:cNvPr id="288" name="圓角矩形"/>
            <p:cNvSpPr/>
            <p:nvPr/>
          </p:nvSpPr>
          <p:spPr>
            <a:xfrm>
              <a:off x="0" y="0"/>
              <a:ext cx="3986785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9" name="打開瀏覽器就是一支完整的工具，不用裝任何東西"/>
            <p:cNvSpPr txBox="1"/>
            <p:nvPr/>
          </p:nvSpPr>
          <p:spPr>
            <a:xfrm>
              <a:off x="310641" y="47497"/>
              <a:ext cx="3365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打開瀏覽器就是一支完整的工具，不用裝任何東西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SPRING-WBSSCAFF</a:t>
            </a:r>
          </a:p>
        </p:txBody>
      </p:sp>
      <p:sp>
        <p:nvSpPr>
          <p:cNvPr id="293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294" name="TextBox 3"/>
          <p:cNvSpPr txBox="1"/>
          <p:nvPr/>
        </p:nvSpPr>
        <p:spPr>
          <a:xfrm>
            <a:off x="685800" y="166420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295" name="Connector 4"/>
          <p:cNvSpPr/>
          <p:nvPr/>
        </p:nvSpPr>
        <p:spPr>
          <a:xfrm>
            <a:off x="685799" y="204825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6" name="Oval 5"/>
          <p:cNvSpPr/>
          <p:nvPr/>
        </p:nvSpPr>
        <p:spPr>
          <a:xfrm>
            <a:off x="658368" y="2020823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7" name="Oval 6"/>
          <p:cNvSpPr/>
          <p:nvPr/>
        </p:nvSpPr>
        <p:spPr>
          <a:xfrm>
            <a:off x="1069847" y="2020823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8" name="Oval 7"/>
          <p:cNvSpPr/>
          <p:nvPr/>
        </p:nvSpPr>
        <p:spPr>
          <a:xfrm>
            <a:off x="1481327" y="2020823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8"/>
          <p:cNvSpPr/>
          <p:nvPr/>
        </p:nvSpPr>
        <p:spPr>
          <a:xfrm>
            <a:off x="685799" y="2596895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9"/>
          <p:cNvSpPr txBox="1"/>
          <p:nvPr/>
        </p:nvSpPr>
        <p:spPr>
          <a:xfrm>
            <a:off x="978407" y="2505455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從「自己電腦上的小工具」變成「打開瀏覽器就能用、資料存在同一個地方」</a:t>
            </a:r>
          </a:p>
        </p:txBody>
      </p:sp>
      <p:sp>
        <p:nvSpPr>
          <p:cNvPr id="301" name="Rectangle 10"/>
          <p:cNvSpPr/>
          <p:nvPr/>
        </p:nvSpPr>
        <p:spPr>
          <a:xfrm>
            <a:off x="685799" y="304977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TextBox 11"/>
          <p:cNvSpPr txBox="1"/>
          <p:nvPr/>
        </p:nvSpPr>
        <p:spPr>
          <a:xfrm>
            <a:off x="978407" y="2958338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加了登入，也把部門的界線做進去：不同科別看到的東西不一樣</a:t>
            </a:r>
          </a:p>
        </p:txBody>
      </p:sp>
      <p:sp>
        <p:nvSpPr>
          <p:cNvPr id="303" name="Rectangle 12"/>
          <p:cNvSpPr/>
          <p:nvPr/>
        </p:nvSpPr>
        <p:spPr>
          <a:xfrm>
            <a:off x="685799" y="350265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TextBox 13"/>
          <p:cNvSpPr txBox="1"/>
          <p:nvPr/>
        </p:nvSpPr>
        <p:spPr>
          <a:xfrm>
            <a:off x="978407" y="3411220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多人同時編輯同一張表，別人改了什麼，畫面會即時跟著動</a:t>
            </a:r>
          </a:p>
        </p:txBody>
      </p:sp>
      <p:sp>
        <p:nvSpPr>
          <p:cNvPr id="305" name="Rectangle 14"/>
          <p:cNvSpPr/>
          <p:nvPr/>
        </p:nvSpPr>
        <p:spPr>
          <a:xfrm>
            <a:off x="685799" y="3955541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15"/>
          <p:cNvSpPr txBox="1"/>
          <p:nvPr/>
        </p:nvSpPr>
        <p:spPr>
          <a:xfrm>
            <a:off x="978407" y="3864102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這一步是整條路上第一次真正的升級：從單機檔案變成有帳號、有資料庫的正式系統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畫面</a:t>
            </a:r>
          </a:p>
        </p:txBody>
      </p:sp>
      <p:sp>
        <p:nvSpPr>
          <p:cNvPr id="309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Spring-WbsScaff：多人版 WBS 樹狀畫面</a:t>
            </a:r>
          </a:p>
        </p:txBody>
      </p:sp>
      <p:sp>
        <p:nvSpPr>
          <p:cNvPr id="310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1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3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4" name="Rectangle 7"/>
          <p:cNvSpPr/>
          <p:nvPr/>
        </p:nvSpPr>
        <p:spPr>
          <a:xfrm>
            <a:off x="4899228" y="1975103"/>
            <a:ext cx="2380802" cy="4041649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15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54092" y="2029966"/>
            <a:ext cx="2271074" cy="393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Rectangle 9"/>
          <p:cNvSpPr/>
          <p:nvPr/>
        </p:nvSpPr>
        <p:spPr>
          <a:xfrm>
            <a:off x="4899228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7" name="Rectangle 10"/>
          <p:cNvSpPr/>
          <p:nvPr/>
        </p:nvSpPr>
        <p:spPr>
          <a:xfrm>
            <a:off x="4899228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20" name="Rounded Rectangle 11"/>
          <p:cNvGrpSpPr/>
          <p:nvPr/>
        </p:nvGrpSpPr>
        <p:grpSpPr>
          <a:xfrm>
            <a:off x="4954092" y="6126479"/>
            <a:ext cx="4809745" cy="310897"/>
            <a:chOff x="0" y="0"/>
            <a:chExt cx="4809744" cy="310895"/>
          </a:xfrm>
        </p:grpSpPr>
        <p:sp>
          <p:nvSpPr>
            <p:cNvPr id="318" name="圓角矩形"/>
            <p:cNvSpPr/>
            <p:nvPr/>
          </p:nvSpPr>
          <p:spPr>
            <a:xfrm>
              <a:off x="0" y="0"/>
              <a:ext cx="4809745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19" name="節點內容更貼近真實場景：主機申請、防火牆開通、資安檢核"/>
            <p:cNvSpPr txBox="1"/>
            <p:nvPr/>
          </p:nvSpPr>
          <p:spPr>
            <a:xfrm>
              <a:off x="341122" y="47497"/>
              <a:ext cx="4127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節點內容更貼近真實場景：主機申請、防火牆開通、資安檢核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SPRING-TASKFLOW</a:t>
            </a:r>
          </a:p>
        </p:txBody>
      </p:sp>
      <p:sp>
        <p:nvSpPr>
          <p:cNvPr id="323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324" name="TextBox 3"/>
          <p:cNvSpPr txBox="1"/>
          <p:nvPr/>
        </p:nvSpPr>
        <p:spPr>
          <a:xfrm>
            <a:off x="685800" y="166420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325" name="Connector 4"/>
          <p:cNvSpPr/>
          <p:nvPr/>
        </p:nvSpPr>
        <p:spPr>
          <a:xfrm>
            <a:off x="685799" y="204825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6" name="Oval 5"/>
          <p:cNvSpPr/>
          <p:nvPr/>
        </p:nvSpPr>
        <p:spPr>
          <a:xfrm>
            <a:off x="658368" y="2020823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Oval 6"/>
          <p:cNvSpPr/>
          <p:nvPr/>
        </p:nvSpPr>
        <p:spPr>
          <a:xfrm>
            <a:off x="1069847" y="2020823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Oval 7"/>
          <p:cNvSpPr/>
          <p:nvPr/>
        </p:nvSpPr>
        <p:spPr>
          <a:xfrm>
            <a:off x="1481327" y="2020823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9" name="Rectangle 8"/>
          <p:cNvSpPr/>
          <p:nvPr/>
        </p:nvSpPr>
        <p:spPr>
          <a:xfrm>
            <a:off x="685799" y="2596895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TextBox 9"/>
          <p:cNvSpPr txBox="1"/>
          <p:nvPr/>
        </p:nvSpPr>
        <p:spPr>
          <a:xfrm>
            <a:off x="978407" y="2505455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畫面換成待辦／進行中／完成三欄，工作變成一張張卡片，用拖的改狀態</a:t>
            </a:r>
          </a:p>
        </p:txBody>
      </p:sp>
      <p:sp>
        <p:nvSpPr>
          <p:cNvPr id="331" name="Rectangle 10"/>
          <p:cNvSpPr/>
          <p:nvPr/>
        </p:nvSpPr>
        <p:spPr>
          <a:xfrm>
            <a:off x="685799" y="304977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2" name="TextBox 11"/>
          <p:cNvSpPr txBox="1"/>
          <p:nvPr/>
        </p:nvSpPr>
        <p:spPr>
          <a:xfrm>
            <a:off x="978407" y="2958338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卡片可以指派給人、設優先度跟日期，一眼看得出誰手上有什麼</a:t>
            </a:r>
          </a:p>
        </p:txBody>
      </p:sp>
      <p:sp>
        <p:nvSpPr>
          <p:cNvPr id="333" name="Rectangle 12"/>
          <p:cNvSpPr/>
          <p:nvPr/>
        </p:nvSpPr>
        <p:spPr>
          <a:xfrm>
            <a:off x="685799" y="350265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TextBox 13"/>
          <p:cNvSpPr txBox="1"/>
          <p:nvPr/>
        </p:nvSpPr>
        <p:spPr>
          <a:xfrm>
            <a:off x="978407" y="3411220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登入、部門權限、頁面外框直接沿用上一代，省下重新驗證的時間</a:t>
            </a:r>
          </a:p>
        </p:txBody>
      </p:sp>
      <p:sp>
        <p:nvSpPr>
          <p:cNvPr id="335" name="Rectangle 14"/>
          <p:cNvSpPr/>
          <p:nvPr/>
        </p:nvSpPr>
        <p:spPr>
          <a:xfrm>
            <a:off x="685799" y="3955541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15"/>
          <p:cNvSpPr txBox="1"/>
          <p:nvPr/>
        </p:nvSpPr>
        <p:spPr>
          <a:xfrm>
            <a:off x="978407" y="3864102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做完這一步，手上同時有「樹」跟「看板」兩套東西——也就是後面想合併的起因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畫面</a:t>
            </a:r>
          </a:p>
        </p:txBody>
      </p:sp>
      <p:sp>
        <p:nvSpPr>
          <p:cNvPr id="339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Spring-TaskFlow：待辦／進行中／完成三欄看板</a:t>
            </a:r>
          </a:p>
        </p:txBody>
      </p:sp>
      <p:sp>
        <p:nvSpPr>
          <p:cNvPr id="340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1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Rectangle 7"/>
          <p:cNvSpPr/>
          <p:nvPr/>
        </p:nvSpPr>
        <p:spPr>
          <a:xfrm>
            <a:off x="3176541" y="1975103"/>
            <a:ext cx="5826174" cy="4041649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45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1406" y="2029966"/>
            <a:ext cx="5716445" cy="393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46" name="Rectangle 9"/>
          <p:cNvSpPr/>
          <p:nvPr/>
        </p:nvSpPr>
        <p:spPr>
          <a:xfrm>
            <a:off x="3176541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Rectangle 10"/>
          <p:cNvSpPr/>
          <p:nvPr/>
        </p:nvSpPr>
        <p:spPr>
          <a:xfrm>
            <a:off x="3176541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50" name="Rounded Rectangle 11"/>
          <p:cNvGrpSpPr/>
          <p:nvPr/>
        </p:nvGrpSpPr>
        <p:grpSpPr>
          <a:xfrm>
            <a:off x="3231406" y="6126479"/>
            <a:ext cx="5138929" cy="310897"/>
            <a:chOff x="0" y="0"/>
            <a:chExt cx="5138928" cy="310895"/>
          </a:xfrm>
        </p:grpSpPr>
        <p:sp>
          <p:nvSpPr>
            <p:cNvPr id="348" name="圓角矩形"/>
            <p:cNvSpPr/>
            <p:nvPr/>
          </p:nvSpPr>
          <p:spPr>
            <a:xfrm>
              <a:off x="0" y="0"/>
              <a:ext cx="5138929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49" name="從「一棵樹」變成「三個欄位＋卡片」，成為最終系統的核心體驗"/>
            <p:cNvSpPr txBox="1"/>
            <p:nvPr/>
          </p:nvSpPr>
          <p:spPr>
            <a:xfrm>
              <a:off x="353314" y="47497"/>
              <a:ext cx="443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從「一棵樹」變成「三個欄位＋卡片」，成為最終系統的核心體驗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353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354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355" name="Connector 4"/>
          <p:cNvSpPr/>
          <p:nvPr/>
        </p:nvSpPr>
        <p:spPr>
          <a:xfrm>
            <a:off x="685799" y="191109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6" name="Oval 5"/>
          <p:cNvSpPr/>
          <p:nvPr/>
        </p:nvSpPr>
        <p:spPr>
          <a:xfrm>
            <a:off x="658368" y="1883664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Oval 6"/>
          <p:cNvSpPr/>
          <p:nvPr/>
        </p:nvSpPr>
        <p:spPr>
          <a:xfrm>
            <a:off x="106984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8" name="Oval 7"/>
          <p:cNvSpPr/>
          <p:nvPr/>
        </p:nvSpPr>
        <p:spPr>
          <a:xfrm>
            <a:off x="148132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Rectangle 8"/>
          <p:cNvSpPr/>
          <p:nvPr/>
        </p:nvSpPr>
        <p:spPr>
          <a:xfrm>
            <a:off x="685799" y="2414016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TextBox 9"/>
          <p:cNvSpPr txBox="1"/>
          <p:nvPr/>
        </p:nvSpPr>
        <p:spPr>
          <a:xfrm>
            <a:off x="978407" y="2322576"/>
            <a:ext cx="10515053" cy="581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做得好的是樹狀規劃；Spring-TaskFlow 做得好的是看板指派——WbsFlow 把兩者硬合併，結果要先搭骨架才能建任務；使用者實際要的是先建任務、事後再歸類，所以拆掉樹狀階層，任務改成天生獨立</a:t>
            </a:r>
          </a:p>
        </p:txBody>
      </p:sp>
      <p:sp>
        <p:nvSpPr>
          <p:cNvPr id="361" name="Rectangle 10"/>
          <p:cNvSpPr/>
          <p:nvPr/>
        </p:nvSpPr>
        <p:spPr>
          <a:xfrm>
            <a:off x="685799" y="3408045"/>
            <a:ext cx="4946631" cy="3038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2" name="Rectangle 11"/>
          <p:cNvSpPr/>
          <p:nvPr/>
        </p:nvSpPr>
        <p:spPr>
          <a:xfrm>
            <a:off x="685799" y="3408045"/>
            <a:ext cx="4946631" cy="384049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3" name="TextBox 12"/>
          <p:cNvSpPr txBox="1"/>
          <p:nvPr/>
        </p:nvSpPr>
        <p:spPr>
          <a:xfrm>
            <a:off x="685799" y="3485769"/>
            <a:ext cx="494663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之前 · WBS 樹狀規劃</a:t>
            </a:r>
          </a:p>
        </p:txBody>
      </p:sp>
      <p:sp>
        <p:nvSpPr>
          <p:cNvPr id="364" name="Rectangle 13"/>
          <p:cNvSpPr/>
          <p:nvPr/>
        </p:nvSpPr>
        <p:spPr>
          <a:xfrm>
            <a:off x="6546829" y="3408045"/>
            <a:ext cx="4946630" cy="3038476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Rectangle 14"/>
          <p:cNvSpPr/>
          <p:nvPr/>
        </p:nvSpPr>
        <p:spPr>
          <a:xfrm>
            <a:off x="6546829" y="3408045"/>
            <a:ext cx="4946630" cy="38404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6" name="TextBox 15"/>
          <p:cNvSpPr txBox="1"/>
          <p:nvPr/>
        </p:nvSpPr>
        <p:spPr>
          <a:xfrm>
            <a:off x="6546829" y="3485769"/>
            <a:ext cx="494663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任務導向看板</a:t>
            </a:r>
          </a:p>
        </p:txBody>
      </p:sp>
      <p:sp>
        <p:nvSpPr>
          <p:cNvPr id="367" name="Connector 16"/>
          <p:cNvSpPr/>
          <p:nvPr/>
        </p:nvSpPr>
        <p:spPr>
          <a:xfrm>
            <a:off x="5742156" y="4927282"/>
            <a:ext cx="694945" cy="1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8" name="Isosceles Triangle 17"/>
          <p:cNvSpPr/>
          <p:nvPr/>
        </p:nvSpPr>
        <p:spPr>
          <a:xfrm rot="5400000">
            <a:off x="6290797" y="4835842"/>
            <a:ext cx="182881" cy="182881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69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19274" y="3956684"/>
            <a:ext cx="1279681" cy="22155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0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47732" y="3956684"/>
            <a:ext cx="3544824" cy="22155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我怎麼用 AI</a:t>
            </a:r>
          </a:p>
        </p:txBody>
      </p:sp>
      <p:sp>
        <p:nvSpPr>
          <p:cNvPr id="37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374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5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6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7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8" name="Rectangle 7"/>
          <p:cNvSpPr/>
          <p:nvPr/>
        </p:nvSpPr>
        <p:spPr>
          <a:xfrm>
            <a:off x="685799" y="207568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9" name="TextBox 8"/>
          <p:cNvSpPr txBox="1"/>
          <p:nvPr/>
        </p:nvSpPr>
        <p:spPr>
          <a:xfrm>
            <a:off x="978407" y="1984248"/>
            <a:ext cx="105150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動手前，我會先讓 AI 把舊專案的程式碼讀過一遍，比我自己憑印象猜準很多</a:t>
            </a:r>
          </a:p>
        </p:txBody>
      </p:sp>
      <p:sp>
        <p:nvSpPr>
          <p:cNvPr id="380" name="Rectangle 9"/>
          <p:cNvSpPr/>
          <p:nvPr/>
        </p:nvSpPr>
        <p:spPr>
          <a:xfrm>
            <a:off x="685799" y="2428620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1" name="TextBox 10"/>
          <p:cNvSpPr txBox="1"/>
          <p:nvPr/>
        </p:nvSpPr>
        <p:spPr>
          <a:xfrm>
            <a:off x="978407" y="2337180"/>
            <a:ext cx="105150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一個任務開一個新對話，不讓前面累積的雜訊影響判斷</a:t>
            </a:r>
          </a:p>
        </p:txBody>
      </p:sp>
      <p:sp>
        <p:nvSpPr>
          <p:cNvPr id="382" name="Rectangle 11"/>
          <p:cNvSpPr/>
          <p:nvPr/>
        </p:nvSpPr>
        <p:spPr>
          <a:xfrm>
            <a:off x="685799" y="2781554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3" name="TextBox 12"/>
          <p:cNvSpPr txBox="1"/>
          <p:nvPr/>
        </p:nvSpPr>
        <p:spPr>
          <a:xfrm>
            <a:off x="978407" y="2690114"/>
            <a:ext cx="105150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寫的跟審的分開：同一段東西，我另外開一個 AI 來挑毛病，不讓它自己審自己</a:t>
            </a:r>
          </a:p>
        </p:txBody>
      </p:sp>
      <p:sp>
        <p:nvSpPr>
          <p:cNvPr id="384" name="Rectangle 13"/>
          <p:cNvSpPr/>
          <p:nvPr/>
        </p:nvSpPr>
        <p:spPr>
          <a:xfrm>
            <a:off x="685799" y="3134486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5" name="TextBox 14"/>
          <p:cNvSpPr txBox="1"/>
          <p:nvPr/>
        </p:nvSpPr>
        <p:spPr>
          <a:xfrm>
            <a:off x="978407" y="3043046"/>
            <a:ext cx="105150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簡單的抄寫用便宜快的，需要判斷的才換強的，額度留給真的難的地方</a:t>
            </a:r>
          </a:p>
        </p:txBody>
      </p:sp>
      <p:sp>
        <p:nvSpPr>
          <p:cNvPr id="386" name="Rectangle 15"/>
          <p:cNvSpPr/>
          <p:nvPr/>
        </p:nvSpPr>
        <p:spPr>
          <a:xfrm>
            <a:off x="685799" y="3487420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TextBox 16"/>
          <p:cNvSpPr txBox="1"/>
          <p:nvPr/>
        </p:nvSpPr>
        <p:spPr>
          <a:xfrm>
            <a:off x="978407" y="3395979"/>
            <a:ext cx="105150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進度另外記一份檔案，對話斷掉重開，看記錄就能接著做</a:t>
            </a:r>
          </a:p>
        </p:txBody>
      </p:sp>
      <p:sp>
        <p:nvSpPr>
          <p:cNvPr id="388" name="Rectangle 17"/>
          <p:cNvSpPr/>
          <p:nvPr/>
        </p:nvSpPr>
        <p:spPr>
          <a:xfrm>
            <a:off x="685800" y="3794633"/>
            <a:ext cx="10807659" cy="566929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Rectangle 18"/>
          <p:cNvSpPr/>
          <p:nvPr/>
        </p:nvSpPr>
        <p:spPr>
          <a:xfrm>
            <a:off x="685799" y="3794633"/>
            <a:ext cx="73154" cy="56692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0" name="TextBox 19"/>
          <p:cNvSpPr txBox="1"/>
          <p:nvPr/>
        </p:nvSpPr>
        <p:spPr>
          <a:xfrm>
            <a:off x="941832" y="3963797"/>
            <a:ext cx="103504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393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394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5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6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9" name="TextBox 8"/>
          <p:cNvSpPr txBox="1"/>
          <p:nvPr/>
        </p:nvSpPr>
        <p:spPr>
          <a:xfrm>
            <a:off x="978407" y="212140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後來養成習慣：可疑的結論不聽解釋，直接要求重現一次給我看</a:t>
            </a:r>
          </a:p>
        </p:txBody>
      </p:sp>
      <p:sp>
        <p:nvSpPr>
          <p:cNvPr id="400" name="Rectangle 9"/>
          <p:cNvSpPr/>
          <p:nvPr/>
        </p:nvSpPr>
        <p:spPr>
          <a:xfrm>
            <a:off x="685799" y="266572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1" name="TextBox 10"/>
          <p:cNvSpPr txBox="1"/>
          <p:nvPr/>
        </p:nvSpPr>
        <p:spPr>
          <a:xfrm>
            <a:off x="978407" y="2574289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兩個印象比較深的例子：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404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405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sp>
        <p:nvSpPr>
          <p:cNvPr id="406" name="Connector 4"/>
          <p:cNvSpPr/>
          <p:nvPr/>
        </p:nvSpPr>
        <p:spPr>
          <a:xfrm>
            <a:off x="685799" y="191109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07" name="Oval 5"/>
          <p:cNvSpPr/>
          <p:nvPr/>
        </p:nvSpPr>
        <p:spPr>
          <a:xfrm>
            <a:off x="658368" y="1883664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8" name="Oval 6"/>
          <p:cNvSpPr/>
          <p:nvPr/>
        </p:nvSpPr>
        <p:spPr>
          <a:xfrm>
            <a:off x="106984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Oval 7"/>
          <p:cNvSpPr/>
          <p:nvPr/>
        </p:nvSpPr>
        <p:spPr>
          <a:xfrm>
            <a:off x="148132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0" name="Rectangle 8"/>
          <p:cNvSpPr/>
          <p:nvPr/>
        </p:nvSpPr>
        <p:spPr>
          <a:xfrm>
            <a:off x="685800" y="2276855"/>
            <a:ext cx="10807659" cy="6858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1" name="Rectangle 9"/>
          <p:cNvSpPr/>
          <p:nvPr/>
        </p:nvSpPr>
        <p:spPr>
          <a:xfrm>
            <a:off x="685800" y="2276855"/>
            <a:ext cx="54864" cy="6858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2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13" name="TextBox 11"/>
          <p:cNvSpPr txBox="1"/>
          <p:nvPr/>
        </p:nvSpPr>
        <p:spPr>
          <a:xfrm>
            <a:off x="960119" y="2660904"/>
            <a:ext cx="102590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「請繼續完成系統建制」</a:t>
            </a:r>
          </a:p>
        </p:txBody>
      </p:sp>
      <p:sp>
        <p:nvSpPr>
          <p:cNvPr id="414" name="Rectangle 12"/>
          <p:cNvSpPr/>
          <p:nvPr/>
        </p:nvSpPr>
        <p:spPr>
          <a:xfrm>
            <a:off x="685800" y="3127248"/>
            <a:ext cx="10807659" cy="1645921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13"/>
          <p:cNvSpPr/>
          <p:nvPr/>
        </p:nvSpPr>
        <p:spPr>
          <a:xfrm>
            <a:off x="685800" y="3127248"/>
            <a:ext cx="54864" cy="164592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6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17" name="TextBox 15"/>
          <p:cNvSpPr txBox="1"/>
          <p:nvPr/>
        </p:nvSpPr>
        <p:spPr>
          <a:xfrm>
            <a:off x="960119" y="3511296"/>
            <a:ext cx="10259021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「繼續完成系統建制」指的是哪個方向？兩者路線互斥（重構會移除現有樹編輯器）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執行任務導向重構（推薦）— 看板變預設首頁，移除舊三分頁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在現有 WBS 樹模型上補完 — 樹狀模型不變，把佔位符分頁做出來</a:t>
            </a:r>
          </a:p>
        </p:txBody>
      </p:sp>
      <p:sp>
        <p:nvSpPr>
          <p:cNvPr id="418" name="Rectangle 16"/>
          <p:cNvSpPr/>
          <p:nvPr/>
        </p:nvSpPr>
        <p:spPr>
          <a:xfrm>
            <a:off x="685800" y="4983479"/>
            <a:ext cx="10807659" cy="594361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9" name="TextBox 17"/>
          <p:cNvSpPr txBox="1"/>
          <p:nvPr/>
        </p:nvSpPr>
        <p:spPr>
          <a:xfrm>
            <a:off x="914400" y="5172709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20" name="TextBox 18"/>
          <p:cNvSpPr txBox="1"/>
          <p:nvPr/>
        </p:nvSpPr>
        <p:spPr>
          <a:xfrm>
            <a:off x="1737360" y="5172709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選了①，後續做出 11 個任務、73 commits，104/104 測試通過，才有現在的 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423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424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sp>
        <p:nvSpPr>
          <p:cNvPr id="425" name="Connector 4"/>
          <p:cNvSpPr/>
          <p:nvPr/>
        </p:nvSpPr>
        <p:spPr>
          <a:xfrm>
            <a:off x="685799" y="1911095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6" name="Oval 5"/>
          <p:cNvSpPr/>
          <p:nvPr/>
        </p:nvSpPr>
        <p:spPr>
          <a:xfrm>
            <a:off x="658368" y="1883664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7" name="Oval 6"/>
          <p:cNvSpPr/>
          <p:nvPr/>
        </p:nvSpPr>
        <p:spPr>
          <a:xfrm>
            <a:off x="106984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Oval 7"/>
          <p:cNvSpPr/>
          <p:nvPr/>
        </p:nvSpPr>
        <p:spPr>
          <a:xfrm>
            <a:off x="1481327" y="1883664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9" name="Rectangle 8"/>
          <p:cNvSpPr/>
          <p:nvPr/>
        </p:nvSpPr>
        <p:spPr>
          <a:xfrm>
            <a:off x="685800" y="2276855"/>
            <a:ext cx="10807659" cy="6858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0" name="Rectangle 9"/>
          <p:cNvSpPr/>
          <p:nvPr/>
        </p:nvSpPr>
        <p:spPr>
          <a:xfrm>
            <a:off x="685800" y="2276855"/>
            <a:ext cx="54864" cy="6858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1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32" name="TextBox 11"/>
          <p:cNvSpPr txBox="1"/>
          <p:nvPr/>
        </p:nvSpPr>
        <p:spPr>
          <a:xfrm>
            <a:off x="960119" y="2660904"/>
            <a:ext cx="102590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（11 個任務全數完成、各自審查通過後，啟動最終總體檢查）</a:t>
            </a:r>
          </a:p>
        </p:txBody>
      </p:sp>
      <p:sp>
        <p:nvSpPr>
          <p:cNvPr id="433" name="Rectangle 12"/>
          <p:cNvSpPr/>
          <p:nvPr/>
        </p:nvSpPr>
        <p:spPr>
          <a:xfrm>
            <a:off x="685800" y="3127248"/>
            <a:ext cx="10807659" cy="1901952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Rectangle 13"/>
          <p:cNvSpPr/>
          <p:nvPr/>
        </p:nvSpPr>
        <p:spPr>
          <a:xfrm>
            <a:off x="685800" y="3127248"/>
            <a:ext cx="54864" cy="19019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5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36" name="TextBox 15"/>
          <p:cNvSpPr txBox="1"/>
          <p:nvPr/>
        </p:nvSpPr>
        <p:spPr>
          <a:xfrm>
            <a:off x="960119" y="3511296"/>
            <a:ext cx="10259021" cy="734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Final review: no Critical findings, 3 Important（都是文件／測試缺口）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額外納入修正：project-detail.js 同欄向下拖曳有 off-by-one（插入位置差一格）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派一個統整 fix wave 處理全部發現，不是一個發現派一個 fixer</a:t>
            </a:r>
          </a:p>
        </p:txBody>
      </p:sp>
      <p:sp>
        <p:nvSpPr>
          <p:cNvPr id="437" name="Rectangle 16"/>
          <p:cNvSpPr/>
          <p:nvPr/>
        </p:nvSpPr>
        <p:spPr>
          <a:xfrm>
            <a:off x="685800" y="5239511"/>
            <a:ext cx="10807659" cy="594361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8" name="TextBox 17"/>
          <p:cNvSpPr txBox="1"/>
          <p:nvPr/>
        </p:nvSpPr>
        <p:spPr>
          <a:xfrm>
            <a:off x="914400" y="5428741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39" name="TextBox 18"/>
          <p:cNvSpPr txBox="1"/>
          <p:nvPr/>
        </p:nvSpPr>
        <p:spPr>
          <a:xfrm>
            <a:off x="1737360" y="5428741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8 個發現全部修復，複查乾淨，104/104 測試通過才 commit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442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443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4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6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7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8" name="TextBox 8"/>
          <p:cNvSpPr txBox="1"/>
          <p:nvPr/>
        </p:nvSpPr>
        <p:spPr>
          <a:xfrm>
            <a:off x="978407" y="212140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有畫面的功能，一定要截圖給我看，不接受只說「已完成」</a:t>
            </a:r>
          </a:p>
        </p:txBody>
      </p:sp>
      <p:sp>
        <p:nvSpPr>
          <p:cNvPr id="449" name="Rectangle 9"/>
          <p:cNvSpPr/>
          <p:nvPr/>
        </p:nvSpPr>
        <p:spPr>
          <a:xfrm>
            <a:off x="685799" y="266572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TextBox 10"/>
          <p:cNvSpPr txBox="1"/>
          <p:nvPr/>
        </p:nvSpPr>
        <p:spPr>
          <a:xfrm>
            <a:off x="978407" y="2574289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要推上遠端，一律要我親自點頭才行，AI 不能自己決定</a:t>
            </a:r>
          </a:p>
        </p:txBody>
      </p:sp>
      <p:sp>
        <p:nvSpPr>
          <p:cNvPr id="451" name="Rectangle 11"/>
          <p:cNvSpPr/>
          <p:nvPr/>
        </p:nvSpPr>
        <p:spPr>
          <a:xfrm>
            <a:off x="685799" y="3118611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2" name="TextBox 12"/>
          <p:cNvSpPr txBox="1"/>
          <p:nvPr/>
        </p:nvSpPr>
        <p:spPr>
          <a:xfrm>
            <a:off x="978407" y="3027171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測試沒過就是還沒做完，沒有例外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455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456" name="TextBox 3"/>
          <p:cNvSpPr txBox="1"/>
          <p:nvPr/>
        </p:nvSpPr>
        <p:spPr>
          <a:xfrm>
            <a:off x="685800" y="157276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不只寫程式，分析、測試、文件也是流程裡固定要做的一步，不是事後才想到</a:t>
            </a:r>
          </a:p>
        </p:txBody>
      </p:sp>
      <p:sp>
        <p:nvSpPr>
          <p:cNvPr id="457" name="Connector 4"/>
          <p:cNvSpPr/>
          <p:nvPr/>
        </p:nvSpPr>
        <p:spPr>
          <a:xfrm>
            <a:off x="685799" y="1956816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8" name="Oval 5"/>
          <p:cNvSpPr/>
          <p:nvPr/>
        </p:nvSpPr>
        <p:spPr>
          <a:xfrm>
            <a:off x="658368" y="1929383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9" name="Oval 6"/>
          <p:cNvSpPr/>
          <p:nvPr/>
        </p:nvSpPr>
        <p:spPr>
          <a:xfrm>
            <a:off x="1069847" y="1929383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0" name="Oval 7"/>
          <p:cNvSpPr/>
          <p:nvPr/>
        </p:nvSpPr>
        <p:spPr>
          <a:xfrm>
            <a:off x="1481327" y="1929383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1" name="Oval 8"/>
          <p:cNvSpPr/>
          <p:nvPr/>
        </p:nvSpPr>
        <p:spPr>
          <a:xfrm>
            <a:off x="685800" y="2642616"/>
            <a:ext cx="2359014" cy="2359015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2" name="TextBox 9"/>
          <p:cNvSpPr txBox="1"/>
          <p:nvPr/>
        </p:nvSpPr>
        <p:spPr>
          <a:xfrm>
            <a:off x="685800" y="2642616"/>
            <a:ext cx="235901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463" name="TextBox 10"/>
          <p:cNvSpPr txBox="1"/>
          <p:nvPr/>
        </p:nvSpPr>
        <p:spPr>
          <a:xfrm>
            <a:off x="685800" y="3631623"/>
            <a:ext cx="2359014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分析</a:t>
            </a:r>
          </a:p>
        </p:txBody>
      </p:sp>
      <p:sp>
        <p:nvSpPr>
          <p:cNvPr id="464" name="Connector 11"/>
          <p:cNvSpPr/>
          <p:nvPr/>
        </p:nvSpPr>
        <p:spPr>
          <a:xfrm>
            <a:off x="3044813" y="3822122"/>
            <a:ext cx="457201" cy="1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5" name="Oval 12"/>
          <p:cNvSpPr/>
          <p:nvPr/>
        </p:nvSpPr>
        <p:spPr>
          <a:xfrm>
            <a:off x="3502014" y="2642616"/>
            <a:ext cx="2359015" cy="235901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6" name="TextBox 13"/>
          <p:cNvSpPr txBox="1"/>
          <p:nvPr/>
        </p:nvSpPr>
        <p:spPr>
          <a:xfrm>
            <a:off x="3502014" y="2642616"/>
            <a:ext cx="235901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67" name="TextBox 14"/>
          <p:cNvSpPr txBox="1"/>
          <p:nvPr/>
        </p:nvSpPr>
        <p:spPr>
          <a:xfrm>
            <a:off x="3502014" y="3631623"/>
            <a:ext cx="235901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實作</a:t>
            </a:r>
          </a:p>
        </p:txBody>
      </p:sp>
      <p:sp>
        <p:nvSpPr>
          <p:cNvPr id="468" name="Connector 15"/>
          <p:cNvSpPr/>
          <p:nvPr/>
        </p:nvSpPr>
        <p:spPr>
          <a:xfrm>
            <a:off x="5861029" y="3822122"/>
            <a:ext cx="457201" cy="1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9" name="Oval 16"/>
          <p:cNvSpPr/>
          <p:nvPr/>
        </p:nvSpPr>
        <p:spPr>
          <a:xfrm>
            <a:off x="6318229" y="2642616"/>
            <a:ext cx="2359015" cy="2359015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0" name="TextBox 17"/>
          <p:cNvSpPr txBox="1"/>
          <p:nvPr/>
        </p:nvSpPr>
        <p:spPr>
          <a:xfrm>
            <a:off x="6318229" y="2642616"/>
            <a:ext cx="235901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71" name="TextBox 18"/>
          <p:cNvSpPr txBox="1"/>
          <p:nvPr/>
        </p:nvSpPr>
        <p:spPr>
          <a:xfrm>
            <a:off x="6318229" y="3631623"/>
            <a:ext cx="235901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測試</a:t>
            </a:r>
          </a:p>
        </p:txBody>
      </p:sp>
      <p:sp>
        <p:nvSpPr>
          <p:cNvPr id="472" name="Connector 19"/>
          <p:cNvSpPr/>
          <p:nvPr/>
        </p:nvSpPr>
        <p:spPr>
          <a:xfrm>
            <a:off x="8677243" y="3822122"/>
            <a:ext cx="457202" cy="1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3" name="Oval 20"/>
          <p:cNvSpPr/>
          <p:nvPr/>
        </p:nvSpPr>
        <p:spPr>
          <a:xfrm>
            <a:off x="9134444" y="2642616"/>
            <a:ext cx="2359014" cy="235901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4" name="TextBox 21"/>
          <p:cNvSpPr txBox="1"/>
          <p:nvPr/>
        </p:nvSpPr>
        <p:spPr>
          <a:xfrm>
            <a:off x="9134444" y="2642616"/>
            <a:ext cx="235901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475" name="TextBox 22"/>
          <p:cNvSpPr txBox="1"/>
          <p:nvPr/>
        </p:nvSpPr>
        <p:spPr>
          <a:xfrm>
            <a:off x="9134444" y="3631623"/>
            <a:ext cx="2359014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文件</a:t>
            </a:r>
          </a:p>
        </p:txBody>
      </p:sp>
      <p:sp>
        <p:nvSpPr>
          <p:cNvPr id="476" name="TextBox 23"/>
          <p:cNvSpPr txBox="1"/>
          <p:nvPr/>
        </p:nvSpPr>
        <p:spPr>
          <a:xfrm>
            <a:off x="685800" y="5367389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3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每一代（WbsScaff、Spring-WbsScaff、Spring-TaskFlow、MissionBoard）都走這四步，不是後來才補上的規矩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479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480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1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2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3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4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5" name="TextBox 8"/>
          <p:cNvSpPr txBox="1"/>
          <p:nvPr/>
        </p:nvSpPr>
        <p:spPr>
          <a:xfrm>
            <a:off x="978407" y="2121407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為了貼近實際狀況，我用現在工作上真的會遇到的情境來設計：主機申請、防火牆開通、資安檢核這類項目</a:t>
            </a:r>
          </a:p>
        </p:txBody>
      </p:sp>
      <p:sp>
        <p:nvSpPr>
          <p:cNvPr id="486" name="Rectangle 9"/>
          <p:cNvSpPr/>
          <p:nvPr/>
        </p:nvSpPr>
        <p:spPr>
          <a:xfrm>
            <a:off x="685799" y="297230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7" name="TextBox 10"/>
          <p:cNvSpPr txBox="1"/>
          <p:nvPr/>
        </p:nvSpPr>
        <p:spPr>
          <a:xfrm>
            <a:off x="978407" y="2880867"/>
            <a:ext cx="10515053" cy="664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角色也照實際職務分：長官跨科看得到但不能改、科長科內全權、專案負責人管自己的案子、成員只看得到自己參與的</a:t>
            </a:r>
          </a:p>
        </p:txBody>
      </p:sp>
      <p:sp>
        <p:nvSpPr>
          <p:cNvPr id="488" name="Rectangle 11"/>
          <p:cNvSpPr/>
          <p:nvPr/>
        </p:nvSpPr>
        <p:spPr>
          <a:xfrm>
            <a:off x="685799" y="3731767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9" name="TextBox 12"/>
          <p:cNvSpPr txBox="1"/>
          <p:nvPr/>
        </p:nvSpPr>
        <p:spPr>
          <a:xfrm>
            <a:off x="978407" y="3640328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科別之間互相看不到，每個動作都會再確認一次「這個人有沒有資格動這筆資料」</a:t>
            </a:r>
          </a:p>
        </p:txBody>
      </p:sp>
      <p:sp>
        <p:nvSpPr>
          <p:cNvPr id="490" name="Rectangle 13"/>
          <p:cNvSpPr/>
          <p:nvPr/>
        </p:nvSpPr>
        <p:spPr>
          <a:xfrm>
            <a:off x="685799" y="41846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1" name="TextBox 14"/>
          <p:cNvSpPr txBox="1"/>
          <p:nvPr/>
        </p:nvSpPr>
        <p:spPr>
          <a:xfrm>
            <a:off x="978407" y="4093209"/>
            <a:ext cx="1051505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權限畫得細，反而增加了協作的自由度：大家可以放心一起動同一份資料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4" name="TextBox 2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495" name="TextBox 3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496" name="Connector 4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97" name="Oval 5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8" name="Oval 6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9" name="Oval 7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0" name="TextBox 8"/>
          <p:cNvSpPr txBox="1"/>
          <p:nvPr/>
        </p:nvSpPr>
        <p:spPr>
          <a:xfrm>
            <a:off x="960119" y="2468879"/>
            <a:ext cx="305391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501" name="TextBox 9"/>
          <p:cNvSpPr txBox="1"/>
          <p:nvPr/>
        </p:nvSpPr>
        <p:spPr>
          <a:xfrm>
            <a:off x="960119" y="3337559"/>
            <a:ext cx="305391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總 commit 數（四個 repo 合計）</a:t>
            </a:r>
          </a:p>
        </p:txBody>
      </p:sp>
      <p:sp>
        <p:nvSpPr>
          <p:cNvPr id="502" name="Connector 10"/>
          <p:cNvSpPr/>
          <p:nvPr/>
        </p:nvSpPr>
        <p:spPr>
          <a:xfrm>
            <a:off x="4288352" y="2606039"/>
            <a:ext cx="1" cy="1325881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3" name="TextBox 11"/>
          <p:cNvSpPr txBox="1"/>
          <p:nvPr/>
        </p:nvSpPr>
        <p:spPr>
          <a:xfrm>
            <a:off x="4562673" y="2468879"/>
            <a:ext cx="305391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504" name="TextBox 12"/>
          <p:cNvSpPr txBox="1"/>
          <p:nvPr/>
        </p:nvSpPr>
        <p:spPr>
          <a:xfrm>
            <a:off x="4562673" y="3337559"/>
            <a:ext cx="305391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 md 文件（四個 repo 合計）</a:t>
            </a:r>
          </a:p>
        </p:txBody>
      </p:sp>
      <p:sp>
        <p:nvSpPr>
          <p:cNvPr id="505" name="Connector 13"/>
          <p:cNvSpPr/>
          <p:nvPr/>
        </p:nvSpPr>
        <p:spPr>
          <a:xfrm>
            <a:off x="7890905" y="2606039"/>
            <a:ext cx="1" cy="1325881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6" name="TextBox 14"/>
          <p:cNvSpPr txBox="1"/>
          <p:nvPr/>
        </p:nvSpPr>
        <p:spPr>
          <a:xfrm>
            <a:off x="8165225" y="2468879"/>
            <a:ext cx="305391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07" name="TextBox 15"/>
          <p:cNvSpPr txBox="1"/>
          <p:nvPr/>
        </p:nvSpPr>
        <p:spPr>
          <a:xfrm>
            <a:off x="8165225" y="3337559"/>
            <a:ext cx="305391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個世代 / 階段</a:t>
            </a:r>
          </a:p>
        </p:txBody>
      </p:sp>
      <p:sp>
        <p:nvSpPr>
          <p:cNvPr id="508" name="TextBox 16"/>
          <p:cNvSpPr txBox="1"/>
          <p:nvPr/>
        </p:nvSpPr>
        <p:spPr>
          <a:xfrm>
            <a:off x="960119" y="4206240"/>
            <a:ext cx="305391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509" name="TextBox 17"/>
          <p:cNvSpPr txBox="1"/>
          <p:nvPr/>
        </p:nvSpPr>
        <p:spPr>
          <a:xfrm>
            <a:off x="960119" y="5074920"/>
            <a:ext cx="305391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個拆分給 AI 做的任務</a:t>
            </a:r>
          </a:p>
        </p:txBody>
      </p:sp>
      <p:sp>
        <p:nvSpPr>
          <p:cNvPr id="510" name="Connector 18"/>
          <p:cNvSpPr/>
          <p:nvPr/>
        </p:nvSpPr>
        <p:spPr>
          <a:xfrm>
            <a:off x="4288352" y="4343399"/>
            <a:ext cx="1" cy="1325882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11" name="TextBox 19"/>
          <p:cNvSpPr txBox="1"/>
          <p:nvPr/>
        </p:nvSpPr>
        <p:spPr>
          <a:xfrm>
            <a:off x="4562673" y="4206240"/>
            <a:ext cx="305391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104/104</a:t>
            </a:r>
          </a:p>
        </p:txBody>
      </p:sp>
      <p:sp>
        <p:nvSpPr>
          <p:cNvPr id="512" name="TextBox 20"/>
          <p:cNvSpPr txBox="1"/>
          <p:nvPr/>
        </p:nvSpPr>
        <p:spPr>
          <a:xfrm>
            <a:off x="4562673" y="5074920"/>
            <a:ext cx="305391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現行系統測試通過</a:t>
            </a:r>
          </a:p>
        </p:txBody>
      </p:sp>
      <p:sp>
        <p:nvSpPr>
          <p:cNvPr id="513" name="Connector 21"/>
          <p:cNvSpPr/>
          <p:nvPr/>
        </p:nvSpPr>
        <p:spPr>
          <a:xfrm>
            <a:off x="7890905" y="4343399"/>
            <a:ext cx="1" cy="1325882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14" name="TextBox 22"/>
          <p:cNvSpPr txBox="1"/>
          <p:nvPr/>
        </p:nvSpPr>
        <p:spPr>
          <a:xfrm>
            <a:off x="8165225" y="4206240"/>
            <a:ext cx="305391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515" name="TextBox 23"/>
          <p:cNvSpPr txBox="1"/>
          <p:nvPr/>
        </p:nvSpPr>
        <p:spPr>
          <a:xfrm>
            <a:off x="8165225" y="5074920"/>
            <a:ext cx="305391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個資料表（schema table 數）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</a:t>
            </a:r>
          </a:p>
        </p:txBody>
      </p:sp>
      <p:sp>
        <p:nvSpPr>
          <p:cNvPr id="518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上線後又做了一輪：導覽重構＋首頁儀表板</a:t>
            </a:r>
          </a:p>
        </p:txBody>
      </p:sp>
      <p:sp>
        <p:nvSpPr>
          <p:cNvPr id="519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0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1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2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3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4" name="TextBox 8"/>
          <p:cNvSpPr txBox="1"/>
          <p:nvPr/>
        </p:nvSpPr>
        <p:spPr>
          <a:xfrm>
            <a:off x="978407" y="2121407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全站視覺改成白色簡約風格：卡片陰影全部換成細邊框，色彩與字體統一抽成 CSS token</a:t>
            </a:r>
          </a:p>
        </p:txBody>
      </p:sp>
      <p:sp>
        <p:nvSpPr>
          <p:cNvPr id="525" name="Rectangle 9"/>
          <p:cNvSpPr/>
          <p:nvPr/>
        </p:nvSpPr>
        <p:spPr>
          <a:xfrm>
            <a:off x="685799" y="263867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6" name="TextBox 10"/>
          <p:cNvSpPr txBox="1"/>
          <p:nvPr/>
        </p:nvSpPr>
        <p:spPr>
          <a:xfrm>
            <a:off x="978407" y="2547239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看板、人員派工、WBS 檢視搬進側邊欄第二層，跟著目前所在專案走，不再跟內容區搶版面</a:t>
            </a:r>
          </a:p>
        </p:txBody>
      </p:sp>
      <p:sp>
        <p:nvSpPr>
          <p:cNvPr id="527" name="Rectangle 11"/>
          <p:cNvSpPr/>
          <p:nvPr/>
        </p:nvSpPr>
        <p:spPr>
          <a:xfrm>
            <a:off x="685799" y="3064510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8" name="TextBox 12"/>
          <p:cNvSpPr txBox="1"/>
          <p:nvPr/>
        </p:nvSpPr>
        <p:spPr>
          <a:xfrm>
            <a:off x="978407" y="2973070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 檢視補上「新增大項」，跟看板共用同一套選單挑選邏輯，不用重寫一份</a:t>
            </a:r>
          </a:p>
        </p:txBody>
      </p:sp>
      <p:sp>
        <p:nvSpPr>
          <p:cNvPr id="529" name="Rectangle 13"/>
          <p:cNvSpPr/>
          <p:nvPr/>
        </p:nvSpPr>
        <p:spPr>
          <a:xfrm>
            <a:off x="685799" y="3490340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0" name="TextBox 14"/>
          <p:cNvSpPr txBox="1"/>
          <p:nvPr/>
        </p:nvSpPr>
        <p:spPr>
          <a:xfrm>
            <a:off x="978407" y="3398899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首頁從單純的歡迎詞，改成依角色分三層的儀表板：操作人員看自己的專案跟任務、科長看本科總覽、主任看跨科總覽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 · 畫面</a:t>
            </a:r>
          </a:p>
        </p:txBody>
      </p:sp>
      <p:sp>
        <p:nvSpPr>
          <p:cNvPr id="53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側邊欄導覽 × WBS 新增大項</a:t>
            </a:r>
          </a:p>
        </p:txBody>
      </p:sp>
      <p:sp>
        <p:nvSpPr>
          <p:cNvPr id="534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5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6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7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8" name="Rectangle 7"/>
          <p:cNvSpPr/>
          <p:nvPr/>
        </p:nvSpPr>
        <p:spPr>
          <a:xfrm>
            <a:off x="630936" y="1975103"/>
            <a:ext cx="5330677" cy="2756097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539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48" cy="2646369"/>
          </a:xfrm>
          <a:prstGeom prst="rect">
            <a:avLst/>
          </a:prstGeom>
          <a:ln w="12700">
            <a:miter lim="400000"/>
          </a:ln>
        </p:spPr>
      </p:pic>
      <p:sp>
        <p:nvSpPr>
          <p:cNvPr id="540" name="Rectangle 9"/>
          <p:cNvSpPr/>
          <p:nvPr/>
        </p:nvSpPr>
        <p:spPr>
          <a:xfrm>
            <a:off x="630936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1" name="Rectangle 10"/>
          <p:cNvSpPr/>
          <p:nvPr/>
        </p:nvSpPr>
        <p:spPr>
          <a:xfrm>
            <a:off x="630936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44" name="Rounded Rectangle 11"/>
          <p:cNvGrpSpPr/>
          <p:nvPr/>
        </p:nvGrpSpPr>
        <p:grpSpPr>
          <a:xfrm>
            <a:off x="685800" y="4840928"/>
            <a:ext cx="1682495" cy="310897"/>
            <a:chOff x="0" y="0"/>
            <a:chExt cx="1682494" cy="310895"/>
          </a:xfrm>
        </p:grpSpPr>
        <p:sp>
          <p:nvSpPr>
            <p:cNvPr id="542" name="圓角矩形"/>
            <p:cNvSpPr/>
            <p:nvPr/>
          </p:nvSpPr>
          <p:spPr>
            <a:xfrm>
              <a:off x="0" y="0"/>
              <a:ext cx="1682495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43" name="看板＋側邊欄導覽"/>
            <p:cNvSpPr txBox="1"/>
            <p:nvPr/>
          </p:nvSpPr>
          <p:spPr>
            <a:xfrm>
              <a:off x="225297" y="47497"/>
              <a:ext cx="12319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看板＋側邊欄導覽</a:t>
              </a:r>
            </a:p>
          </p:txBody>
        </p:sp>
      </p:grpSp>
      <p:sp>
        <p:nvSpPr>
          <p:cNvPr id="545" name="Rectangle 12"/>
          <p:cNvSpPr/>
          <p:nvPr/>
        </p:nvSpPr>
        <p:spPr>
          <a:xfrm>
            <a:off x="6217644" y="1975103"/>
            <a:ext cx="5330678" cy="2756097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546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8" y="2029966"/>
            <a:ext cx="5220949" cy="2646369"/>
          </a:xfrm>
          <a:prstGeom prst="rect">
            <a:avLst/>
          </a:prstGeom>
          <a:ln w="12700">
            <a:miter lim="400000"/>
          </a:ln>
        </p:spPr>
      </p:pic>
      <p:sp>
        <p:nvSpPr>
          <p:cNvPr id="547" name="Rectangle 14"/>
          <p:cNvSpPr/>
          <p:nvPr/>
        </p:nvSpPr>
        <p:spPr>
          <a:xfrm>
            <a:off x="6217644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8" name="Rectangle 15"/>
          <p:cNvSpPr/>
          <p:nvPr/>
        </p:nvSpPr>
        <p:spPr>
          <a:xfrm>
            <a:off x="6217644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51" name="Rounded Rectangle 16"/>
          <p:cNvGrpSpPr/>
          <p:nvPr/>
        </p:nvGrpSpPr>
        <p:grpSpPr>
          <a:xfrm>
            <a:off x="6272508" y="4840928"/>
            <a:ext cx="2176274" cy="310897"/>
            <a:chOff x="0" y="0"/>
            <a:chExt cx="2176272" cy="310895"/>
          </a:xfrm>
        </p:grpSpPr>
        <p:sp>
          <p:nvSpPr>
            <p:cNvPr id="549" name="圓角矩形"/>
            <p:cNvSpPr/>
            <p:nvPr/>
          </p:nvSpPr>
          <p:spPr>
            <a:xfrm>
              <a:off x="0" y="0"/>
              <a:ext cx="2176273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50" name="WBS 檢視＋新增大項"/>
            <p:cNvSpPr txBox="1"/>
            <p:nvPr/>
          </p:nvSpPr>
          <p:spPr>
            <a:xfrm>
              <a:off x="364880" y="47497"/>
              <a:ext cx="144651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檢視＋新增大項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 · 首頁</a:t>
            </a:r>
          </a:p>
        </p:txBody>
      </p:sp>
      <p:sp>
        <p:nvSpPr>
          <p:cNvPr id="554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首頁儀表板：依角色分三層</a:t>
            </a:r>
          </a:p>
        </p:txBody>
      </p:sp>
      <p:sp>
        <p:nvSpPr>
          <p:cNvPr id="555" name="Connector 3"/>
          <p:cNvSpPr/>
          <p:nvPr/>
        </p:nvSpPr>
        <p:spPr>
          <a:xfrm>
            <a:off x="685799" y="157276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6" name="Oval 4"/>
          <p:cNvSpPr/>
          <p:nvPr/>
        </p:nvSpPr>
        <p:spPr>
          <a:xfrm>
            <a:off x="658368" y="154533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7" name="Oval 5"/>
          <p:cNvSpPr/>
          <p:nvPr/>
        </p:nvSpPr>
        <p:spPr>
          <a:xfrm>
            <a:off x="106984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8" name="Oval 6"/>
          <p:cNvSpPr/>
          <p:nvPr/>
        </p:nvSpPr>
        <p:spPr>
          <a:xfrm>
            <a:off x="1481327" y="154533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9" name="Rectangle 7"/>
          <p:cNvSpPr/>
          <p:nvPr/>
        </p:nvSpPr>
        <p:spPr>
          <a:xfrm>
            <a:off x="2156176" y="1975103"/>
            <a:ext cx="7866906" cy="4041649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560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11040" y="2029966"/>
            <a:ext cx="7757178" cy="3931922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Rectangle 9"/>
          <p:cNvSpPr/>
          <p:nvPr/>
        </p:nvSpPr>
        <p:spPr>
          <a:xfrm>
            <a:off x="2156175" y="1975103"/>
            <a:ext cx="310897" cy="548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2" name="Rectangle 10"/>
          <p:cNvSpPr/>
          <p:nvPr/>
        </p:nvSpPr>
        <p:spPr>
          <a:xfrm>
            <a:off x="2156175" y="1975103"/>
            <a:ext cx="54865" cy="31089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65" name="Rounded Rectangle 11"/>
          <p:cNvGrpSpPr/>
          <p:nvPr/>
        </p:nvGrpSpPr>
        <p:grpSpPr>
          <a:xfrm>
            <a:off x="2211040" y="6126479"/>
            <a:ext cx="5468113" cy="310897"/>
            <a:chOff x="0" y="0"/>
            <a:chExt cx="5468111" cy="310895"/>
          </a:xfrm>
        </p:grpSpPr>
        <p:sp>
          <p:nvSpPr>
            <p:cNvPr id="563" name="圓角矩形"/>
            <p:cNvSpPr/>
            <p:nvPr/>
          </p:nvSpPr>
          <p:spPr>
            <a:xfrm>
              <a:off x="0" y="0"/>
              <a:ext cx="5468112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64" name="leader 個人視角：進行中的專案＋指派給我的任務，逾期標紅"/>
            <p:cNvSpPr txBox="1"/>
            <p:nvPr/>
          </p:nvSpPr>
          <p:spPr>
            <a:xfrm>
              <a:off x="577772" y="47497"/>
              <a:ext cx="4312568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leader 個人視角：進行中的專案＋指派給我的任務，逾期標紅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8" name="Connector 2"/>
          <p:cNvSpPr/>
          <p:nvPr/>
        </p:nvSpPr>
        <p:spPr>
          <a:xfrm>
            <a:off x="685800" y="685800"/>
            <a:ext cx="2011680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9" name="Oval 3"/>
          <p:cNvSpPr/>
          <p:nvPr/>
        </p:nvSpPr>
        <p:spPr>
          <a:xfrm>
            <a:off x="658368" y="658368"/>
            <a:ext cx="54864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0" name="Oval 4"/>
          <p:cNvSpPr/>
          <p:nvPr/>
        </p:nvSpPr>
        <p:spPr>
          <a:xfrm>
            <a:off x="1664207" y="658368"/>
            <a:ext cx="54865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1" name="Oval 5"/>
          <p:cNvSpPr/>
          <p:nvPr/>
        </p:nvSpPr>
        <p:spPr>
          <a:xfrm>
            <a:off x="2670048" y="658368"/>
            <a:ext cx="54865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2" name="TextBox 6"/>
          <p:cNvSpPr txBox="1"/>
          <p:nvPr/>
        </p:nvSpPr>
        <p:spPr>
          <a:xfrm>
            <a:off x="685800" y="9601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573" name="TextBox 7"/>
          <p:cNvSpPr txBox="1"/>
          <p:nvPr/>
        </p:nvSpPr>
        <p:spPr>
          <a:xfrm>
            <a:off x="685800" y="1325879"/>
            <a:ext cx="10807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574" name="Rectangle 8"/>
          <p:cNvSpPr/>
          <p:nvPr/>
        </p:nvSpPr>
        <p:spPr>
          <a:xfrm>
            <a:off x="685799" y="2706623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5" name="TextBox 9"/>
          <p:cNvSpPr txBox="1"/>
          <p:nvPr/>
        </p:nvSpPr>
        <p:spPr>
          <a:xfrm>
            <a:off x="978407" y="2606039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AI 省下的是打字跟查資料的時間；要做什麼、方向對不對，還是得自己判斷</a:t>
            </a:r>
          </a:p>
        </p:txBody>
      </p:sp>
      <p:sp>
        <p:nvSpPr>
          <p:cNvPr id="576" name="Rectangle 10"/>
          <p:cNvSpPr/>
          <p:nvPr/>
        </p:nvSpPr>
        <p:spPr>
          <a:xfrm>
            <a:off x="685799" y="321868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7" name="TextBox 11"/>
          <p:cNvSpPr txBox="1"/>
          <p:nvPr/>
        </p:nvSpPr>
        <p:spPr>
          <a:xfrm>
            <a:off x="978407" y="3118104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一個人開發最怕沒人幫忙看，讓另一個 AI 來挑毛病，剛好補上這塊</a:t>
            </a:r>
          </a:p>
        </p:txBody>
      </p:sp>
      <p:sp>
        <p:nvSpPr>
          <p:cNvPr id="578" name="Rectangle 12"/>
          <p:cNvSpPr/>
          <p:nvPr/>
        </p:nvSpPr>
        <p:spPr>
          <a:xfrm>
            <a:off x="685799" y="3730752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9" name="TextBox 13"/>
          <p:cNvSpPr txBox="1"/>
          <p:nvPr/>
        </p:nvSpPr>
        <p:spPr>
          <a:xfrm>
            <a:off x="978407" y="3630167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最花時間的不是寫程式，是把需求想清楚——這件事 AI 幫不上忙</a:t>
            </a:r>
          </a:p>
        </p:txBody>
      </p:sp>
      <p:sp>
        <p:nvSpPr>
          <p:cNvPr id="580" name="Rectangle 14"/>
          <p:cNvSpPr/>
          <p:nvPr/>
        </p:nvSpPr>
        <p:spPr>
          <a:xfrm>
            <a:off x="685799" y="4242815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1" name="TextBox 15"/>
          <p:cNvSpPr txBox="1"/>
          <p:nvPr/>
        </p:nvSpPr>
        <p:spPr>
          <a:xfrm>
            <a:off x="978407" y="4142232"/>
            <a:ext cx="1051505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兩個月做了四個世代，走的冤枉路比想像多，但每次砍掉重來都比硬撐下去快</a:t>
            </a:r>
          </a:p>
        </p:txBody>
      </p:sp>
      <p:sp>
        <p:nvSpPr>
          <p:cNvPr id="582" name="Connector 16"/>
          <p:cNvSpPr/>
          <p:nvPr/>
        </p:nvSpPr>
        <p:spPr>
          <a:xfrm>
            <a:off x="685800" y="4791455"/>
            <a:ext cx="4983481" cy="1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3" name="TextBox 17"/>
          <p:cNvSpPr txBox="1"/>
          <p:nvPr/>
        </p:nvSpPr>
        <p:spPr>
          <a:xfrm>
            <a:off x="685800" y="4974335"/>
            <a:ext cx="1080765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謝謝聆聽 · Q &amp; 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