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21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大標題文字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大標題文字</a:t>
            </a:r>
          </a:p>
        </p:txBody>
      </p:sp>
      <p:sp>
        <p:nvSpPr>
          <p:cNvPr id="30" name="內文層級一…"/>
          <p:cNvSpPr txBox="1"/>
          <p:nvPr>
            <p:ph type="body" sz="quarter" idx="1"/>
          </p:nvPr>
        </p:nvSpPr>
        <p:spPr>
          <a:xfrm>
            <a:off x="722312" y="2906713"/>
            <a:ext cx="7772401" cy="1500194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9" name="內文層級一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48" name="內文層級一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70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8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大標題文字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73" name="內文層級一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大標題文字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內文層級一…"/>
          <p:cNvSpPr txBox="1"/>
          <p:nvPr>
            <p:ph type="body" sz="quarter" idx="1"/>
          </p:nvPr>
        </p:nvSpPr>
        <p:spPr>
          <a:xfrm>
            <a:off x="1792288" y="5367337"/>
            <a:ext cx="5486404" cy="80486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 txBox="1"/>
          <p:nvPr/>
        </p:nvSpPr>
        <p:spPr>
          <a:xfrm>
            <a:off x="868680" y="1920236"/>
            <a:ext cx="10424161" cy="2377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b="1" sz="5000">
                <a:solidFill>
                  <a:srgbClr val="1C1F26"/>
                </a:solidFill>
              </a:defRPr>
            </a:lvl1pPr>
          </a:lstStyle>
          <a:p>
            <a:pPr/>
            <a:r>
              <a:t>未列管專案結案報告：從 HTML 到 SaaS</a:t>
            </a:r>
          </a:p>
        </p:txBody>
      </p:sp>
      <p:sp>
        <p:nvSpPr>
          <p:cNvPr id="95" name="TextBox 2"/>
          <p:cNvSpPr txBox="1"/>
          <p:nvPr/>
        </p:nvSpPr>
        <p:spPr>
          <a:xfrm>
            <a:off x="868680" y="3886198"/>
            <a:ext cx="9966961" cy="1097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sz="1300">
                <a:solidFill>
                  <a:srgbClr val="55596A"/>
                </a:solidFill>
              </a:defRPr>
            </a:lvl1pPr>
          </a:lstStyle>
          <a:p>
            <a:pPr/>
            <a:r>
              <a:t>什麼！？這也要兩個月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868677" y="6126479"/>
            <a:ext cx="5591281" cy="307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2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2026-06-08 → 2026-08-10   ·   Spring-MissionBoard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及其前身專案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ounded Rectangle 1"/>
          <p:cNvSpPr/>
          <p:nvPr/>
        </p:nvSpPr>
        <p:spPr>
          <a:xfrm>
            <a:off x="685800" y="700000"/>
            <a:ext cx="10807700" cy="5550000"/>
          </a:xfrm>
          <a:prstGeom prst="roundRect">
            <a:avLst>
              <a:gd name="adj" fmla="val 3000"/>
            </a:avLst>
          </a:prstGeom>
          <a:solidFill>
            <a:srgbClr val="FBF3E6"/>
          </a:solidFill>
          <a:ln w="31750">
            <a:solidFill>
              <a:srgbClr val="B3791F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101" name="Rounded Rectangle 2"/>
          <p:cNvGrpSpPr/>
          <p:nvPr/>
        </p:nvGrpSpPr>
        <p:grpSpPr>
          <a:xfrm>
            <a:off x="685800" y="699996"/>
            <a:ext cx="10807700" cy="750008"/>
            <a:chOff x="0" y="0"/>
            <a:chExt cx="10807700" cy="750007"/>
          </a:xfrm>
        </p:grpSpPr>
        <p:sp>
          <p:nvSpPr>
            <p:cNvPr id="99" name="圓角矩形"/>
            <p:cNvSpPr/>
            <p:nvPr/>
          </p:nvSpPr>
          <p:spPr>
            <a:xfrm>
              <a:off x="0" y="-1"/>
              <a:ext cx="10807700" cy="750008"/>
            </a:xfrm>
            <a:prstGeom prst="roundRect">
              <a:avLst>
                <a:gd name="adj" fmla="val 8000"/>
              </a:avLst>
            </a:prstGeom>
            <a:solidFill>
              <a:srgbClr val="B3791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00" name="⚠  重要聲明"/>
            <p:cNvSpPr txBox="1"/>
            <p:nvPr/>
          </p:nvSpPr>
          <p:spPr>
            <a:xfrm>
              <a:off x="63290" y="94330"/>
              <a:ext cx="10681118" cy="561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6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lvl1pPr>
            </a:lstStyle>
            <a:p>
              <a:pPr/>
              <a:r>
                <a:t>⚠  重要聲明</a:t>
              </a:r>
            </a:p>
          </p:txBody>
        </p:sp>
      </p:grpSp>
      <p:sp>
        <p:nvSpPr>
          <p:cNvPr id="102" name="TextBox 3"/>
          <p:cNvSpPr txBox="1"/>
          <p:nvPr/>
        </p:nvSpPr>
        <p:spPr>
          <a:xfrm>
            <a:off x="970000" y="1619998"/>
            <a:ext cx="10240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500">
                <a:solidFill>
                  <a:srgbClr val="55596A"/>
                </a:solidFill>
              </a:defRPr>
            </a:lvl1pPr>
          </a:lstStyle>
          <a:p>
            <a:pPr/>
            <a:r>
              <a:t>這份簡報的所有內容，都是我個人興趣開發</a:t>
            </a:r>
          </a:p>
        </p:txBody>
      </p:sp>
      <p:sp>
        <p:nvSpPr>
          <p:cNvPr id="103" name="TextBox 4"/>
          <p:cNvSpPr txBox="1"/>
          <p:nvPr/>
        </p:nvSpPr>
        <p:spPr>
          <a:xfrm>
            <a:off x="970000" y="2149998"/>
            <a:ext cx="10240000" cy="513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solidFill>
                  <a:srgbClr val="1C1F26"/>
                </a:solidFill>
              </a:defRPr>
            </a:pPr>
            <a:r>
              <a:t>一、以下介紹之專案（</a:t>
            </a:r>
            <a:r>
              <a:rPr>
                <a:latin typeface="Arial"/>
                <a:ea typeface="Arial"/>
                <a:cs typeface="Arial"/>
                <a:sym typeface="Arial"/>
              </a:rPr>
              <a:t>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Spring-TaskFlow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Spring-MissionBoard</a:t>
            </a:r>
            <a:r>
              <a:t>），均為個人興趣開發，非公司指派或授權之專案</a:t>
            </a:r>
          </a:p>
        </p:txBody>
      </p:sp>
      <p:sp>
        <p:nvSpPr>
          <p:cNvPr id="104" name="TextBox 5"/>
          <p:cNvSpPr txBox="1"/>
          <p:nvPr/>
        </p:nvSpPr>
        <p:spPr>
          <a:xfrm>
            <a:off x="970000" y="2769997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1C1F26"/>
                </a:solidFill>
              </a:defRPr>
            </a:lvl1pPr>
          </a:lstStyle>
          <a:p>
            <a:pPr/>
            <a:r>
              <a:t>二、使用之時間與設備均屬個人所有，與現職工作內容無關，亦不代表任何官方立場或部門決策</a:t>
            </a:r>
          </a:p>
        </p:txBody>
      </p:sp>
      <p:sp>
        <p:nvSpPr>
          <p:cNvPr id="105" name="TextBox 6"/>
          <p:cNvSpPr txBox="1"/>
          <p:nvPr/>
        </p:nvSpPr>
        <p:spPr>
          <a:xfrm>
            <a:off x="970000" y="3390000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1C1F26"/>
                </a:solidFill>
              </a:defRPr>
            </a:lvl1pPr>
          </a:lstStyle>
          <a:p>
            <a:pPr/>
            <a:r>
              <a:t>三、目前均為個人技術驗證，未經正式上線審查，畫面所示資安、權限設計均為模擬情境，非真實系統</a:t>
            </a:r>
          </a:p>
        </p:txBody>
      </p:sp>
      <p:sp>
        <p:nvSpPr>
          <p:cNvPr id="106" name="TextBox 7"/>
          <p:cNvSpPr txBox="1"/>
          <p:nvPr/>
        </p:nvSpPr>
        <p:spPr>
          <a:xfrm>
            <a:off x="970000" y="4009999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1C1F26"/>
                </a:solidFill>
              </a:defRPr>
            </a:lvl1pPr>
          </a:lstStyle>
          <a:p>
            <a:pPr/>
            <a:r>
              <a:t>四、本次僅為開發心得分享交流，非提案亦非報告</a:t>
            </a:r>
          </a:p>
        </p:txBody>
      </p:sp>
      <p:sp>
        <p:nvSpPr>
          <p:cNvPr id="107" name="TextBox 8"/>
          <p:cNvSpPr txBox="1"/>
          <p:nvPr/>
        </p:nvSpPr>
        <p:spPr>
          <a:xfrm>
            <a:off x="970000" y="4629999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400">
                <a:solidFill>
                  <a:srgbClr val="B3791F"/>
                </a:solidFill>
              </a:defRPr>
            </a:pPr>
            <a:r>
              <a:t>五、若因本簡報內容引發贊助衝動，歡迎抖內支持一位假日還在寫 </a:t>
            </a:r>
            <a:r>
              <a:rPr>
                <a:latin typeface="Arial"/>
                <a:ea typeface="Arial"/>
                <a:cs typeface="Arial"/>
                <a:sym typeface="Arial"/>
              </a:rPr>
              <a:t>code </a:t>
            </a:r>
            <a:r>
              <a:t>的 </a:t>
            </a:r>
            <a:r>
              <a:rPr>
                <a:latin typeface="Arial"/>
                <a:ea typeface="Arial"/>
                <a:cs typeface="Arial"/>
                <a:sym typeface="Arial"/>
              </a:rPr>
              <a:t>AP </a:t>
            </a:r>
            <a:r>
              <a:t>工程師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起點</a:t>
            </a:r>
          </a:p>
        </p:txBody>
      </p:sp>
      <p:sp>
        <p:nvSpPr>
          <p:cNvPr id="110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一切的起點：會議都在等文件</a:t>
            </a:r>
          </a:p>
        </p:txBody>
      </p:sp>
      <p:sp>
        <p:nvSpPr>
          <p:cNvPr id="111" name="TextBox 3"/>
          <p:cNvSpPr txBox="1"/>
          <p:nvPr/>
        </p:nvSpPr>
        <p:spPr>
          <a:xfrm>
            <a:off x="731518" y="16916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身為一個 </a:t>
            </a:r>
            <a:r>
              <a:t>AP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，開發本身不是最花時間的，最花時間的是每次開會都要重新對一次文件，格式不對齊、資訊分散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換算一下：每週簡報，一人約 </a:t>
            </a:r>
            <a:r>
              <a:t>2MB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</a:t>
            </a:r>
            <a:r>
              <a:t>500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人一週約 </a:t>
            </a:r>
            <a:r>
              <a:t>1,000MB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；一年 </a:t>
            </a:r>
            <a:r>
              <a:t>52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週下來，約 </a:t>
            </a:r>
            <a:r>
              <a:t>52,000MB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（</a:t>
            </a:r>
            <a:r>
              <a:t>≈52GB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）在四處流通、重複對稿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想法很單純：能不能用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幫忙，把「做文件、對文件」這件事變輕鬆一點？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所以就動手做了 </a:t>
            </a:r>
            <a:r>
              <a:t>Spring-MissionBoard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先講一下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SaaS</a:t>
            </a:r>
          </a:p>
        </p:txBody>
      </p:sp>
      <p:sp>
        <p:nvSpPr>
          <p:cNvPr id="114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不用自己裝，開瀏覽器就能用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731518" y="16916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東西放在同一個地方，大家連上去看到的都是同一份、也都是最新的</a:t>
            </a:r>
          </a:p>
        </p:txBody>
      </p:sp>
      <p:sp>
        <p:nvSpPr>
          <p:cNvPr id="116" name="TextBox 4"/>
          <p:cNvSpPr txBox="1"/>
          <p:nvPr/>
        </p:nvSpPr>
        <p:spPr>
          <a:xfrm>
            <a:off x="685793" y="2860000"/>
            <a:ext cx="4800012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55596A"/>
                </a:solidFill>
              </a:defRPr>
            </a:pPr>
            <a:r>
              <a:t>以前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</a:t>
            </a:r>
            <a:r>
              <a:t>各自一份檔案</a:t>
            </a:r>
          </a:p>
        </p:txBody>
      </p:sp>
      <p:grpSp>
        <p:nvGrpSpPr>
          <p:cNvPr id="119" name="Rounded Rectangle 5"/>
          <p:cNvGrpSpPr/>
          <p:nvPr/>
        </p:nvGrpSpPr>
        <p:grpSpPr>
          <a:xfrm>
            <a:off x="685790" y="3399991"/>
            <a:ext cx="1350018" cy="700017"/>
            <a:chOff x="-1" y="0"/>
            <a:chExt cx="1350016" cy="700015"/>
          </a:xfrm>
        </p:grpSpPr>
        <p:sp>
          <p:nvSpPr>
            <p:cNvPr id="117" name="圓角矩形"/>
            <p:cNvSpPr/>
            <p:nvPr/>
          </p:nvSpPr>
          <p:spPr>
            <a:xfrm>
              <a:off x="-2" y="-1"/>
              <a:ext cx="1350018" cy="700016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18" name="我的版本"/>
            <p:cNvSpPr txBox="1"/>
            <p:nvPr/>
          </p:nvSpPr>
          <p:spPr>
            <a:xfrm>
              <a:off x="45235" y="189980"/>
              <a:ext cx="1259545" cy="320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300">
                  <a:solidFill>
                    <a:srgbClr val="55596A"/>
                  </a:solidFill>
                </a:defRPr>
              </a:lvl1pPr>
            </a:lstStyle>
            <a:p>
              <a:pPr/>
              <a:r>
                <a:t>我的版本</a:t>
              </a:r>
            </a:p>
          </p:txBody>
        </p:sp>
      </p:grpSp>
      <p:grpSp>
        <p:nvGrpSpPr>
          <p:cNvPr id="122" name="Rounded Rectangle 6"/>
          <p:cNvGrpSpPr/>
          <p:nvPr/>
        </p:nvGrpSpPr>
        <p:grpSpPr>
          <a:xfrm>
            <a:off x="2385790" y="3399991"/>
            <a:ext cx="1350017" cy="700017"/>
            <a:chOff x="-1" y="0"/>
            <a:chExt cx="1350016" cy="700015"/>
          </a:xfrm>
        </p:grpSpPr>
        <p:sp>
          <p:nvSpPr>
            <p:cNvPr id="120" name="圓角矩形"/>
            <p:cNvSpPr/>
            <p:nvPr/>
          </p:nvSpPr>
          <p:spPr>
            <a:xfrm>
              <a:off x="-2" y="-1"/>
              <a:ext cx="1350018" cy="700016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21" name="同事的版本"/>
            <p:cNvSpPr txBox="1"/>
            <p:nvPr/>
          </p:nvSpPr>
          <p:spPr>
            <a:xfrm>
              <a:off x="45235" y="189980"/>
              <a:ext cx="1259545" cy="320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300">
                  <a:solidFill>
                    <a:srgbClr val="55596A"/>
                  </a:solidFill>
                </a:defRPr>
              </a:lvl1pPr>
            </a:lstStyle>
            <a:p>
              <a:pPr/>
              <a:r>
                <a:t>同事的版本</a:t>
              </a:r>
            </a:p>
          </p:txBody>
        </p:sp>
      </p:grpSp>
      <p:grpSp>
        <p:nvGrpSpPr>
          <p:cNvPr id="125" name="Rounded Rectangle 7"/>
          <p:cNvGrpSpPr/>
          <p:nvPr/>
        </p:nvGrpSpPr>
        <p:grpSpPr>
          <a:xfrm>
            <a:off x="4085793" y="3399991"/>
            <a:ext cx="1350017" cy="700017"/>
            <a:chOff x="-1" y="0"/>
            <a:chExt cx="1350016" cy="700015"/>
          </a:xfrm>
        </p:grpSpPr>
        <p:sp>
          <p:nvSpPr>
            <p:cNvPr id="123" name="圓角矩形"/>
            <p:cNvSpPr/>
            <p:nvPr/>
          </p:nvSpPr>
          <p:spPr>
            <a:xfrm>
              <a:off x="-2" y="-1"/>
              <a:ext cx="1350018" cy="700016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24" name="主管的版本"/>
            <p:cNvSpPr txBox="1"/>
            <p:nvPr/>
          </p:nvSpPr>
          <p:spPr>
            <a:xfrm>
              <a:off x="45235" y="189980"/>
              <a:ext cx="1259545" cy="320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300">
                  <a:solidFill>
                    <a:srgbClr val="55596A"/>
                  </a:solidFill>
                </a:defRPr>
              </a:lvl1pPr>
            </a:lstStyle>
            <a:p>
              <a:pPr/>
              <a:r>
                <a:t>主管的版本</a:t>
              </a:r>
            </a:p>
          </p:txBody>
        </p:sp>
      </p:grpSp>
      <p:sp>
        <p:nvSpPr>
          <p:cNvPr id="126" name="TextBox 8"/>
          <p:cNvSpPr txBox="1"/>
          <p:nvPr/>
        </p:nvSpPr>
        <p:spPr>
          <a:xfrm>
            <a:off x="685793" y="4319999"/>
            <a:ext cx="480001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55596A"/>
                </a:solidFill>
              </a:defRPr>
            </a:lvl1pPr>
          </a:lstStyle>
          <a:p>
            <a:pPr/>
            <a:r>
              <a:t>開會前要人工合併，常常對到不一樣的版本</a:t>
            </a:r>
          </a:p>
        </p:txBody>
      </p:sp>
      <p:sp>
        <p:nvSpPr>
          <p:cNvPr id="127" name="TextBox 9"/>
          <p:cNvSpPr txBox="1"/>
          <p:nvPr/>
        </p:nvSpPr>
        <p:spPr>
          <a:xfrm>
            <a:off x="6399998" y="2860000"/>
            <a:ext cx="489284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1F6F6B"/>
                </a:solidFill>
              </a:defRPr>
            </a:pPr>
            <a:r>
              <a:t>現在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</a:t>
            </a:r>
            <a:r>
              <a:t>連到同一個地方</a:t>
            </a:r>
          </a:p>
        </p:txBody>
      </p:sp>
      <p:grpSp>
        <p:nvGrpSpPr>
          <p:cNvPr id="130" name="Rounded Rectangle 10"/>
          <p:cNvGrpSpPr/>
          <p:nvPr/>
        </p:nvGrpSpPr>
        <p:grpSpPr>
          <a:xfrm>
            <a:off x="6399992" y="3259991"/>
            <a:ext cx="1050017" cy="480017"/>
            <a:chOff x="-1" y="-1"/>
            <a:chExt cx="1050016" cy="480016"/>
          </a:xfrm>
        </p:grpSpPr>
        <p:sp>
          <p:nvSpPr>
            <p:cNvPr id="128" name="圓角矩形"/>
            <p:cNvSpPr/>
            <p:nvPr/>
          </p:nvSpPr>
          <p:spPr>
            <a:xfrm>
              <a:off x="-2" y="-2"/>
              <a:ext cx="1050018" cy="480018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29" name="我"/>
            <p:cNvSpPr txBox="1"/>
            <p:nvPr/>
          </p:nvSpPr>
          <p:spPr>
            <a:xfrm>
              <a:off x="37503" y="86333"/>
              <a:ext cx="975010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200">
                  <a:solidFill>
                    <a:srgbClr val="55596A"/>
                  </a:solidFill>
                </a:defRPr>
              </a:lvl1pPr>
            </a:lstStyle>
            <a:p>
              <a:pPr/>
              <a:r>
                <a:t>我</a:t>
              </a:r>
            </a:p>
          </p:txBody>
        </p:sp>
      </p:grpSp>
      <p:sp>
        <p:nvSpPr>
          <p:cNvPr id="131" name="Right Arrow 11"/>
          <p:cNvSpPr/>
          <p:nvPr/>
        </p:nvSpPr>
        <p:spPr>
          <a:xfrm>
            <a:off x="7599998" y="3370000"/>
            <a:ext cx="620007" cy="250007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134" name="Rounded Rectangle 12"/>
          <p:cNvGrpSpPr/>
          <p:nvPr/>
        </p:nvGrpSpPr>
        <p:grpSpPr>
          <a:xfrm>
            <a:off x="6399992" y="3879990"/>
            <a:ext cx="1050017" cy="480017"/>
            <a:chOff x="-1" y="0"/>
            <a:chExt cx="1050016" cy="480016"/>
          </a:xfrm>
        </p:grpSpPr>
        <p:sp>
          <p:nvSpPr>
            <p:cNvPr id="132" name="圓角矩形"/>
            <p:cNvSpPr/>
            <p:nvPr/>
          </p:nvSpPr>
          <p:spPr>
            <a:xfrm>
              <a:off x="-2" y="-1"/>
              <a:ext cx="1050018" cy="480017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33" name="同事"/>
            <p:cNvSpPr txBox="1"/>
            <p:nvPr/>
          </p:nvSpPr>
          <p:spPr>
            <a:xfrm>
              <a:off x="37503" y="86332"/>
              <a:ext cx="975010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200">
                  <a:solidFill>
                    <a:srgbClr val="55596A"/>
                  </a:solidFill>
                </a:defRPr>
              </a:lvl1pPr>
            </a:lstStyle>
            <a:p>
              <a:pPr/>
              <a:r>
                <a:t>同事</a:t>
              </a:r>
            </a:p>
          </p:txBody>
        </p:sp>
      </p:grpSp>
      <p:sp>
        <p:nvSpPr>
          <p:cNvPr id="135" name="Right Arrow 13"/>
          <p:cNvSpPr/>
          <p:nvPr/>
        </p:nvSpPr>
        <p:spPr>
          <a:xfrm>
            <a:off x="7599998" y="3989999"/>
            <a:ext cx="620007" cy="250007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138" name="Rounded Rectangle 14"/>
          <p:cNvGrpSpPr/>
          <p:nvPr/>
        </p:nvGrpSpPr>
        <p:grpSpPr>
          <a:xfrm>
            <a:off x="6399992" y="4499992"/>
            <a:ext cx="1050017" cy="480017"/>
            <a:chOff x="-1" y="-1"/>
            <a:chExt cx="1050016" cy="480016"/>
          </a:xfrm>
        </p:grpSpPr>
        <p:sp>
          <p:nvSpPr>
            <p:cNvPr id="136" name="圓角矩形"/>
            <p:cNvSpPr/>
            <p:nvPr/>
          </p:nvSpPr>
          <p:spPr>
            <a:xfrm>
              <a:off x="-2" y="-2"/>
              <a:ext cx="1050018" cy="480018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37" name="主管"/>
            <p:cNvSpPr txBox="1"/>
            <p:nvPr/>
          </p:nvSpPr>
          <p:spPr>
            <a:xfrm>
              <a:off x="37503" y="86333"/>
              <a:ext cx="975010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200">
                  <a:solidFill>
                    <a:srgbClr val="55596A"/>
                  </a:solidFill>
                </a:defRPr>
              </a:lvl1pPr>
            </a:lstStyle>
            <a:p>
              <a:pPr/>
              <a:r>
                <a:t>主管</a:t>
              </a:r>
            </a:p>
          </p:txBody>
        </p:sp>
      </p:grpSp>
      <p:sp>
        <p:nvSpPr>
          <p:cNvPr id="139" name="Right Arrow 15"/>
          <p:cNvSpPr/>
          <p:nvPr/>
        </p:nvSpPr>
        <p:spPr>
          <a:xfrm>
            <a:off x="7599998" y="4610000"/>
            <a:ext cx="620007" cy="25000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142" name="Rounded Rectangle 16"/>
          <p:cNvGrpSpPr/>
          <p:nvPr/>
        </p:nvGrpSpPr>
        <p:grpSpPr>
          <a:xfrm>
            <a:off x="8499997" y="3399991"/>
            <a:ext cx="2792853" cy="1360018"/>
            <a:chOff x="-1" y="0"/>
            <a:chExt cx="2792852" cy="1360016"/>
          </a:xfrm>
        </p:grpSpPr>
        <p:sp>
          <p:nvSpPr>
            <p:cNvPr id="140" name="圓角矩形"/>
            <p:cNvSpPr/>
            <p:nvPr/>
          </p:nvSpPr>
          <p:spPr>
            <a:xfrm>
              <a:off x="-2" y="-1"/>
              <a:ext cx="2792854" cy="1360018"/>
            </a:xfrm>
            <a:prstGeom prst="roundRect">
              <a:avLst>
                <a:gd name="adj" fmla="val 12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41" name="同一份資料…"/>
            <p:cNvSpPr txBox="1"/>
            <p:nvPr/>
          </p:nvSpPr>
          <p:spPr>
            <a:xfrm>
              <a:off x="62078" y="386631"/>
              <a:ext cx="2668694" cy="5867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/>
            <a:p>
              <a:pPr algn="ctr">
                <a:defRPr b="1" sz="1500">
                  <a:solidFill>
                    <a:srgbClr val="FFFFFF"/>
                  </a:solidFill>
                </a:defRPr>
              </a:pPr>
              <a:r>
                <a:t>同一份資料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defRPr sz="1300">
                  <a:solidFill>
                    <a:srgbClr val="FFFFFF"/>
                  </a:solidFill>
                </a:defRPr>
              </a:pPr>
              <a:r>
                <a:t>打開瀏覽器就是最新的</a:t>
              </a:r>
            </a:p>
          </p:txBody>
        </p:sp>
      </p:grpSp>
      <p:sp>
        <p:nvSpPr>
          <p:cNvPr id="143" name="TextBox 17"/>
          <p:cNvSpPr txBox="1"/>
          <p:nvPr/>
        </p:nvSpPr>
        <p:spPr>
          <a:xfrm>
            <a:off x="6399998" y="4929999"/>
            <a:ext cx="489284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55596A"/>
                </a:solidFill>
              </a:defRPr>
            </a:lvl1pPr>
          </a:lstStyle>
          <a:p>
            <a:pPr/>
            <a:r>
              <a:t>不用互傳檔案，也不用問「哪一份才是最新的」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系統定位</a:t>
            </a:r>
          </a:p>
        </p:txBody>
      </p:sp>
      <p:sp>
        <p:nvSpPr>
          <p:cNvPr id="146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沒想過一次到位，是一步步走過來的</a:t>
            </a:r>
          </a:p>
        </p:txBody>
      </p:sp>
      <p:sp>
        <p:nvSpPr>
          <p:cNvPr id="147" name="TextBox 3"/>
          <p:cNvSpPr txBox="1"/>
          <p:nvPr/>
        </p:nvSpPr>
        <p:spPr>
          <a:xfrm>
            <a:off x="731518" y="16916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先從一支單一 </a:t>
            </a:r>
            <a:r>
              <a:t>HTML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檔開始，一個人就能做完，快速驗證想法可不可行，不做過度設計</a:t>
            </a:r>
          </a:p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確定方向對了，才往剛剛講的那種「大家連同一個地方」的系統走</a:t>
            </a:r>
          </a:p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過程就是做出來、自己用用看，好用的留下、不好用的直接砍掉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系統現況</a:t>
            </a:r>
          </a:p>
        </p:txBody>
      </p:sp>
      <p:sp>
        <p:nvSpPr>
          <p:cNvPr id="150" name="TextBox 2"/>
          <p:cNvSpPr txBox="1"/>
          <p:nvPr/>
        </p:nvSpPr>
        <p:spPr>
          <a:xfrm>
            <a:off x="731519" y="914399"/>
            <a:ext cx="10698482" cy="662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200">
                <a:solidFill>
                  <a:srgbClr val="1C1F26"/>
                </a:solidFill>
              </a:defRPr>
            </a:pPr>
            <a:r>
              <a:t>現在的 </a:t>
            </a:r>
            <a:r>
              <a:rPr>
                <a:latin typeface="Georgia"/>
                <a:ea typeface="Georgia"/>
                <a:cs typeface="Georgia"/>
                <a:sym typeface="Georgia"/>
              </a:rPr>
              <a:t>Spring-MissionBoard</a:t>
            </a:r>
          </a:p>
        </p:txBody>
      </p:sp>
      <p:sp>
        <p:nvSpPr>
          <p:cNvPr id="151" name="Rectangle 3"/>
          <p:cNvSpPr/>
          <p:nvPr/>
        </p:nvSpPr>
        <p:spPr>
          <a:xfrm>
            <a:off x="630933" y="1911092"/>
            <a:ext cx="5138934" cy="3252989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2" name="TextBox 5"/>
          <p:cNvSpPr txBox="1"/>
          <p:nvPr/>
        </p:nvSpPr>
        <p:spPr>
          <a:xfrm>
            <a:off x="731516" y="5246370"/>
            <a:ext cx="76453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分類管理</a:t>
            </a:r>
          </a:p>
        </p:txBody>
      </p:sp>
      <p:sp>
        <p:nvSpPr>
          <p:cNvPr id="153" name="Rectangle 6"/>
          <p:cNvSpPr/>
          <p:nvPr/>
        </p:nvSpPr>
        <p:spPr>
          <a:xfrm>
            <a:off x="6254496" y="1911092"/>
            <a:ext cx="5138933" cy="3252989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54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309359" y="1965960"/>
            <a:ext cx="5029204" cy="3143252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TextBox 8"/>
          <p:cNvSpPr txBox="1"/>
          <p:nvPr/>
        </p:nvSpPr>
        <p:spPr>
          <a:xfrm>
            <a:off x="6355079" y="5246370"/>
            <a:ext cx="76453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任務看板</a:t>
            </a:r>
          </a:p>
        </p:txBody>
      </p:sp>
      <p:pic>
        <p:nvPicPr>
          <p:cNvPr id="156" name="Picture 9" descr="Picture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5800" y="1965960"/>
            <a:ext cx="5029200" cy="31432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開發歷程</a:t>
            </a:r>
          </a:p>
        </p:txBody>
      </p:sp>
      <p:sp>
        <p:nvSpPr>
          <p:cNvPr id="159" name="TextBox 2"/>
          <p:cNvSpPr txBox="1"/>
          <p:nvPr/>
        </p:nvSpPr>
        <p:spPr>
          <a:xfrm>
            <a:off x="731519" y="914399"/>
            <a:ext cx="10698482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C1F26"/>
                </a:solidFill>
              </a:defRPr>
            </a:lvl1pPr>
          </a:lstStyle>
          <a:p>
            <a:pPr/>
            <a:r>
              <a:t>四個階段，一條時間軸</a:t>
            </a:r>
          </a:p>
        </p:txBody>
      </p:sp>
      <p:sp>
        <p:nvSpPr>
          <p:cNvPr id="160" name="TextBox 3"/>
          <p:cNvSpPr txBox="1"/>
          <p:nvPr/>
        </p:nvSpPr>
        <p:spPr>
          <a:xfrm>
            <a:off x="731519" y="1783077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06-08 → 06-19</a:t>
            </a:r>
          </a:p>
        </p:txBody>
      </p:sp>
      <p:sp>
        <p:nvSpPr>
          <p:cNvPr id="161" name="Oval 4"/>
          <p:cNvSpPr/>
          <p:nvPr/>
        </p:nvSpPr>
        <p:spPr>
          <a:xfrm>
            <a:off x="2331720" y="1837944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2" name="TextBox 5"/>
          <p:cNvSpPr txBox="1"/>
          <p:nvPr/>
        </p:nvSpPr>
        <p:spPr>
          <a:xfrm>
            <a:off x="2743199" y="1783076"/>
            <a:ext cx="5508562" cy="841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b="1" sz="19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WbsScaff</a:t>
            </a:r>
          </a:p>
          <a:p>
            <a:pPr>
              <a:defRPr sz="1400">
                <a:solidFill>
                  <a:srgbClr val="55596A"/>
                </a:solidFill>
              </a:defRPr>
            </a:pPr>
            <a:r>
              <a:t>單檔 </a:t>
            </a:r>
            <a:r>
              <a:rPr>
                <a:latin typeface="Arial"/>
                <a:ea typeface="Arial"/>
                <a:cs typeface="Arial"/>
                <a:sym typeface="Arial"/>
              </a:rPr>
              <a:t>HTML WBS </a:t>
            </a:r>
            <a:r>
              <a:t>工具，氣隙環境，無伺服器</a:t>
            </a:r>
          </a:p>
        </p:txBody>
      </p:sp>
      <p:sp>
        <p:nvSpPr>
          <p:cNvPr id="163" name="TextBox 6"/>
          <p:cNvSpPr txBox="1"/>
          <p:nvPr/>
        </p:nvSpPr>
        <p:spPr>
          <a:xfrm>
            <a:off x="731519" y="2624327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06-19 → 07-03</a:t>
            </a:r>
          </a:p>
        </p:txBody>
      </p:sp>
      <p:sp>
        <p:nvSpPr>
          <p:cNvPr id="164" name="Oval 7"/>
          <p:cNvSpPr/>
          <p:nvPr/>
        </p:nvSpPr>
        <p:spPr>
          <a:xfrm>
            <a:off x="2331720" y="2679192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5" name="TextBox 8"/>
          <p:cNvSpPr txBox="1"/>
          <p:nvPr/>
        </p:nvSpPr>
        <p:spPr>
          <a:xfrm>
            <a:off x="2743199" y="2624327"/>
            <a:ext cx="5508562" cy="841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b="1" sz="19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Spring-WbsScaff</a:t>
            </a:r>
          </a:p>
          <a:p>
            <a:pPr>
              <a:defRPr sz="1400">
                <a:solidFill>
                  <a:srgbClr val="55596A"/>
                </a:solidFill>
              </a:defRPr>
            </a:pPr>
            <a:r>
              <a:t>搬上 </a:t>
            </a:r>
            <a:r>
              <a:rPr>
                <a:latin typeface="Arial"/>
                <a:ea typeface="Arial"/>
                <a:cs typeface="Arial"/>
                <a:sym typeface="Arial"/>
              </a:rPr>
              <a:t>Web</a:t>
            </a:r>
            <a:r>
              <a:t>，多人即時協作、部門權限</a:t>
            </a:r>
          </a:p>
        </p:txBody>
      </p:sp>
      <p:sp>
        <p:nvSpPr>
          <p:cNvPr id="166" name="TextBox 9"/>
          <p:cNvSpPr txBox="1"/>
          <p:nvPr/>
        </p:nvSpPr>
        <p:spPr>
          <a:xfrm>
            <a:off x="731519" y="3465576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07-03 → 07-08</a:t>
            </a:r>
          </a:p>
        </p:txBody>
      </p:sp>
      <p:sp>
        <p:nvSpPr>
          <p:cNvPr id="167" name="Oval 10"/>
          <p:cNvSpPr/>
          <p:nvPr/>
        </p:nvSpPr>
        <p:spPr>
          <a:xfrm>
            <a:off x="2331720" y="3520440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8" name="TextBox 11"/>
          <p:cNvSpPr txBox="1"/>
          <p:nvPr/>
        </p:nvSpPr>
        <p:spPr>
          <a:xfrm>
            <a:off x="2743199" y="3465576"/>
            <a:ext cx="5508562" cy="841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b="1" sz="19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Spring-TaskFlow</a:t>
            </a:r>
          </a:p>
          <a:p>
            <a:pPr>
              <a:defRPr sz="1400">
                <a:solidFill>
                  <a:srgbClr val="55596A"/>
                </a:solidFill>
              </a:defRPr>
            </a:pPr>
            <a:r>
              <a:t>拆出獨立看板系統，核心從樹狀改拖曳卡片</a:t>
            </a:r>
          </a:p>
        </p:txBody>
      </p:sp>
      <p:sp>
        <p:nvSpPr>
          <p:cNvPr id="169" name="TextBox 12"/>
          <p:cNvSpPr txBox="1"/>
          <p:nvPr/>
        </p:nvSpPr>
        <p:spPr>
          <a:xfrm>
            <a:off x="731519" y="4306823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07-17 → 08-10</a:t>
            </a:r>
          </a:p>
        </p:txBody>
      </p:sp>
      <p:sp>
        <p:nvSpPr>
          <p:cNvPr id="170" name="Oval 13"/>
          <p:cNvSpPr/>
          <p:nvPr/>
        </p:nvSpPr>
        <p:spPr>
          <a:xfrm>
            <a:off x="2331720" y="4361688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1" name="TextBox 14"/>
          <p:cNvSpPr txBox="1"/>
          <p:nvPr/>
        </p:nvSpPr>
        <p:spPr>
          <a:xfrm>
            <a:off x="2743199" y="4306823"/>
            <a:ext cx="5508562" cy="841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defTabSz="402336">
              <a:defRPr b="1" sz="16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WbsFlow → MissionBoard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：任務導向重構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defTabSz="402336">
              <a:defRPr sz="1200">
                <a:solidFill>
                  <a:srgbClr val="55596A"/>
                </a:solidFill>
              </a:defRPr>
            </a:pPr>
            <a:r>
              <a:t>全新 </a:t>
            </a:r>
            <a:r>
              <a:rPr>
                <a:latin typeface="Arial"/>
                <a:ea typeface="Arial"/>
                <a:cs typeface="Arial"/>
                <a:sym typeface="Arial"/>
              </a:rPr>
              <a:t>repo </a:t>
            </a:r>
            <a:r>
              <a:t>合併兩者，發現「</a:t>
            </a:r>
            <a:r>
              <a:rPr>
                <a:latin typeface="Arial"/>
                <a:ea typeface="Arial"/>
                <a:cs typeface="Arial"/>
                <a:sym typeface="Arial"/>
              </a:rPr>
              <a:t>WBS </a:t>
            </a:r>
            <a:r>
              <a:t>節點即任務」行不通，拆掉節點模型改用任務導向</a:t>
            </a:r>
          </a:p>
        </p:txBody>
      </p:sp>
      <p:sp>
        <p:nvSpPr>
          <p:cNvPr id="172" name="TextBox 15"/>
          <p:cNvSpPr txBox="1"/>
          <p:nvPr/>
        </p:nvSpPr>
        <p:spPr>
          <a:xfrm>
            <a:off x="8447478" y="1783077"/>
            <a:ext cx="2845367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38 commits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・ </a:t>
            </a:r>
            <a:r>
              <a:t>6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 ・ </a:t>
            </a:r>
            <a:r>
              <a:t>0.9MB</a:t>
            </a:r>
          </a:p>
        </p:txBody>
      </p:sp>
      <p:sp>
        <p:nvSpPr>
          <p:cNvPr id="173" name="TextBox 16"/>
          <p:cNvSpPr txBox="1"/>
          <p:nvPr/>
        </p:nvSpPr>
        <p:spPr>
          <a:xfrm>
            <a:off x="8447478" y="2203080"/>
            <a:ext cx="2845367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11 </a:t>
            </a:r>
            <a:r>
              <a:t>天</a:t>
            </a:r>
          </a:p>
        </p:txBody>
      </p:sp>
      <p:sp>
        <p:nvSpPr>
          <p:cNvPr id="174" name="TextBox 17"/>
          <p:cNvSpPr txBox="1"/>
          <p:nvPr/>
        </p:nvSpPr>
        <p:spPr>
          <a:xfrm>
            <a:off x="8447478" y="2624327"/>
            <a:ext cx="2845367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97 commits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・ </a:t>
            </a:r>
            <a:r>
              <a:t>152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 ・ </a:t>
            </a:r>
            <a:r>
              <a:t>6.9MB</a:t>
            </a:r>
          </a:p>
        </p:txBody>
      </p:sp>
      <p:sp>
        <p:nvSpPr>
          <p:cNvPr id="175" name="TextBox 18"/>
          <p:cNvSpPr txBox="1"/>
          <p:nvPr/>
        </p:nvSpPr>
        <p:spPr>
          <a:xfrm>
            <a:off x="8447478" y="3044326"/>
            <a:ext cx="2845367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14 </a:t>
            </a:r>
            <a:r>
              <a:t>天</a:t>
            </a:r>
          </a:p>
        </p:txBody>
      </p:sp>
      <p:sp>
        <p:nvSpPr>
          <p:cNvPr id="176" name="TextBox 19"/>
          <p:cNvSpPr txBox="1"/>
          <p:nvPr/>
        </p:nvSpPr>
        <p:spPr>
          <a:xfrm>
            <a:off x="8447478" y="3465576"/>
            <a:ext cx="2845367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32 commits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・ </a:t>
            </a:r>
            <a:r>
              <a:t>115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 ・ </a:t>
            </a:r>
            <a:r>
              <a:t>2.0MB</a:t>
            </a:r>
          </a:p>
        </p:txBody>
      </p:sp>
      <p:sp>
        <p:nvSpPr>
          <p:cNvPr id="177" name="TextBox 20"/>
          <p:cNvSpPr txBox="1"/>
          <p:nvPr/>
        </p:nvSpPr>
        <p:spPr>
          <a:xfrm>
            <a:off x="8447478" y="3885576"/>
            <a:ext cx="2845367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5 </a:t>
            </a:r>
            <a:r>
              <a:t>天</a:t>
            </a:r>
          </a:p>
        </p:txBody>
      </p:sp>
      <p:sp>
        <p:nvSpPr>
          <p:cNvPr id="178" name="TextBox 21"/>
          <p:cNvSpPr txBox="1"/>
          <p:nvPr/>
        </p:nvSpPr>
        <p:spPr>
          <a:xfrm>
            <a:off x="8447478" y="4306823"/>
            <a:ext cx="2845367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73 commits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・ </a:t>
            </a:r>
            <a:r>
              <a:t>83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 ・ </a:t>
            </a:r>
            <a:r>
              <a:t>0.49MB</a:t>
            </a:r>
          </a:p>
        </p:txBody>
      </p:sp>
      <p:sp>
        <p:nvSpPr>
          <p:cNvPr id="179" name="TextBox 22"/>
          <p:cNvSpPr txBox="1"/>
          <p:nvPr/>
        </p:nvSpPr>
        <p:spPr>
          <a:xfrm>
            <a:off x="8447478" y="4726823"/>
            <a:ext cx="2845367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24 </a:t>
            </a:r>
            <a:r>
              <a:t>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各階段在做什麼</a:t>
            </a:r>
          </a:p>
        </p:txBody>
      </p:sp>
      <p:sp>
        <p:nvSpPr>
          <p:cNvPr id="18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同一套底子，換掉核心功能</a:t>
            </a:r>
          </a:p>
        </p:txBody>
      </p:sp>
      <p:sp>
        <p:nvSpPr>
          <p:cNvPr id="183" name="TextBox 3"/>
          <p:cNvSpPr txBox="1"/>
          <p:nvPr/>
        </p:nvSpPr>
        <p:spPr>
          <a:xfrm>
            <a:off x="731518" y="16916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WbsScaff → Spring-WbsScaff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：從一支單機 </a:t>
            </a:r>
            <a:r>
              <a:t>HTML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，變成大家連得上、資料存得住的系統</a:t>
            </a:r>
          </a:p>
          <a:p>
            <a:pPr>
              <a:spcBef>
                <a:spcPts val="1400"/>
              </a:spcBef>
              <a:defRPr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Spring-TaskFlow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：把看板做起來，也把開發流程順出來，後面要長新東西就快很多</a:t>
            </a:r>
          </a:p>
          <a:p>
            <a:pPr>
              <a:spcBef>
                <a:spcPts val="1400"/>
              </a:spcBef>
              <a:defRPr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WbsFlow → MissionBoard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：想把兩套的特色合在一起時卡住了，目標互相打架，乾脆重新確立方向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任務導向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第一代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WbsScaff</a:t>
            </a:r>
          </a:p>
        </p:txBody>
      </p:sp>
      <p:sp>
        <p:nvSpPr>
          <p:cNvPr id="186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600">
                <a:solidFill>
                  <a:srgbClr val="1C1F26"/>
                </a:solidFill>
              </a:defRPr>
            </a:pPr>
            <a:r>
              <a:t>一支打開就能用的 </a:t>
            </a:r>
            <a:r>
              <a:rPr>
                <a:latin typeface="Georgia"/>
                <a:ea typeface="Georgia"/>
                <a:cs typeface="Georgia"/>
                <a:sym typeface="Georgia"/>
              </a:rPr>
              <a:t>HTML </a:t>
            </a:r>
            <a:r>
              <a:t>檔</a:t>
            </a:r>
          </a:p>
        </p:txBody>
      </p:sp>
      <p:sp>
        <p:nvSpPr>
          <p:cNvPr id="187" name="TextBox 3"/>
          <p:cNvSpPr txBox="1"/>
          <p:nvPr/>
        </p:nvSpPr>
        <p:spPr>
          <a:xfrm>
            <a:off x="731516" y="1691638"/>
            <a:ext cx="2024689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2026-06-08 → 06-19</a:t>
            </a:r>
          </a:p>
        </p:txBody>
      </p:sp>
      <p:sp>
        <p:nvSpPr>
          <p:cNvPr id="188" name="TextBox 4"/>
          <p:cNvSpPr txBox="1"/>
          <p:nvPr/>
        </p:nvSpPr>
        <p:spPr>
          <a:xfrm>
            <a:off x="731518" y="21488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不用安裝、不用連網路，檔案傳給誰都能直接打開來用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用樹狀結構把工作拆項目，最多五層，雙擊就能改標題，也能直接拖曳搬位置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上層的完成狀態由下層自動算出來，不能手動亂填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這個設計後來每一代都留著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可以匯出入 </a:t>
            </a:r>
            <a:r>
              <a:t>Excel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／</a:t>
            </a:r>
            <a:r>
              <a:t>CSV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，銜接大家原本就在用的檔案流程</a:t>
            </a:r>
          </a:p>
        </p:txBody>
      </p:sp>
      <p:sp>
        <p:nvSpPr>
          <p:cNvPr id="189" name="Rectangle 5"/>
          <p:cNvSpPr/>
          <p:nvPr/>
        </p:nvSpPr>
        <p:spPr>
          <a:xfrm>
            <a:off x="594359" y="5560000"/>
            <a:ext cx="30007" cy="880000"/>
          </a:xfrm>
          <a:prstGeom prst="rect">
            <a:avLst/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0" name="TextBox 6"/>
          <p:cNvSpPr txBox="1"/>
          <p:nvPr/>
        </p:nvSpPr>
        <p:spPr>
          <a:xfrm>
            <a:off x="822959" y="5600000"/>
            <a:ext cx="10469882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55596A"/>
                </a:solidFill>
              </a:defRPr>
            </a:lvl1pPr>
          </a:lstStyle>
          <a:p>
            <a:pPr/>
            <a:r>
              <a:t>這一代還留著，現在也還可以直接打開來玩：</a:t>
            </a:r>
          </a:p>
        </p:txBody>
      </p:sp>
      <p:sp>
        <p:nvSpPr>
          <p:cNvPr id="191" name="TextBox 7"/>
          <p:cNvSpPr txBox="1"/>
          <p:nvPr/>
        </p:nvSpPr>
        <p:spPr>
          <a:xfrm>
            <a:off x="822959" y="5980000"/>
            <a:ext cx="10469882" cy="24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700">
                <a:solidFill>
                  <a:srgbClr val="1F6F6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https://lingaoscar.github.io/WbsScaff/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第一代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</a:t>
            </a:r>
            <a:r>
              <a:t>畫面</a:t>
            </a:r>
          </a:p>
        </p:txBody>
      </p:sp>
      <p:sp>
        <p:nvSpPr>
          <p:cNvPr id="194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WbsScaff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：離線 </a:t>
            </a:r>
            <a:r>
              <a:t>WBS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樹狀編輯器</a:t>
            </a:r>
          </a:p>
        </p:txBody>
      </p:sp>
      <p:sp>
        <p:nvSpPr>
          <p:cNvPr id="195" name="Rectangle 3"/>
          <p:cNvSpPr/>
          <p:nvPr/>
        </p:nvSpPr>
        <p:spPr>
          <a:xfrm>
            <a:off x="2728755" y="1911092"/>
            <a:ext cx="6734183" cy="424694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9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79516" y="1965960"/>
            <a:ext cx="6632662" cy="4145416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400">
                <a:solidFill>
                  <a:srgbClr val="55596A"/>
                </a:solidFill>
              </a:defRPr>
            </a:lvl1pPr>
          </a:lstStyle>
          <a:p>
            <a:pPr/>
            <a:r>
              <a:t>打開瀏覽器就是一支完整的工具，不用裝任何東西、不用連網路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第二代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Spring-WbsScaff</a:t>
            </a:r>
          </a:p>
        </p:txBody>
      </p:sp>
      <p:sp>
        <p:nvSpPr>
          <p:cNvPr id="200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搬上網路，變成大家一起用的系統</a:t>
            </a:r>
          </a:p>
        </p:txBody>
      </p:sp>
      <p:sp>
        <p:nvSpPr>
          <p:cNvPr id="201" name="TextBox 3"/>
          <p:cNvSpPr txBox="1"/>
          <p:nvPr/>
        </p:nvSpPr>
        <p:spPr>
          <a:xfrm>
            <a:off x="731516" y="1691638"/>
            <a:ext cx="2024689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2026-06-19 → 07-03</a:t>
            </a:r>
          </a:p>
        </p:txBody>
      </p:sp>
      <p:sp>
        <p:nvSpPr>
          <p:cNvPr id="202" name="TextBox 4"/>
          <p:cNvSpPr txBox="1"/>
          <p:nvPr/>
        </p:nvSpPr>
        <p:spPr>
          <a:xfrm>
            <a:off x="731518" y="21488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從「自己電腦上的小工具」變成「打開瀏覽器就能用、資料存在同一個地方」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加了登入，也把部門的界線做進去：不同科別看到的東西不一樣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多人同時編輯同一張表，別人改了什麼，畫面會即時跟著動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這一步是整條路上第一次真正的升級：從單機檔案變成有帳號、有資料庫的正式系統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第二代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</a:t>
            </a:r>
            <a:r>
              <a:t>畫面</a:t>
            </a:r>
          </a:p>
        </p:txBody>
      </p:sp>
      <p:sp>
        <p:nvSpPr>
          <p:cNvPr id="205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Spring-WbsScaff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：多人版 </a:t>
            </a:r>
            <a:r>
              <a:t>WBS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樹狀畫面</a:t>
            </a:r>
          </a:p>
        </p:txBody>
      </p:sp>
      <p:sp>
        <p:nvSpPr>
          <p:cNvPr id="206" name="Rectangle 3"/>
          <p:cNvSpPr/>
          <p:nvPr/>
        </p:nvSpPr>
        <p:spPr>
          <a:xfrm>
            <a:off x="4847894" y="1911092"/>
            <a:ext cx="2495907" cy="424694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20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98654" y="1965960"/>
            <a:ext cx="2394394" cy="4145416"/>
          </a:xfrm>
          <a:prstGeom prst="rect">
            <a:avLst/>
          </a:prstGeom>
          <a:ln w="12700">
            <a:miter lim="400000"/>
          </a:ln>
        </p:spPr>
      </p:pic>
      <p:sp>
        <p:nvSpPr>
          <p:cNvPr id="208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i="1" sz="1400">
                <a:solidFill>
                  <a:srgbClr val="55596A"/>
                </a:solidFill>
              </a:defRPr>
            </a:pPr>
            <a:r>
              <a:t>節點內容改得比較貼近真實場景：主機申請、防火牆開通、資安檢核</a:t>
            </a:r>
            <a:r>
              <a:rPr>
                <a:latin typeface="Arial"/>
                <a:ea typeface="Arial"/>
                <a:cs typeface="Arial"/>
                <a:sym typeface="Arial"/>
              </a:rPr>
              <a:t>……</a:t>
            </a:r>
            <a:r>
              <a:t>都是實際會遇到的項目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第三代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Spring-TaskFlow</a:t>
            </a:r>
          </a:p>
        </p:txBody>
      </p:sp>
      <p:sp>
        <p:nvSpPr>
          <p:cNvPr id="211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把樹狀改成看板，用拖的就好</a:t>
            </a:r>
          </a:p>
        </p:txBody>
      </p:sp>
      <p:sp>
        <p:nvSpPr>
          <p:cNvPr id="212" name="TextBox 3"/>
          <p:cNvSpPr txBox="1"/>
          <p:nvPr/>
        </p:nvSpPr>
        <p:spPr>
          <a:xfrm>
            <a:off x="731516" y="1691638"/>
            <a:ext cx="2024689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2026-07-03 → 07-08</a:t>
            </a:r>
          </a:p>
        </p:txBody>
      </p:sp>
      <p:sp>
        <p:nvSpPr>
          <p:cNvPr id="213" name="TextBox 4"/>
          <p:cNvSpPr txBox="1"/>
          <p:nvPr/>
        </p:nvSpPr>
        <p:spPr>
          <a:xfrm>
            <a:off x="731518" y="21488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畫面換成待辦／進行中／完成三欄，工作變成一張張卡片，用拖的改狀態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卡片可以指派給人、設優先度跟日期，一眼看得出誰手上有什麼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登入、部門權限、頁面外框直接沿用上一代，省下重新驗證的時間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做完這一步，手上同時有「樹」跟「看板」兩套東西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也就是後面想合併的起因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第三代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</a:t>
            </a:r>
            <a:r>
              <a:t>畫面</a:t>
            </a:r>
          </a:p>
        </p:txBody>
      </p:sp>
      <p:sp>
        <p:nvSpPr>
          <p:cNvPr id="216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Spring-TaskFlow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：待辦／進行中／完成三欄看板</a:t>
            </a:r>
          </a:p>
        </p:txBody>
      </p:sp>
      <p:sp>
        <p:nvSpPr>
          <p:cNvPr id="217" name="Rectangle 3"/>
          <p:cNvSpPr/>
          <p:nvPr/>
        </p:nvSpPr>
        <p:spPr>
          <a:xfrm>
            <a:off x="3031664" y="1911092"/>
            <a:ext cx="6128365" cy="424694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21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082430" y="1965960"/>
            <a:ext cx="6026835" cy="4145416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400">
                <a:solidFill>
                  <a:srgbClr val="55596A"/>
                </a:solidFill>
              </a:defRPr>
            </a:lvl1pPr>
          </a:lstStyle>
          <a:p>
            <a:pPr/>
            <a:r>
              <a:t>從「一棵樹」變成「三個欄位＋卡片」，這個視覺轉變後來變成最終系統的核心體驗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為什麼要重構</a:t>
            </a:r>
          </a:p>
        </p:txBody>
      </p:sp>
      <p:sp>
        <p:nvSpPr>
          <p:cNvPr id="22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兩個都好用的功能，合在一起卻打架</a:t>
            </a:r>
          </a:p>
        </p:txBody>
      </p:sp>
      <p:sp>
        <p:nvSpPr>
          <p:cNvPr id="223" name="TextBox 3"/>
          <p:cNvSpPr txBox="1"/>
          <p:nvPr/>
        </p:nvSpPr>
        <p:spPr>
          <a:xfrm>
            <a:off x="731515" y="1691638"/>
            <a:ext cx="3660137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</a:defRPr>
            </a:lvl1pPr>
          </a:lstStyle>
          <a:p>
            <a:pPr/>
            <a:r>
              <a:t>不是技術寫不出來，是介面跟使用體驗卡住了</a:t>
            </a:r>
          </a:p>
        </p:txBody>
      </p:sp>
      <p:sp>
        <p:nvSpPr>
          <p:cNvPr id="224" name="TextBox 4"/>
          <p:cNvSpPr txBox="1"/>
          <p:nvPr/>
        </p:nvSpPr>
        <p:spPr>
          <a:xfrm>
            <a:off x="731518" y="2148838"/>
            <a:ext cx="10515604" cy="1901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WbsScaff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／</a:t>
            </a:r>
            <a:r>
              <a:t>Spring-WbsScaff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做得好的是樹狀規劃：一層層拆解工作項目</a:t>
            </a:r>
          </a:p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Spring-TaskFlow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做得好的是看板指派：建一張卡片就能動手，不用先想清楚屬於哪一層</a:t>
            </a:r>
          </a:p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WbsFlow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決定「</a:t>
            </a:r>
            <a:r>
              <a:t>WBS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節點即任務」把兩者合併，結果變成要先把骨架搭好，才能建立可指派的任務，兩種用法卡在一起</a:t>
            </a:r>
          </a:p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使用者實際要的其實是先建任務、事後再歸類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所以拆掉樹狀階層，任務改成天生獨立，這就是任務導向重構</a:t>
            </a:r>
          </a:p>
        </p:txBody>
      </p:sp>
      <p:pic>
        <p:nvPicPr>
          <p:cNvPr id="225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79321" y="4150000"/>
            <a:ext cx="1212965" cy="2100007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" name="Picture 6" descr="Picture 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12840" y="4150000"/>
            <a:ext cx="3360007" cy="2100007"/>
          </a:xfrm>
          <a:prstGeom prst="rect">
            <a:avLst/>
          </a:prstGeom>
          <a:ln w="12700">
            <a:miter lim="400000"/>
          </a:ln>
        </p:spPr>
      </p:pic>
      <p:sp>
        <p:nvSpPr>
          <p:cNvPr id="227" name="Right Arrow 7"/>
          <p:cNvSpPr/>
          <p:nvPr/>
        </p:nvSpPr>
        <p:spPr>
          <a:xfrm>
            <a:off x="5785799" y="5074999"/>
            <a:ext cx="400007" cy="250007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8" name="TextBox 8"/>
          <p:cNvSpPr txBox="1"/>
          <p:nvPr/>
        </p:nvSpPr>
        <p:spPr>
          <a:xfrm>
            <a:off x="685793" y="6349998"/>
            <a:ext cx="500001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1300">
                <a:solidFill>
                  <a:srgbClr val="55596A"/>
                </a:solidFill>
              </a:defRPr>
            </a:pPr>
            <a:r>
              <a:t>之前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WBS </a:t>
            </a:r>
            <a:r>
              <a:t>樹狀規劃</a:t>
            </a:r>
          </a:p>
        </p:txBody>
      </p:sp>
      <p:sp>
        <p:nvSpPr>
          <p:cNvPr id="229" name="TextBox 9"/>
          <p:cNvSpPr txBox="1"/>
          <p:nvPr/>
        </p:nvSpPr>
        <p:spPr>
          <a:xfrm>
            <a:off x="6292839" y="6349998"/>
            <a:ext cx="50000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1300">
                <a:solidFill>
                  <a:srgbClr val="55596A"/>
                </a:solidFill>
              </a:defRPr>
            </a:pPr>
            <a:r>
              <a:t>現在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</a:t>
            </a:r>
            <a:r>
              <a:t>任務導向看板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我怎麼用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AI</a:t>
            </a:r>
          </a:p>
        </p:txBody>
      </p:sp>
      <p:sp>
        <p:nvSpPr>
          <p:cNvPr id="23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實際的做法，講給有興趣的同仁參考</a:t>
            </a:r>
          </a:p>
        </p:txBody>
      </p:sp>
      <p:sp>
        <p:nvSpPr>
          <p:cNvPr id="233" name="TextBox 3"/>
          <p:cNvSpPr txBox="1"/>
          <p:nvPr/>
        </p:nvSpPr>
        <p:spPr>
          <a:xfrm>
            <a:off x="731518" y="16916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動手前，我會先讓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把舊專案的程式碼讀過一遍，比我自己憑印象猜準很多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一個任務開一個新對話，不讓前面累積的雜訊影響判斷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寫的跟審的分開：同一段東西，我另外開一個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來挑毛病，不讓它自己審自己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簡單的抄寫用便宜快的，需要判斷的才換強的，額度留給真的難的地方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進度另外記一份檔案，對話斷掉重開，看記錄就能接著做</a:t>
            </a:r>
          </a:p>
        </p:txBody>
      </p:sp>
      <p:sp>
        <p:nvSpPr>
          <p:cNvPr id="234" name="Rectangle 4"/>
          <p:cNvSpPr/>
          <p:nvPr/>
        </p:nvSpPr>
        <p:spPr>
          <a:xfrm>
            <a:off x="594359" y="4846320"/>
            <a:ext cx="30007" cy="1280167"/>
          </a:xfrm>
          <a:prstGeom prst="rect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5" name="TextBox 5"/>
          <p:cNvSpPr txBox="1"/>
          <p:nvPr/>
        </p:nvSpPr>
        <p:spPr>
          <a:xfrm>
            <a:off x="868677" y="4846320"/>
            <a:ext cx="10149845" cy="1371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700">
                <a:solidFill>
                  <a:srgbClr val="1C1F26"/>
                </a:solidFill>
              </a:defRPr>
            </a:lvl1pPr>
          </a:lstStyle>
          <a:p>
            <a:pPr/>
            <a:r>
              <a:t>「不讓它自己審自己」這條，後來救回過好幾次差點出包的東西。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踩過的坑</a:t>
            </a:r>
          </a:p>
        </p:txBody>
      </p:sp>
      <p:sp>
        <p:nvSpPr>
          <p:cNvPr id="238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1C1F26"/>
                </a:solidFill>
              </a:defRPr>
            </a:lvl1pPr>
          </a:lstStyle>
          <a:p>
            <a:pPr/>
            <a:r>
              <a:t>它說沒問題，實際不一定</a:t>
            </a:r>
          </a:p>
        </p:txBody>
      </p:sp>
      <p:sp>
        <p:nvSpPr>
          <p:cNvPr id="239" name="TextBox 3"/>
          <p:cNvSpPr txBox="1"/>
          <p:nvPr/>
        </p:nvSpPr>
        <p:spPr>
          <a:xfrm>
            <a:off x="731518" y="1691637"/>
            <a:ext cx="10515604" cy="1463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後來養成習慣：可疑的結論不聽解釋，直接要求重現一次給我看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兩個印象比較深的例子：</a:t>
            </a:r>
          </a:p>
        </p:txBody>
      </p:sp>
      <p:grpSp>
        <p:nvGrpSpPr>
          <p:cNvPr id="242" name="Rounded Rectangle 4"/>
          <p:cNvGrpSpPr/>
          <p:nvPr/>
        </p:nvGrpSpPr>
        <p:grpSpPr>
          <a:xfrm>
            <a:off x="685793" y="3246117"/>
            <a:ext cx="5120657" cy="2834655"/>
            <a:chOff x="0" y="0"/>
            <a:chExt cx="5120656" cy="2834653"/>
          </a:xfrm>
        </p:grpSpPr>
        <p:sp>
          <p:nvSpPr>
            <p:cNvPr id="240" name="圓角矩形"/>
            <p:cNvSpPr/>
            <p:nvPr/>
          </p:nvSpPr>
          <p:spPr>
            <a:xfrm>
              <a:off x="-1" y="-1"/>
              <a:ext cx="5120657" cy="2834654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2700" cap="flat">
              <a:solidFill>
                <a:srgbClr val="D9D7CB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spcBef>
                  <a:spcPts val="8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41" name="例子一 · 白忙一場…"/>
            <p:cNvSpPr txBox="1"/>
            <p:nvPr/>
          </p:nvSpPr>
          <p:spPr>
            <a:xfrm>
              <a:off x="85278" y="39559"/>
              <a:ext cx="4950095" cy="27555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82879" tIns="182879" rIns="182879" bIns="182879" numCol="1" anchor="ctr">
              <a:normAutofit fontScale="100000" lnSpcReduction="0"/>
            </a:bodyPr>
            <a:lstStyle/>
            <a:p>
              <a:pPr algn="ctr">
                <a:defRPr b="1" sz="1100">
                  <a:solidFill>
                    <a:srgbClr val="AB4030"/>
                  </a:solidFill>
                </a:defRPr>
              </a:pPr>
              <a:r>
                <a:t>例子一 </a:t>
              </a:r>
              <a:r>
                <a:rPr>
                  <a:latin typeface="Courier New"/>
                  <a:ea typeface="Courier New"/>
                  <a:cs typeface="Courier New"/>
                  <a:sym typeface="Courier New"/>
                </a:rPr>
                <a:t>· </a:t>
              </a:r>
              <a:r>
                <a:t>白忙一場</a:t>
              </a:r>
              <a:endParaRPr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>
                <a:spcBef>
                  <a:spcPts val="600"/>
                </a:spcBef>
                <a:defRPr sz="1400">
                  <a:solidFill>
                    <a:srgbClr val="1C1F26"/>
                  </a:solidFill>
                </a:defRPr>
              </a:pPr>
              <a:r>
                <a:t>測試工具一直回報「拖曳成功」，但畫面根本沒動。換一個完全無關的按鈕試，一樣沒反應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800"/>
                </a:spcBef>
                <a:defRPr i="1" sz="1200">
                  <a:solidFill>
                    <a:srgbClr val="55596A"/>
                  </a:solidFill>
                </a:defRPr>
              </a:pPr>
              <a:r>
                <a:t>才確定是工具本身在我這台電腦有問題，程式碼是好的</a:t>
              </a:r>
            </a:p>
          </p:txBody>
        </p:sp>
      </p:grpSp>
      <p:grpSp>
        <p:nvGrpSpPr>
          <p:cNvPr id="245" name="Rounded Rectangle 5"/>
          <p:cNvGrpSpPr/>
          <p:nvPr/>
        </p:nvGrpSpPr>
        <p:grpSpPr>
          <a:xfrm>
            <a:off x="6035033" y="3246117"/>
            <a:ext cx="5394974" cy="2834655"/>
            <a:chOff x="-1" y="0"/>
            <a:chExt cx="5394972" cy="2834653"/>
          </a:xfrm>
        </p:grpSpPr>
        <p:sp>
          <p:nvSpPr>
            <p:cNvPr id="243" name="圓角矩形"/>
            <p:cNvSpPr/>
            <p:nvPr/>
          </p:nvSpPr>
          <p:spPr>
            <a:xfrm>
              <a:off x="-2" y="-1"/>
              <a:ext cx="5394974" cy="2834654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2700" cap="flat">
              <a:solidFill>
                <a:srgbClr val="D9D7CB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spcBef>
                  <a:spcPts val="8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44" name="例子二 · 分開看都對，合起來錯…"/>
            <p:cNvSpPr txBox="1"/>
            <p:nvPr/>
          </p:nvSpPr>
          <p:spPr>
            <a:xfrm>
              <a:off x="85276" y="39559"/>
              <a:ext cx="5224416" cy="27555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82879" tIns="182879" rIns="182879" bIns="182879" numCol="1" anchor="ctr">
              <a:normAutofit fontScale="100000" lnSpcReduction="0"/>
            </a:bodyPr>
            <a:lstStyle/>
            <a:p>
              <a:pPr algn="ctr">
                <a:defRPr b="1" sz="1100">
                  <a:solidFill>
                    <a:srgbClr val="B3791F"/>
                  </a:solidFill>
                </a:defRPr>
              </a:pPr>
              <a:r>
                <a:t>例子二 </a:t>
              </a:r>
              <a:r>
                <a:rPr>
                  <a:latin typeface="Courier New"/>
                  <a:ea typeface="Courier New"/>
                  <a:cs typeface="Courier New"/>
                  <a:sym typeface="Courier New"/>
                </a:rPr>
                <a:t>· </a:t>
              </a:r>
              <a:r>
                <a:t>分開看都對，合起來錯</a:t>
              </a:r>
              <a:endParaRPr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>
                <a:spcBef>
                  <a:spcPts val="600"/>
                </a:spcBef>
                <a:defRPr sz="1400">
                  <a:solidFill>
                    <a:srgbClr val="1C1F26"/>
                  </a:solidFill>
                </a:defRPr>
              </a:pPr>
              <a:r>
                <a:t>最後整體檢查時，一格一格推演拖曳的順序，才抓到「同一欄往下拖會多跳一格」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800"/>
                </a:spcBef>
                <a:defRPr i="1" sz="1200">
                  <a:solidFill>
                    <a:srgbClr val="55596A"/>
                  </a:solidFill>
                </a:defRPr>
              </a:pPr>
              <a:r>
                <a:t>這種問題要前後端一起看，拆開來單獨檢查怎麼看都是對的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真實對話紀錄 · 例子一</a:t>
            </a:r>
          </a:p>
        </p:txBody>
      </p:sp>
      <p:sp>
        <p:nvSpPr>
          <p:cNvPr id="248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一句模糊指令，兩條互斥的路線</a:t>
            </a:r>
          </a:p>
        </p:txBody>
      </p:sp>
      <p:sp>
        <p:nvSpPr>
          <p:cNvPr id="249" name="TextBox 3"/>
          <p:cNvSpPr txBox="1"/>
          <p:nvPr/>
        </p:nvSpPr>
        <p:spPr>
          <a:xfrm>
            <a:off x="731518" y="1691636"/>
            <a:ext cx="10515604" cy="4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 defTabSz="397763">
              <a:spcBef>
                <a:spcPts val="1200"/>
              </a:spcBef>
              <a:defRPr sz="174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任務導向重構開工前，我沒有直接動手，先把分岔路口攤開來問</a:t>
            </a:r>
          </a:p>
        </p:txBody>
      </p:sp>
      <p:grpSp>
        <p:nvGrpSpPr>
          <p:cNvPr id="252" name="Rounded Rectangle 249"/>
          <p:cNvGrpSpPr/>
          <p:nvPr/>
        </p:nvGrpSpPr>
        <p:grpSpPr>
          <a:xfrm>
            <a:off x="731517" y="2149999"/>
            <a:ext cx="10515601" cy="672120"/>
            <a:chOff x="0" y="0"/>
            <a:chExt cx="10515600" cy="672118"/>
          </a:xfrm>
        </p:grpSpPr>
        <p:sp>
          <p:nvSpPr>
            <p:cNvPr id="250" name="圓角矩形"/>
            <p:cNvSpPr/>
            <p:nvPr/>
          </p:nvSpPr>
          <p:spPr>
            <a:xfrm>
              <a:off x="0" y="0"/>
              <a:ext cx="10515600" cy="650001"/>
            </a:xfrm>
            <a:prstGeom prst="roundRect">
              <a:avLst>
                <a:gd name="adj" fmla="val 5000"/>
              </a:avLst>
            </a:prstGeom>
            <a:solidFill>
              <a:srgbClr val="F2F3F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1" name="你…"/>
            <p:cNvSpPr txBox="1"/>
            <p:nvPr/>
          </p:nvSpPr>
          <p:spPr>
            <a:xfrm>
              <a:off x="99518" y="9518"/>
              <a:ext cx="10316564" cy="66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55596A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你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1C1F26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「請繼續完成系統建制」</a:t>
              </a:r>
            </a:p>
          </p:txBody>
        </p:sp>
      </p:grpSp>
      <p:grpSp>
        <p:nvGrpSpPr>
          <p:cNvPr id="255" name="Rounded Rectangle 250"/>
          <p:cNvGrpSpPr/>
          <p:nvPr/>
        </p:nvGrpSpPr>
        <p:grpSpPr>
          <a:xfrm>
            <a:off x="731517" y="2949999"/>
            <a:ext cx="10515601" cy="2350001"/>
            <a:chOff x="0" y="0"/>
            <a:chExt cx="10515600" cy="2349999"/>
          </a:xfrm>
        </p:grpSpPr>
        <p:sp>
          <p:nvSpPr>
            <p:cNvPr id="253" name="圓角矩形"/>
            <p:cNvSpPr/>
            <p:nvPr/>
          </p:nvSpPr>
          <p:spPr>
            <a:xfrm>
              <a:off x="0" y="0"/>
              <a:ext cx="10515600" cy="2350000"/>
            </a:xfrm>
            <a:prstGeom prst="roundRect">
              <a:avLst>
                <a:gd name="adj" fmla="val 5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4" name="我…"/>
            <p:cNvSpPr txBox="1"/>
            <p:nvPr/>
          </p:nvSpPr>
          <p:spPr>
            <a:xfrm>
              <a:off x="124414" y="34414"/>
              <a:ext cx="10266772" cy="12976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我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「繼續完成系統建制」指的是哪個方向？兩者路線互斥（重構會移除現有樹編輯器）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①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執行任務導向重構（推薦）</a:t>
              </a:r>
              <a:r>
                <a:t>—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看板變預設首頁，移除舊三分頁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②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在現有 </a:t>
              </a:r>
              <a:r>
                <a:t>WBS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樹模型上補完 </a:t>
              </a:r>
              <a:r>
                <a:t>—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樹狀模型不變，把佔位符分頁做出來</a:t>
              </a:r>
            </a:p>
          </p:txBody>
        </p:sp>
      </p:grpSp>
      <p:sp>
        <p:nvSpPr>
          <p:cNvPr id="256" name="TextBox 251"/>
          <p:cNvSpPr txBox="1"/>
          <p:nvPr/>
        </p:nvSpPr>
        <p:spPr>
          <a:xfrm>
            <a:off x="731517" y="5499999"/>
            <a:ext cx="105156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4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>
                <a:latin typeface="+mj-lt"/>
                <a:ea typeface="+mj-ea"/>
                <a:cs typeface="+mj-cs"/>
                <a:sym typeface="Calibri"/>
              </a:rPr>
              <a:t>結果： 選了</a:t>
            </a:r>
            <a:r>
              <a:t>①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，後續做出 </a:t>
            </a:r>
            <a:r>
              <a:t>11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個任務、</a:t>
            </a:r>
            <a:r>
              <a:t>73 commits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，</a:t>
            </a:r>
            <a:r>
              <a:t>104/104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測試通過，才有現在的 </a:t>
            </a:r>
            <a:r>
              <a:t>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真實對話紀錄 · 例子二</a:t>
            </a:r>
          </a:p>
        </p:txBody>
      </p:sp>
      <p:sp>
        <p:nvSpPr>
          <p:cNvPr id="259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獨立審查，抓到單一任務看不出來的問題</a:t>
            </a:r>
          </a:p>
        </p:txBody>
      </p:sp>
      <p:sp>
        <p:nvSpPr>
          <p:cNvPr id="260" name="TextBox 3"/>
          <p:cNvSpPr txBox="1"/>
          <p:nvPr/>
        </p:nvSpPr>
        <p:spPr>
          <a:xfrm>
            <a:off x="731518" y="1691636"/>
            <a:ext cx="10515604" cy="4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 defTabSz="397763">
              <a:spcBef>
                <a:spcPts val="1200"/>
              </a:spcBef>
              <a:defRPr sz="174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11 個任務都各自過關後，另一顆最強模型做最終總體檢查</a:t>
            </a:r>
          </a:p>
        </p:txBody>
      </p:sp>
      <p:grpSp>
        <p:nvGrpSpPr>
          <p:cNvPr id="263" name="Rounded Rectangle 249"/>
          <p:cNvGrpSpPr/>
          <p:nvPr/>
        </p:nvGrpSpPr>
        <p:grpSpPr>
          <a:xfrm>
            <a:off x="731517" y="2149999"/>
            <a:ext cx="10515601" cy="672120"/>
            <a:chOff x="0" y="0"/>
            <a:chExt cx="10515600" cy="672118"/>
          </a:xfrm>
        </p:grpSpPr>
        <p:sp>
          <p:nvSpPr>
            <p:cNvPr id="261" name="圓角矩形"/>
            <p:cNvSpPr/>
            <p:nvPr/>
          </p:nvSpPr>
          <p:spPr>
            <a:xfrm>
              <a:off x="0" y="0"/>
              <a:ext cx="10515600" cy="650001"/>
            </a:xfrm>
            <a:prstGeom prst="roundRect">
              <a:avLst>
                <a:gd name="adj" fmla="val 5000"/>
              </a:avLst>
            </a:prstGeom>
            <a:solidFill>
              <a:srgbClr val="F2F3F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2" name="你…"/>
            <p:cNvSpPr txBox="1"/>
            <p:nvPr/>
          </p:nvSpPr>
          <p:spPr>
            <a:xfrm>
              <a:off x="99518" y="9518"/>
              <a:ext cx="10316564" cy="66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55596A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你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1C1F26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「（</a:t>
              </a:r>
              <a:r>
                <a:t>11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個任務全數完成、各自審查通過後，啟動最終總體檢查）」</a:t>
              </a:r>
            </a:p>
          </p:txBody>
        </p:sp>
      </p:grpSp>
      <p:grpSp>
        <p:nvGrpSpPr>
          <p:cNvPr id="266" name="Rounded Rectangle 250"/>
          <p:cNvGrpSpPr/>
          <p:nvPr/>
        </p:nvGrpSpPr>
        <p:grpSpPr>
          <a:xfrm>
            <a:off x="731517" y="2949999"/>
            <a:ext cx="10515601" cy="2350001"/>
            <a:chOff x="0" y="0"/>
            <a:chExt cx="10515600" cy="2349999"/>
          </a:xfrm>
        </p:grpSpPr>
        <p:sp>
          <p:nvSpPr>
            <p:cNvPr id="264" name="圓角矩形"/>
            <p:cNvSpPr/>
            <p:nvPr/>
          </p:nvSpPr>
          <p:spPr>
            <a:xfrm>
              <a:off x="0" y="0"/>
              <a:ext cx="10515600" cy="2350000"/>
            </a:xfrm>
            <a:prstGeom prst="roundRect">
              <a:avLst>
                <a:gd name="adj" fmla="val 5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我…"/>
            <p:cNvSpPr txBox="1"/>
            <p:nvPr/>
          </p:nvSpPr>
          <p:spPr>
            <a:xfrm>
              <a:off x="124414" y="34414"/>
              <a:ext cx="10266772" cy="12313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我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Final review: no Critical findings, 3 Important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（都是文件／測試缺口）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額外納入修正：</a:t>
              </a:r>
              <a:r>
                <a:t>project-detail.js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同欄向下拖曳有 </a:t>
              </a:r>
              <a:r>
                <a:t>off-by-one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（插入位置差一格）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派一個統整 </a:t>
              </a:r>
              <a:r>
                <a:t>fix wave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處理全部發現，不是一個發現派一個 </a:t>
              </a:r>
              <a:r>
                <a:t>fixer</a:t>
              </a:r>
            </a:p>
          </p:txBody>
        </p:sp>
      </p:grpSp>
      <p:sp>
        <p:nvSpPr>
          <p:cNvPr id="267" name="TextBox 251"/>
          <p:cNvSpPr txBox="1"/>
          <p:nvPr/>
        </p:nvSpPr>
        <p:spPr>
          <a:xfrm>
            <a:off x="731517" y="5499999"/>
            <a:ext cx="105156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4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>
                <a:latin typeface="+mj-lt"/>
                <a:ea typeface="+mj-ea"/>
                <a:cs typeface="+mj-cs"/>
                <a:sym typeface="Calibri"/>
              </a:rPr>
              <a:t>結果： </a:t>
            </a:r>
            <a:r>
              <a:t>8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個發現全部修復，複查乾淨，</a:t>
            </a:r>
            <a:r>
              <a:t>104/104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測試通過才 </a:t>
            </a:r>
            <a:r>
              <a:t>commit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我自己設的規矩</a:t>
            </a:r>
          </a:p>
        </p:txBody>
      </p:sp>
      <p:sp>
        <p:nvSpPr>
          <p:cNvPr id="270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怎麼確認做出來的東西真的能用</a:t>
            </a:r>
          </a:p>
        </p:txBody>
      </p:sp>
      <p:sp>
        <p:nvSpPr>
          <p:cNvPr id="271" name="TextBox 3"/>
          <p:cNvSpPr txBox="1"/>
          <p:nvPr/>
        </p:nvSpPr>
        <p:spPr>
          <a:xfrm>
            <a:off x="731518" y="16916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有畫面的功能，一定要截圖給我看，不接受只說「已完成」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要推上遠端，一律要我親自點頭才行，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不能自己決定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測試沒過就是還沒做完，沒有例外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開發流程</a:t>
            </a:r>
          </a:p>
        </p:txBody>
      </p:sp>
      <p:sp>
        <p:nvSpPr>
          <p:cNvPr id="274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每個功能都走一樣的四步驟</a:t>
            </a:r>
          </a:p>
        </p:txBody>
      </p:sp>
      <p:sp>
        <p:nvSpPr>
          <p:cNvPr id="275" name="TextBox 3"/>
          <p:cNvSpPr txBox="1"/>
          <p:nvPr/>
        </p:nvSpPr>
        <p:spPr>
          <a:xfrm>
            <a:off x="731518" y="1691637"/>
            <a:ext cx="10515604" cy="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—  不只寫程式，分析、測試、文件也是流程裡固定要做的一步，不是事後才想到</a:t>
            </a:r>
          </a:p>
        </p:txBody>
      </p:sp>
      <p:grpSp>
        <p:nvGrpSpPr>
          <p:cNvPr id="278" name="Rounded Rectangle 249"/>
          <p:cNvGrpSpPr/>
          <p:nvPr/>
        </p:nvGrpSpPr>
        <p:grpSpPr>
          <a:xfrm>
            <a:off x="731516" y="2450000"/>
            <a:ext cx="2350003" cy="1750002"/>
            <a:chOff x="0" y="0"/>
            <a:chExt cx="2350001" cy="1750001"/>
          </a:xfrm>
        </p:grpSpPr>
        <p:sp>
          <p:nvSpPr>
            <p:cNvPr id="276" name="圓角矩形"/>
            <p:cNvSpPr/>
            <p:nvPr/>
          </p:nvSpPr>
          <p:spPr>
            <a:xfrm>
              <a:off x="0" y="0"/>
              <a:ext cx="2350002" cy="1750002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77" name="分析…"/>
            <p:cNvSpPr txBox="1"/>
            <p:nvPr/>
          </p:nvSpPr>
          <p:spPr>
            <a:xfrm>
              <a:off x="60752" y="262549"/>
              <a:ext cx="2228498" cy="1224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分析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先討論清楚問題、寫成規格，確認過才動工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對應：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brainstorming</a:t>
              </a:r>
            </a:p>
          </p:txBody>
        </p:sp>
      </p:grpSp>
      <p:sp>
        <p:nvSpPr>
          <p:cNvPr id="279" name="Right Arrow 250"/>
          <p:cNvSpPr/>
          <p:nvPr/>
        </p:nvSpPr>
        <p:spPr>
          <a:xfrm>
            <a:off x="3081516" y="3225000"/>
            <a:ext cx="300002" cy="20000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96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282" name="Rounded Rectangle 251"/>
          <p:cNvGrpSpPr/>
          <p:nvPr/>
        </p:nvGrpSpPr>
        <p:grpSpPr>
          <a:xfrm>
            <a:off x="3381518" y="2450000"/>
            <a:ext cx="2350001" cy="1750002"/>
            <a:chOff x="0" y="0"/>
            <a:chExt cx="2350000" cy="1750001"/>
          </a:xfrm>
        </p:grpSpPr>
        <p:sp>
          <p:nvSpPr>
            <p:cNvPr id="280" name="圓角矩形"/>
            <p:cNvSpPr/>
            <p:nvPr/>
          </p:nvSpPr>
          <p:spPr>
            <a:xfrm>
              <a:off x="0" y="0"/>
              <a:ext cx="2350001" cy="1750002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81" name="開發…"/>
            <p:cNvSpPr txBox="1"/>
            <p:nvPr/>
          </p:nvSpPr>
          <p:spPr>
            <a:xfrm>
              <a:off x="60752" y="262549"/>
              <a:ext cx="2228497" cy="1224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開發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先寫一個會失敗的測試，測試失敗了才開始寫功能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對應：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TDD</a:t>
              </a:r>
            </a:p>
          </p:txBody>
        </p:sp>
      </p:grpSp>
      <p:sp>
        <p:nvSpPr>
          <p:cNvPr id="283" name="Right Arrow 252"/>
          <p:cNvSpPr/>
          <p:nvPr/>
        </p:nvSpPr>
        <p:spPr>
          <a:xfrm>
            <a:off x="5731516" y="3225000"/>
            <a:ext cx="300002" cy="20000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96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286" name="Rounded Rectangle 253"/>
          <p:cNvGrpSpPr/>
          <p:nvPr/>
        </p:nvGrpSpPr>
        <p:grpSpPr>
          <a:xfrm>
            <a:off x="6031517" y="2450000"/>
            <a:ext cx="2350003" cy="1750002"/>
            <a:chOff x="0" y="0"/>
            <a:chExt cx="2350001" cy="1750001"/>
          </a:xfrm>
        </p:grpSpPr>
        <p:sp>
          <p:nvSpPr>
            <p:cNvPr id="284" name="圓角矩形"/>
            <p:cNvSpPr/>
            <p:nvPr/>
          </p:nvSpPr>
          <p:spPr>
            <a:xfrm>
              <a:off x="0" y="0"/>
              <a:ext cx="2350002" cy="1750002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85" name="測試…"/>
            <p:cNvSpPr txBox="1"/>
            <p:nvPr/>
          </p:nvSpPr>
          <p:spPr>
            <a:xfrm>
              <a:off x="60752" y="262549"/>
              <a:ext cx="2228498" cy="1224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測試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測試要通過，也要實際在瀏覽器操作過一次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對應：驗證紀律</a:t>
              </a:r>
            </a:p>
          </p:txBody>
        </p:sp>
      </p:grpSp>
      <p:sp>
        <p:nvSpPr>
          <p:cNvPr id="287" name="Right Arrow 254"/>
          <p:cNvSpPr/>
          <p:nvPr/>
        </p:nvSpPr>
        <p:spPr>
          <a:xfrm>
            <a:off x="8381517" y="3225000"/>
            <a:ext cx="300002" cy="20000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96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290" name="Rounded Rectangle 255"/>
          <p:cNvGrpSpPr/>
          <p:nvPr/>
        </p:nvGrpSpPr>
        <p:grpSpPr>
          <a:xfrm>
            <a:off x="8681518" y="2450000"/>
            <a:ext cx="2350003" cy="1750002"/>
            <a:chOff x="0" y="0"/>
            <a:chExt cx="2350001" cy="1750001"/>
          </a:xfrm>
        </p:grpSpPr>
        <p:sp>
          <p:nvSpPr>
            <p:cNvPr id="288" name="圓角矩形"/>
            <p:cNvSpPr/>
            <p:nvPr/>
          </p:nvSpPr>
          <p:spPr>
            <a:xfrm>
              <a:off x="0" y="0"/>
              <a:ext cx="2350002" cy="1750002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89" name="文件產出…"/>
            <p:cNvSpPr txBox="1"/>
            <p:nvPr/>
          </p:nvSpPr>
          <p:spPr>
            <a:xfrm>
              <a:off x="60752" y="260264"/>
              <a:ext cx="2228498" cy="12294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文件產出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README</a:t>
              </a:r>
              <a:r>
                <a:rPr>
                  <a:latin typeface="+mj-lt"/>
                  <a:ea typeface="+mj-ea"/>
                  <a:cs typeface="+mj-cs"/>
                  <a:sym typeface="Calibri"/>
                </a:rPr>
                <a:t>、開發文件跟著同步更新，接手的人看得懂</a:t>
              </a: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對應：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/sync-docs</a:t>
              </a:r>
            </a:p>
          </p:txBody>
        </p:sp>
      </p:grpSp>
      <p:sp>
        <p:nvSpPr>
          <p:cNvPr id="291" name="TextBox 256"/>
          <p:cNvSpPr txBox="1"/>
          <p:nvPr/>
        </p:nvSpPr>
        <p:spPr>
          <a:xfrm>
            <a:off x="731518" y="4450000"/>
            <a:ext cx="10300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300">
                <a:solidFill>
                  <a:srgbClr val="5559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每一代（</a:t>
            </a:r>
            <a:r>
              <a:rPr>
                <a:latin typeface="Arial"/>
                <a:ea typeface="Arial"/>
                <a:cs typeface="Arial"/>
                <a:sym typeface="Arial"/>
              </a:rPr>
              <a:t>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Spring-TaskFlow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MissionBoard</a:t>
            </a:r>
            <a:r>
              <a:t>）都走這四步，不是後來才補上的規矩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貼合現況</a:t>
            </a:r>
          </a:p>
        </p:txBody>
      </p:sp>
      <p:sp>
        <p:nvSpPr>
          <p:cNvPr id="294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我把現在的工作情境搬進系統裡</a:t>
            </a:r>
          </a:p>
        </p:txBody>
      </p:sp>
      <p:sp>
        <p:nvSpPr>
          <p:cNvPr id="295" name="TextBox 3"/>
          <p:cNvSpPr txBox="1"/>
          <p:nvPr/>
        </p:nvSpPr>
        <p:spPr>
          <a:xfrm>
            <a:off x="731518" y="16916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為了貼近實際狀況，我用現在工作上真的會遇到的情境來設計：主機申請、防火牆開通、資安檢核這類項目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角色也照實際職務分：長官跨科看得到但不能改、科長科內全權、專案負責人管自己的案子、成員只看得到自己參與的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科別之間互相看不到，每個動作都會再確認一次「這個人有沒有資格動這筆資料」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權限畫得細，反而增加了協作的自由度：大家可以放心一起動同一份資料，不用像以前只能一個人顧著自己的 </a:t>
            </a:r>
            <a:r>
              <a:t>Excel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數字看整段旅程</a:t>
            </a:r>
          </a:p>
        </p:txBody>
      </p:sp>
      <p:sp>
        <p:nvSpPr>
          <p:cNvPr id="298" name="TextBox 2"/>
          <p:cNvSpPr txBox="1"/>
          <p:nvPr/>
        </p:nvSpPr>
        <p:spPr>
          <a:xfrm>
            <a:off x="731519" y="914399"/>
            <a:ext cx="10698482" cy="662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1C1F26"/>
                </a:solidFill>
              </a:defRPr>
            </a:lvl1pPr>
          </a:lstStyle>
          <a:p>
            <a:pPr/>
            <a:r>
              <a:t>兩個月，四個世代</a:t>
            </a:r>
          </a:p>
        </p:txBody>
      </p:sp>
      <p:sp>
        <p:nvSpPr>
          <p:cNvPr id="299" name="TextBox 3"/>
          <p:cNvSpPr txBox="1"/>
          <p:nvPr/>
        </p:nvSpPr>
        <p:spPr>
          <a:xfrm>
            <a:off x="731516" y="2103121"/>
            <a:ext cx="1110140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241</a:t>
            </a:r>
          </a:p>
        </p:txBody>
      </p:sp>
      <p:sp>
        <p:nvSpPr>
          <p:cNvPr id="300" name="TextBox 4"/>
          <p:cNvSpPr txBox="1"/>
          <p:nvPr/>
        </p:nvSpPr>
        <p:spPr>
          <a:xfrm>
            <a:off x="731519" y="3063238"/>
            <a:ext cx="3429002" cy="731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總 </a:t>
            </a:r>
            <a:r>
              <a:rPr>
                <a:latin typeface="Arial"/>
                <a:ea typeface="Arial"/>
                <a:cs typeface="Arial"/>
                <a:sym typeface="Arial"/>
              </a:rPr>
              <a:t>commit </a:t>
            </a:r>
            <a:r>
              <a:t>數（四個 </a:t>
            </a:r>
            <a:r>
              <a:rPr>
                <a:latin typeface="Arial"/>
                <a:ea typeface="Arial"/>
                <a:cs typeface="Arial"/>
                <a:sym typeface="Arial"/>
              </a:rPr>
              <a:t>repo </a:t>
            </a:r>
            <a:r>
              <a:t>合計）</a:t>
            </a:r>
          </a:p>
        </p:txBody>
      </p:sp>
      <p:sp>
        <p:nvSpPr>
          <p:cNvPr id="301" name="TextBox 5"/>
          <p:cNvSpPr txBox="1"/>
          <p:nvPr/>
        </p:nvSpPr>
        <p:spPr>
          <a:xfrm>
            <a:off x="4434837" y="2103121"/>
            <a:ext cx="774806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35</a:t>
            </a:r>
          </a:p>
        </p:txBody>
      </p:sp>
      <p:sp>
        <p:nvSpPr>
          <p:cNvPr id="302" name="TextBox 6"/>
          <p:cNvSpPr txBox="1"/>
          <p:nvPr/>
        </p:nvSpPr>
        <p:spPr>
          <a:xfrm>
            <a:off x="4434839" y="3063238"/>
            <a:ext cx="3429002" cy="731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份 </a:t>
            </a:r>
            <a:r>
              <a:rPr>
                <a:latin typeface="Arial"/>
                <a:ea typeface="Arial"/>
                <a:cs typeface="Arial"/>
                <a:sym typeface="Arial"/>
              </a:rPr>
              <a:t>md </a:t>
            </a:r>
            <a:r>
              <a:t>文件（四個 </a:t>
            </a:r>
            <a:r>
              <a:rPr>
                <a:latin typeface="Arial"/>
                <a:ea typeface="Arial"/>
                <a:cs typeface="Arial"/>
                <a:sym typeface="Arial"/>
              </a:rPr>
              <a:t>repo </a:t>
            </a:r>
            <a:r>
              <a:t>合計）</a:t>
            </a:r>
          </a:p>
        </p:txBody>
      </p:sp>
      <p:sp>
        <p:nvSpPr>
          <p:cNvPr id="303" name="TextBox 7"/>
          <p:cNvSpPr txBox="1"/>
          <p:nvPr/>
        </p:nvSpPr>
        <p:spPr>
          <a:xfrm>
            <a:off x="8138159" y="2103121"/>
            <a:ext cx="439471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04" name="TextBox 8"/>
          <p:cNvSpPr txBox="1"/>
          <p:nvPr/>
        </p:nvSpPr>
        <p:spPr>
          <a:xfrm>
            <a:off x="8138159" y="3063238"/>
            <a:ext cx="3429006" cy="731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個世代 </a:t>
            </a:r>
            <a:r>
              <a:rPr>
                <a:latin typeface="Arial"/>
                <a:ea typeface="Arial"/>
                <a:cs typeface="Arial"/>
                <a:sym typeface="Arial"/>
              </a:rPr>
              <a:t>/ </a:t>
            </a:r>
            <a:r>
              <a:t>階段</a:t>
            </a:r>
          </a:p>
        </p:txBody>
      </p:sp>
      <p:sp>
        <p:nvSpPr>
          <p:cNvPr id="305" name="TextBox 9"/>
          <p:cNvSpPr txBox="1"/>
          <p:nvPr/>
        </p:nvSpPr>
        <p:spPr>
          <a:xfrm>
            <a:off x="731516" y="4206240"/>
            <a:ext cx="1110140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35+</a:t>
            </a:r>
          </a:p>
        </p:txBody>
      </p:sp>
      <p:sp>
        <p:nvSpPr>
          <p:cNvPr id="306" name="TextBox 10"/>
          <p:cNvSpPr txBox="1"/>
          <p:nvPr/>
        </p:nvSpPr>
        <p:spPr>
          <a:xfrm>
            <a:off x="731519" y="5166359"/>
            <a:ext cx="3429002" cy="731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個拆分給 </a:t>
            </a:r>
            <a:r>
              <a:rPr>
                <a:latin typeface="Arial"/>
                <a:ea typeface="Arial"/>
                <a:cs typeface="Arial"/>
                <a:sym typeface="Arial"/>
              </a:rPr>
              <a:t>AI </a:t>
            </a:r>
            <a:r>
              <a:t>做的任務</a:t>
            </a:r>
          </a:p>
        </p:txBody>
      </p:sp>
      <p:sp>
        <p:nvSpPr>
          <p:cNvPr id="307" name="TextBox 11"/>
          <p:cNvSpPr txBox="1"/>
          <p:nvPr/>
        </p:nvSpPr>
        <p:spPr>
          <a:xfrm>
            <a:off x="4434837" y="4206240"/>
            <a:ext cx="2451479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104/104</a:t>
            </a:r>
          </a:p>
        </p:txBody>
      </p:sp>
      <p:sp>
        <p:nvSpPr>
          <p:cNvPr id="308" name="TextBox 12"/>
          <p:cNvSpPr txBox="1"/>
          <p:nvPr/>
        </p:nvSpPr>
        <p:spPr>
          <a:xfrm>
            <a:off x="4434839" y="5166359"/>
            <a:ext cx="3429002" cy="731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sz="1400">
                <a:solidFill>
                  <a:srgbClr val="55596A"/>
                </a:solidFill>
              </a:defRPr>
            </a:lvl1pPr>
          </a:lstStyle>
          <a:p>
            <a:pPr/>
            <a:r>
              <a:t>現行系統測試通過</a:t>
            </a:r>
          </a:p>
        </p:txBody>
      </p:sp>
      <p:sp>
        <p:nvSpPr>
          <p:cNvPr id="309" name="TextBox 13"/>
          <p:cNvSpPr txBox="1"/>
          <p:nvPr/>
        </p:nvSpPr>
        <p:spPr>
          <a:xfrm>
            <a:off x="8138159" y="4206240"/>
            <a:ext cx="439471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10" name="TextBox 14"/>
          <p:cNvSpPr txBox="1"/>
          <p:nvPr/>
        </p:nvSpPr>
        <p:spPr>
          <a:xfrm>
            <a:off x="8138159" y="5166359"/>
            <a:ext cx="3429006" cy="731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個資料表（</a:t>
            </a:r>
            <a:r>
              <a:rPr>
                <a:latin typeface="Arial"/>
                <a:ea typeface="Arial"/>
                <a:cs typeface="Arial"/>
                <a:sym typeface="Arial"/>
              </a:rPr>
              <a:t>schema table </a:t>
            </a:r>
            <a:r>
              <a:t>數）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做完這一輪之後</a:t>
            </a:r>
          </a:p>
        </p:txBody>
      </p:sp>
      <p:sp>
        <p:nvSpPr>
          <p:cNvPr id="313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接下來大概會往哪走</a:t>
            </a:r>
          </a:p>
        </p:txBody>
      </p:sp>
      <p:sp>
        <p:nvSpPr>
          <p:cNvPr id="314" name="TextBox 3"/>
          <p:cNvSpPr txBox="1"/>
          <p:nvPr/>
        </p:nvSpPr>
        <p:spPr>
          <a:xfrm>
            <a:off x="731518" y="16916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分類管理、人員派工都做完了；甘特圖還沒，之後有空再看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過程中用的那幾條規矩（推送要我點頭、測試要過），我打算繼續用在下一個專案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文件都跟著更新了，之後接手的人看得懂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寫在最後</a:t>
            </a:r>
          </a:p>
        </p:txBody>
      </p:sp>
      <p:sp>
        <p:nvSpPr>
          <p:cNvPr id="317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這次做完，我自己比較有感的幾件事</a:t>
            </a:r>
          </a:p>
        </p:txBody>
      </p:sp>
      <p:sp>
        <p:nvSpPr>
          <p:cNvPr id="318" name="TextBox 3"/>
          <p:cNvSpPr txBox="1"/>
          <p:nvPr/>
        </p:nvSpPr>
        <p:spPr>
          <a:xfrm>
            <a:off x="731518" y="1691636"/>
            <a:ext cx="10515604" cy="420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省下的是打字跟查資料的時間；要做什麼、方向對不對，還是得自己判斷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一個人開發最怕沒人幫忙看，讓另一個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來挑毛病，剛好補上這塊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最花時間的不是寫程式，是把需求想清楚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這件事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幫不上忙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兩個月做了四個世代，走的冤枉路比想像多，但每次砍掉重來都比硬撐下去快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