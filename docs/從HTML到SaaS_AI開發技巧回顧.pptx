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200" b="1">
                <a:solidFill>
                  <a:srgbClr val="1C1F26"/>
                </a:solidFill>
                <a:latin typeface="Georgia"/>
              </a:rPr>
              <a:t>從一支 HTML WBS 工具，
到任務導向 SaaS。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114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55596A"/>
                </a:solidFill>
                <a:latin typeface="Avenir Next"/>
              </a:rPr>
              <a:t>兩個月・四個世代・241 個 commit 的 AI 開發技巧回顧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5596A"/>
                </a:solidFill>
                <a:latin typeface="Menlo"/>
              </a:rPr>
              <a:t>2026-06-08 → 2026-08-10   ·   Spring-MissionBoard 及其前身專案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6F6B"/>
                </a:solidFill>
                <a:latin typeface="Menlo"/>
              </a:rPr>
              <a:t>全景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F26"/>
                </a:solidFill>
                <a:latin typeface="Georgia"/>
              </a:rPr>
              <a:t>五個階段，一條時間軸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55448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596A"/>
                </a:solidFill>
                <a:latin typeface="Menlo"/>
              </a:rPr>
              <a:t>06-08 → 06-19</a:t>
            </a:r>
          </a:p>
        </p:txBody>
      </p:sp>
      <p:sp>
        <p:nvSpPr>
          <p:cNvPr id="5" name="Oval 4"/>
          <p:cNvSpPr/>
          <p:nvPr/>
        </p:nvSpPr>
        <p:spPr>
          <a:xfrm>
            <a:off x="2331720" y="2020824"/>
            <a:ext cx="128016" cy="128016"/>
          </a:xfrm>
          <a:prstGeom prst="ellipse">
            <a:avLst/>
          </a:prstGeom>
          <a:solidFill>
            <a:srgbClr val="B3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97480" y="1965960"/>
            <a:ext cx="84124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900">
                <a:solidFill>
                  <a:srgbClr val="1C1F26"/>
                </a:solidFill>
                <a:latin typeface="Georgia"/>
              </a:rPr>
              <a:t>WbsScaff</a:t>
            </a:r>
          </a:p>
          <a:p>
            <a:r>
              <a:rPr sz="1400">
                <a:solidFill>
                  <a:srgbClr val="55596A"/>
                </a:solidFill>
                <a:latin typeface="Avenir Next"/>
              </a:rPr>
              <a:t>單檔 HTML WBS 工具，氣隙環境，無伺服器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07208"/>
            <a:ext cx="155448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596A"/>
                </a:solidFill>
                <a:latin typeface="Menlo"/>
              </a:rPr>
              <a:t>06-19 → 07-03</a:t>
            </a:r>
          </a:p>
        </p:txBody>
      </p:sp>
      <p:sp>
        <p:nvSpPr>
          <p:cNvPr id="8" name="Oval 7"/>
          <p:cNvSpPr/>
          <p:nvPr/>
        </p:nvSpPr>
        <p:spPr>
          <a:xfrm>
            <a:off x="2331720" y="2862072"/>
            <a:ext cx="128016" cy="128016"/>
          </a:xfrm>
          <a:prstGeom prst="ellipse">
            <a:avLst/>
          </a:prstGeom>
          <a:solidFill>
            <a:srgbClr val="B3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2807208"/>
            <a:ext cx="84124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900">
                <a:solidFill>
                  <a:srgbClr val="1C1F26"/>
                </a:solidFill>
                <a:latin typeface="Georgia"/>
              </a:rPr>
              <a:t>Spring-WbsScaff</a:t>
            </a:r>
          </a:p>
          <a:p>
            <a:r>
              <a:rPr sz="1400">
                <a:solidFill>
                  <a:srgbClr val="55596A"/>
                </a:solidFill>
                <a:latin typeface="Avenir Next"/>
              </a:rPr>
              <a:t>搬上 Web，多人即時協作、部門權限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48456"/>
            <a:ext cx="155448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596A"/>
                </a:solidFill>
                <a:latin typeface="Menlo"/>
              </a:rPr>
              <a:t>07-03 → 07-08</a:t>
            </a:r>
          </a:p>
        </p:txBody>
      </p:sp>
      <p:sp>
        <p:nvSpPr>
          <p:cNvPr id="11" name="Oval 10"/>
          <p:cNvSpPr/>
          <p:nvPr/>
        </p:nvSpPr>
        <p:spPr>
          <a:xfrm>
            <a:off x="2331720" y="3703320"/>
            <a:ext cx="128016" cy="128016"/>
          </a:xfrm>
          <a:prstGeom prst="ellipse">
            <a:avLst/>
          </a:prstGeom>
          <a:solidFill>
            <a:srgbClr val="B3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3648456"/>
            <a:ext cx="84124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900">
                <a:solidFill>
                  <a:srgbClr val="1C1F26"/>
                </a:solidFill>
                <a:latin typeface="Georgia"/>
              </a:rPr>
              <a:t>Spring-TaskFlow</a:t>
            </a:r>
          </a:p>
          <a:p>
            <a:r>
              <a:rPr sz="1400">
                <a:solidFill>
                  <a:srgbClr val="55596A"/>
                </a:solidFill>
                <a:latin typeface="Avenir Next"/>
              </a:rPr>
              <a:t>拆出獨立看板系統，核心從樹狀改拖曳卡片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489704"/>
            <a:ext cx="155448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596A"/>
                </a:solidFill>
                <a:latin typeface="Menlo"/>
              </a:rPr>
              <a:t>07-17 → 08-08</a:t>
            </a:r>
          </a:p>
        </p:txBody>
      </p:sp>
      <p:sp>
        <p:nvSpPr>
          <p:cNvPr id="14" name="Oval 13"/>
          <p:cNvSpPr/>
          <p:nvPr/>
        </p:nvSpPr>
        <p:spPr>
          <a:xfrm>
            <a:off x="2331720" y="4544568"/>
            <a:ext cx="128016" cy="128016"/>
          </a:xfrm>
          <a:prstGeom prst="ellipse">
            <a:avLst/>
          </a:prstGeom>
          <a:solidFill>
            <a:srgbClr val="B3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4489704"/>
            <a:ext cx="84124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900">
                <a:solidFill>
                  <a:srgbClr val="1C1F26"/>
                </a:solidFill>
                <a:latin typeface="Georgia"/>
              </a:rPr>
              <a:t>WbsFlow → MissionBoard</a:t>
            </a:r>
          </a:p>
          <a:p>
            <a:r>
              <a:rPr sz="1400">
                <a:solidFill>
                  <a:srgbClr val="55596A"/>
                </a:solidFill>
                <a:latin typeface="Avenir Next"/>
              </a:rPr>
              <a:t>全新 repo 合併兩者：「WBS 節點即任務」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330952"/>
            <a:ext cx="155448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596A"/>
                </a:solidFill>
                <a:latin typeface="Menlo"/>
              </a:rPr>
              <a:t>08-09 → 08-10</a:t>
            </a:r>
          </a:p>
        </p:txBody>
      </p:sp>
      <p:sp>
        <p:nvSpPr>
          <p:cNvPr id="17" name="Oval 16"/>
          <p:cNvSpPr/>
          <p:nvPr/>
        </p:nvSpPr>
        <p:spPr>
          <a:xfrm>
            <a:off x="2331720" y="5385816"/>
            <a:ext cx="128016" cy="128016"/>
          </a:xfrm>
          <a:prstGeom prst="ellipse">
            <a:avLst/>
          </a:prstGeom>
          <a:solidFill>
            <a:srgbClr val="B3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97480" y="5330952"/>
            <a:ext cx="84124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900">
                <a:solidFill>
                  <a:srgbClr val="1C1F26"/>
                </a:solidFill>
                <a:latin typeface="Georgia"/>
              </a:rPr>
              <a:t>任務導向重構</a:t>
            </a:r>
          </a:p>
          <a:p>
            <a:r>
              <a:rPr sz="1400">
                <a:solidFill>
                  <a:srgbClr val="55596A"/>
                </a:solidFill>
                <a:latin typeface="Avenir Next"/>
              </a:rPr>
              <a:t>拆掉節點模型，看板變預設首頁 —— 這次 session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6F6B"/>
                </a:solidFill>
                <a:latin typeface="Menlo"/>
              </a:rPr>
              <a:t>PHASE 1   ·   2026-06-08 → 06-19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F26"/>
                </a:solidFill>
                <a:latin typeface="Georgia"/>
              </a:rPr>
              <a:t>WbsScaff：一支不需要伺服器的 HTML 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5596A"/>
                </a:solidFill>
                <a:latin typeface="Menlo"/>
              </a:rPr>
              <a:t>39 commits  ·  原始命名 Scaff-WBS-Builder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C1F26"/>
                </a:solidFill>
                <a:latin typeface="Avenir Next"/>
              </a:rPr>
              <a:t>—  純 Vanilla JS + 內嵌 CSS，無任何外部依賴，適用氣隙（air-gapped）生產環境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C1F26"/>
                </a:solidFill>
                <a:latin typeface="Avenir Next"/>
              </a:rPr>
              <a:t>—  樹狀節點最多 5 層，雙擊行內編輯、跨層拖曳排序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C1F26"/>
                </a:solidFill>
                <a:latin typeface="Avenir Next"/>
              </a:rPr>
              <a:t>—  父層狀態由子層自動推算，不可手動更改 —— 這個設計一路延續到後面每一代系統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C1F26"/>
                </a:solidFill>
                <a:latin typeface="Avenir Next"/>
              </a:rPr>
              <a:t>—  CSV／XLSX／JSON 匯出入，XLSX 用 SheetJS 內嵌實作維持離線可用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6F6B"/>
                </a:solidFill>
                <a:latin typeface="Menlo"/>
              </a:rPr>
              <a:t>AI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F26"/>
                </a:solidFill>
                <a:latin typeface="Georgia"/>
              </a:rPr>
              <a:t>先做出可以按的東西，再寫規格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C1F26"/>
                </a:solidFill>
                <a:latin typeface="Avenir Next"/>
              </a:rPr>
              <a:t>—  brainstorming skill 產出真的能點的 HTML mockup，動工前先做視覺化 A/B 選擇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C1F26"/>
                </a:solidFill>
                <a:latin typeface="Avenir Next"/>
              </a:rPr>
              <a:t>—  原訂建置流程（src/app.js + dist/）做出來後放棄，改用單檔手改 —— 計畫輸給現實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C1F26"/>
                </a:solidFill>
                <a:latin typeface="Avenir Next"/>
              </a:rPr>
              <a:t>—  曾做出 AI 生成功能，後來整支移除，CLAUDE.md 留下警語「請勿重新引入」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4846320"/>
            <a:ext cx="30000" cy="1280160"/>
          </a:xfrm>
          <a:prstGeom prst="rect">
            <a:avLst/>
          </a:prstGeom>
          <a:solidFill>
            <a:srgbClr val="B3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i="1" sz="1700">
                <a:solidFill>
                  <a:srgbClr val="1C1F26"/>
                </a:solidFill>
                <a:latin typeface="Georgia"/>
              </a:rPr>
              <a:t>“氣隙生產環境這個定位，從第一天就決定了後面每一次「要不要加依賴」的取捨。”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55596A"/>
                </a:solidFill>
                <a:latin typeface="Menlo"/>
              </a:rPr>
              <a:t>— WbsScaff README / CLAUDE.md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6F6B"/>
                </a:solidFill>
                <a:latin typeface="Menlo"/>
              </a:rPr>
              <a:t>PHASE 2   ·   2026-06-19 → 07-03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F26"/>
                </a:solidFill>
                <a:latin typeface="Georgia"/>
              </a:rPr>
              <a:t>Spring-WbsScaff：搬上 Web，變成多人系統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5596A"/>
                </a:solidFill>
                <a:latin typeface="Menlo"/>
              </a:rPr>
              <a:t>97 commits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C1F26"/>
                </a:solidFill>
                <a:latin typeface="Avenir Next"/>
              </a:rPr>
              <a:t>—  從「單機工具」轉成「企業後台管理、部門層級權限、多人即時協作」的 Web 平台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C1F26"/>
                </a:solidFill>
                <a:latin typeface="Avenir Next"/>
              </a:rPr>
              <a:t>—  技術棧：Spring Boot 3.4 + Spring Security／Session JDBC + STOMP WebSocket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C1F26"/>
                </a:solidFill>
                <a:latin typeface="Avenir Next"/>
              </a:rPr>
              <a:t>—  整條路線上第一次真正的架構升級：單檔 JS 變成有資料庫、有登入、多人協作的系統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6F6B"/>
                </a:solidFill>
                <a:latin typeface="Menlo"/>
              </a:rPr>
              <a:t>AI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F26"/>
                </a:solidFill>
                <a:latin typeface="Georgia"/>
              </a:rPr>
              <a:t>整條分支做完之後，才看得出縫隙在哪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C1F26"/>
                </a:solidFill>
                <a:latin typeface="Avenir Next"/>
              </a:rPr>
              <a:t>—  前四份計畫在同一天 50 分鐘內一次執行完，沒有 subagent 分工的 ledger 紀錄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C1F26"/>
                </a:solidFill>
                <a:latin typeface="Avenir Next"/>
              </a:rPr>
              <a:t>—  後續功能改用 subagent-driven-development：9 個任務，各自 review clean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C1F26"/>
                </a:solidFill>
                <a:latin typeface="Avenir Next"/>
              </a:rPr>
              <a:t>—  最終全分支審查抓到跨科拖曳掛父節點的 IDOR —— 單一任務審查看不出來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C1F26"/>
                </a:solidFill>
                <a:latin typeface="Avenir Next"/>
              </a:rPr>
              <a:t>—  技術選型繞一圈：加 MSSQL 雙資料庫 → 全面改 MSSQL → 最後在 MissionBoard 換回 PostgreSQL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6F6B"/>
                </a:solidFill>
                <a:latin typeface="Menlo"/>
              </a:rPr>
              <a:t>PHASE 3   ·   2026-07-03 → 07-08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F26"/>
                </a:solidFill>
                <a:latin typeface="Georgia"/>
              </a:rPr>
              <a:t>Spring-TaskFlow：拆出獨立的看板系統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5596A"/>
                </a:solidFill>
                <a:latin typeface="Menlo"/>
              </a:rPr>
              <a:t>32 commits  ·  主體一天內完成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C1F26"/>
                </a:solidFill>
                <a:latin typeface="Avenir Next"/>
              </a:rPr>
              <a:t>—  策略明確：「方案 A」把 WbsScaff 的架構與畫面風格原封不動搬過來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C1F26"/>
                </a:solidFill>
                <a:latin typeface="Avenir Next"/>
              </a:rPr>
              <a:t>—  只把核心功能從「樹狀編輯」換成「看板拖曳」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C1F26"/>
                </a:solidFill>
                <a:latin typeface="Avenir Next"/>
              </a:rPr>
              <a:t>—  基礎設施（登入、部門權限、頁殼）幾乎全部繼承，省下重新驗證的成本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C1F26"/>
                </a:solidFill>
                <a:latin typeface="Avenir Next"/>
              </a:rPr>
              <a:t>—  此後系統世界同時存在 WBS 樹與看板兩套產品 —— 為 Phase 4 合併埋下動機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6F6B"/>
                </a:solidFill>
                <a:latin typeface="Menlo"/>
              </a:rPr>
              <a:t>AI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1F26"/>
                </a:solidFill>
                <a:latin typeface="Georgia"/>
              </a:rPr>
              <a:t>搬遷專案最容易踩的坑：繼承別人的死程式碼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C1F26"/>
                </a:solidFill>
                <a:latin typeface="Avenir Next"/>
              </a:rPr>
              <a:t>—  11 個任務的 SDD，好幾個進了 fix round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C1F26"/>
                </a:solidFill>
                <a:latin typeface="Avenir Next"/>
              </a:rPr>
              <a:t>—  額度用盡時有明確 fallback：「Fix round 由 controller inline 完成」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C1F26"/>
                </a:solidFill>
                <a:latin typeface="Avenir Next"/>
              </a:rPr>
              <a:t>—  最終審查換了一顆更強的模型專門做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291840"/>
            <a:ext cx="5120640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7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1100" b="1">
                <a:solidFill>
                  <a:srgbClr val="AB4030"/>
                </a:solidFill>
                <a:latin typeface="Menlo"/>
              </a:rPr>
              <a:t>CASE 1 · Critical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C1F26"/>
                </a:solidFill>
                <a:latin typeface="Avenir Next"/>
              </a:rPr>
              <a:t>從 WbsScaff 繼承、UI 完全沒引用的 /admin/users API：外部直接打可繞過部門隔離改任何帳號</a:t>
            </a:r>
          </a:p>
          <a:p>
            <a:pPr>
              <a:spcBef>
                <a:spcPts val="800"/>
              </a:spcBef>
            </a:pPr>
            <a:r>
              <a:rPr sz="1200" i="1">
                <a:solidFill>
                  <a:srgbClr val="55596A"/>
                </a:solidFill>
                <a:latin typeface="Avenir Next"/>
              </a:rPr>
              <a:t>最終審查用最強模型才抓到 —— 從沒被任何一個任務碰過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3291840"/>
            <a:ext cx="5394960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7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1100" b="1">
                <a:solidFill>
                  <a:srgbClr val="B3791F"/>
                </a:solidFill>
                <a:latin typeface="Menlo"/>
              </a:rPr>
              <a:t>CASE 2 · 修復引發迴歸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C1F26"/>
                </a:solidFill>
                <a:latin typeface="Avenir Next"/>
              </a:rPr>
              <a:t>修完 Critical 之後，re-review 抓到修復本身弄壞了「部長自建看板」功能</a:t>
            </a:r>
          </a:p>
          <a:p>
            <a:pPr>
              <a:spcBef>
                <a:spcPts val="800"/>
              </a:spcBef>
            </a:pPr>
            <a:r>
              <a:rPr sz="1200" i="1">
                <a:solidFill>
                  <a:srgbClr val="55596A"/>
                </a:solidFill>
                <a:latin typeface="Avenir Next"/>
              </a:rPr>
              <a:t>Fix Round 2 補上對應測試，60/60 全綠才真正收斂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6F6B"/>
                </a:solidFill>
                <a:latin typeface="Menlo"/>
              </a:rPr>
              <a:t>PHASE 4   ·   2026-07-17 → 08-08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F26"/>
                </a:solidFill>
                <a:latin typeface="Georgia"/>
              </a:rPr>
              <a:t>WbsFlow → MissionBoard：兩套系統合併成一套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5596A"/>
                </a:solidFill>
                <a:latin typeface="Menlo"/>
              </a:rPr>
              <a:t>73 commits（含本次重構）  ·  全新 repo，不基於任一舊專案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C1F26"/>
                </a:solidFill>
                <a:latin typeface="Avenir Next"/>
              </a:rPr>
              <a:t>—  核心決策：「WBS 節點即任務」—— 不做規劃層＋執行層雙模型，L3 節點本身就是可指派的任務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C1F26"/>
                </a:solidFill>
                <a:latin typeface="Avenir Next"/>
              </a:rPr>
              <a:t>—  拆成四個子專案依序執行：A 資料層與權限核心、B 認證、C 專案管理、D 節點與選單管理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C1F26"/>
                </a:solidFill>
                <a:latin typeface="Avenir Next"/>
              </a:rPr>
              <a:t>—  整合兩邊已驗證過的模式：TaskFlow 的看板／指派／成員機制，WbsScaff 的樹編輯／權限／生命週期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6F6B"/>
                </a:solidFill>
                <a:latin typeface="Menlo"/>
              </a:rPr>
              <a:t>AI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C1F26"/>
                </a:solidFill>
                <a:latin typeface="Georgia"/>
              </a:rPr>
              <a:t>動手寫規格之前，先派兩個 agent 去讀舊專案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C1F26"/>
                </a:solidFill>
                <a:latin typeface="Avenir Next"/>
              </a:rPr>
              <a:t>—  brainstorming 前平行派 2 個 Explore agent，各自分析 WbsScaff 與 TaskFlow 架構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C1F26"/>
                </a:solidFill>
                <a:latin typeface="Avenir Next"/>
              </a:rPr>
              <a:t>—  4 個子專案、24 個任務全走 TDD：先寫會失敗的測試，跑過確認真的失敗，才開始實作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108960"/>
            <a:ext cx="30000" cy="1280160"/>
          </a:xfrm>
          <a:prstGeom prst="rect">
            <a:avLst/>
          </a:prstGeom>
          <a:solidFill>
            <a:srgbClr val="B3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i="1" sz="1700">
                <a:solidFill>
                  <a:srgbClr val="1C1F26"/>
                </a:solidFill>
                <a:latin typeface="Georgia"/>
              </a:rPr>
              <a:t>“兩個舊專案技術棧同構，等於已經幫你驗證過八成的基礎設施；真正的新東西只有「節點即任務」的三層資料模型和四檢視前端。”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55596A"/>
                </a:solidFill>
                <a:latin typeface="Menlo"/>
              </a:rPr>
              <a:t>— brainstorming session, 2026-07-17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754880"/>
            <a:ext cx="512064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7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1100" b="1">
                <a:solidFill>
                  <a:srgbClr val="AB4030"/>
                </a:solidFill>
                <a:latin typeface="Menlo"/>
              </a:rPr>
              <a:t>B / AUTH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C1F26"/>
                </a:solidFill>
                <a:latin typeface="Avenir Next"/>
              </a:rPr>
              <a:t>測試違反計畫明文禁止的規則，reviewer 抓到後來回 3 輪才收斂</a:t>
            </a:r>
          </a:p>
          <a:p>
            <a:pPr>
              <a:spcBef>
                <a:spcPts val="800"/>
              </a:spcBef>
            </a:pPr>
            <a:r>
              <a:rPr sz="1200" i="1">
                <a:solidFill>
                  <a:srgbClr val="55596A"/>
                </a:solidFill>
                <a:latin typeface="Avenir Next"/>
              </a:rPr>
              <a:t>計畫規則被違反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4754880"/>
            <a:ext cx="539496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7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1100" b="1">
                <a:solidFill>
                  <a:srgbClr val="3F7D4F"/>
                </a:solidFill>
                <a:latin typeface="Menlo"/>
              </a:rPr>
              <a:t>D / 節點管理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C1F26"/>
                </a:solidFill>
                <a:latin typeface="Avenir Next"/>
              </a:rPr>
              <a:t>implementer 發現 brief 對 DB CASCADE 的假設在測試環境不成立，自行修正並附理由</a:t>
            </a:r>
          </a:p>
          <a:p>
            <a:pPr>
              <a:spcBef>
                <a:spcPts val="800"/>
              </a:spcBef>
            </a:pPr>
            <a:r>
              <a:rPr sz="1200" i="1">
                <a:solidFill>
                  <a:srgbClr val="55596A"/>
                </a:solidFill>
                <a:latin typeface="Avenir Next"/>
              </a:rPr>
              <a:t>計畫假設被證偽 —— Phase 5 又重演一次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6F6B"/>
                </a:solidFill>
                <a:latin typeface="Menlo"/>
              </a:rPr>
              <a:t>PHASE 5 · 這次 SESSION   ·   2026-08-09 → 08-10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F26"/>
                </a:solidFill>
                <a:latin typeface="Georgia"/>
              </a:rPr>
              <a:t>任務導向重構：把樹拆掉，看板變成 SaaS 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5596A"/>
                </a:solidFill>
                <a:latin typeface="Menlo"/>
              </a:rPr>
              <a:t>11 個任務 + 1 次全分支審查 + 1 輪修正  ·  104/104 測試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C1F26"/>
                </a:solidFill>
                <a:latin typeface="Avenir Next"/>
              </a:rPr>
              <a:t>—  用了快兩個月才發現：「先建骨架、再往下長細項」太重 —— 使用者要的是先建任務、事後歸類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C1F26"/>
                </a:solidFill>
                <a:latin typeface="Avenir Next"/>
              </a:rPr>
              <a:t>—  把 wbs_nodes 三層固定樹整個拆掉，換成天生獨立的扁平 tasks ＋ 選配兩層的 task_categories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C1F26"/>
                </a:solidFill>
                <a:latin typeface="Avenir Next"/>
              </a:rPr>
              <a:t>—  看板變成專案詳情頁預設且唯一的畫面，舊的樹編輯器／人員派工／甘特三分頁整個移除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C1F26"/>
                </a:solidFill>
                <a:latin typeface="Avenir Next"/>
              </a:rPr>
              <a:t>—  從「規劃工具」真正走向「任務派工 SaaS」的臨門一腳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6F6B"/>
                </a:solidFill>
                <a:latin typeface="Menlo"/>
              </a:rPr>
              <a:t>AI TECHNIQUE · 研究先行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F26"/>
                </a:solidFill>
                <a:latin typeface="Georgia"/>
              </a:rPr>
              <a:t>寫計畫前，先花大力氣把地基弄清楚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C1F26"/>
                </a:solidFill>
                <a:latin typeface="Avenir Next"/>
              </a:rPr>
              <a:t>—  派 3 個平行 agent 研究：後端逐字抄錄、前端逐字抄錄，還讀了姊妹專案的拖曳/modal/逾期邏輯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C1F26"/>
                </a:solidFill>
                <a:latin typeface="Avenir Next"/>
              </a:rPr>
              <a:t>—  每個關鍵決策（欄位命名、刪除語意、API 形狀）先問過 advisor，修正意見反映進最終計畫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C1F26"/>
                </a:solidFill>
                <a:latin typeface="Avenir Next"/>
              </a:rPr>
              <a:t>—  寫完計畫做自我審查：對照規格逐條核對覆蓋率，掃描有沒有偷懶留下的佔位符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6F6B"/>
                </a:solidFill>
                <a:latin typeface="Menlo"/>
              </a:rPr>
              <a:t>AI TECHNIQUE · 規模化執行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F26"/>
                </a:solidFill>
                <a:latin typeface="Georgia"/>
              </a:rPr>
              <a:t>11 個任務、11 個全新 subagent，模型依難度分級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C1F26"/>
                </a:solidFill>
                <a:latin typeface="Avenir Next"/>
              </a:rPr>
              <a:t>—  機械式轉譯用便宜快速模型；需判斷整合的任務用中階模型；最終全分支審查用最強模型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C1F26"/>
                </a:solidFill>
                <a:latin typeface="Avenir Next"/>
              </a:rPr>
              <a:t>—  每任務節奏一致：implementer 寫測試 → 確認失敗 → 實作 → 確認通過 → commit → 獨立 reviewer 驗證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C1F26"/>
                </a:solidFill>
                <a:latin typeface="Avenir Next"/>
              </a:rPr>
              <a:t>—  全程靠 progress.md ledger 記錄進度：對話被壓縮、記憶消失也能接續，不重複派工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6F6B"/>
                </a:solidFill>
                <a:latin typeface="Menlo"/>
              </a:rPr>
              <a:t>AI TECHNIQUE · 證據為準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C1F26"/>
                </a:solidFill>
                <a:latin typeface="Georgia"/>
              </a:rPr>
              <a:t>不相信報告，要真的重現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1074420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7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1100" b="1">
                <a:solidFill>
                  <a:srgbClr val="3F7D4F"/>
                </a:solidFill>
                <a:latin typeface="Menlo"/>
              </a:rPr>
              <a:t>案例一 · 計畫寫錯，被證明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C1F26"/>
                </a:solidFill>
                <a:latin typeface="Avenir Next"/>
              </a:rPr>
              <a:t>某任務的 delete() 沒照計畫寫。Reviewer 沒接受 implementer 的解釋，自己在乾淨 checkout 上重現計畫版本 —— 真的會炸掉</a:t>
            </a:r>
          </a:p>
          <a:p>
            <a:pPr>
              <a:spcBef>
                <a:spcPts val="800"/>
              </a:spcBef>
            </a:pPr>
            <a:r>
              <a:rPr sz="1200" i="1">
                <a:solidFill>
                  <a:srgbClr val="55596A"/>
                </a:solidFill>
                <a:latin typeface="Avenir Next"/>
              </a:rPr>
              <a:t>結論：這次是計畫本身寫錯了，implementer 是對的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429000"/>
            <a:ext cx="1074420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7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1100" b="1">
                <a:solidFill>
                  <a:srgbClr val="1F6F6B"/>
                </a:solidFill>
                <a:latin typeface="Menlo"/>
              </a:rPr>
              <a:t>案例二 · 工具環境問題，非程式碼缺陷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C1F26"/>
                </a:solidFill>
                <a:latin typeface="Avenir Next"/>
              </a:rPr>
              <a:t>看板拖曳測試工具「回報成功但無效果」。Implementer 與獨立 reviewer 各自重現，還用不相關的登入按鈕排除「跟拖曳有關」的猜測</a:t>
            </a:r>
          </a:p>
          <a:p>
            <a:pPr>
              <a:spcBef>
                <a:spcPts val="800"/>
              </a:spcBef>
            </a:pPr>
            <a:r>
              <a:rPr sz="1200" i="1">
                <a:solidFill>
                  <a:srgbClr val="55596A"/>
                </a:solidFill>
                <a:latin typeface="Avenir Next"/>
              </a:rPr>
              <a:t>確認是本機自動化工具的環境性問題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029200"/>
            <a:ext cx="1074420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7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1100" b="1">
                <a:solidFill>
                  <a:srgbClr val="AB4030"/>
                </a:solidFill>
                <a:latin typeface="Menlo"/>
              </a:rPr>
              <a:t>案例三 · 只有全分支視角才看得到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C1F26"/>
                </a:solidFill>
                <a:latin typeface="Avenir Next"/>
              </a:rPr>
              <a:t>最終審查（最強模型）親手在瀏覽器逐格推演拖曳邏輯，抓到「同欄往下拖多插一格」的 off-by-one</a:t>
            </a:r>
          </a:p>
          <a:p>
            <a:pPr>
              <a:spcBef>
                <a:spcPts val="800"/>
              </a:spcBef>
            </a:pPr>
            <a:r>
              <a:rPr sz="1200" i="1">
                <a:solidFill>
                  <a:srgbClr val="55596A"/>
                </a:solidFill>
                <a:latin typeface="Avenir Next"/>
              </a:rPr>
              <a:t>橫跨前端 JS 與後端排序演算法，單一任務 reviewer 不會發現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6F6B"/>
                </a:solidFill>
                <a:latin typeface="Menlo"/>
              </a:rPr>
              <a:t>貫穿五個階段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C1F26"/>
                </a:solidFill>
                <a:latin typeface="Georgia"/>
              </a:rPr>
              <a:t>用下來留下的技巧清單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35204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9D7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1450">
                <a:solidFill>
                  <a:srgbClr val="1C1F26"/>
                </a:solidFill>
                <a:latin typeface="Georgia"/>
              </a:rPr>
              <a:t>Brainstorm → Spec → Plan → TDD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55596A"/>
                </a:solidFill>
                <a:latin typeface="Avenir Next"/>
              </a:rPr>
              <a:t>每個階段先想清楚、寫下來，再動手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5204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9D7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1450">
                <a:solidFill>
                  <a:srgbClr val="1C1F26"/>
                </a:solidFill>
                <a:latin typeface="Georgia"/>
              </a:rPr>
              <a:t>Subagent-driven-development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55596A"/>
                </a:solidFill>
                <a:latin typeface="Avenir Next"/>
              </a:rPr>
              <a:t>任務拆給全新 subagent，避免對話雜訊污染上下文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828800"/>
            <a:ext cx="35204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9D7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1450">
                <a:solidFill>
                  <a:srgbClr val="1C1F26"/>
                </a:solidFill>
                <a:latin typeface="Georgia"/>
              </a:rPr>
              <a:t>獨立 Reviewer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55596A"/>
                </a:solidFill>
                <a:latin typeface="Avenir Next"/>
              </a:rPr>
              <a:t>implementer 與 reviewer 是不同 agent，不自審自己的作業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410712"/>
            <a:ext cx="35204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9D7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1450">
                <a:solidFill>
                  <a:srgbClr val="1C1F26"/>
                </a:solidFill>
                <a:latin typeface="Georgia"/>
              </a:rPr>
              <a:t>Fix round + 升級機制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55596A"/>
                </a:solidFill>
                <a:latin typeface="Avenir Next"/>
              </a:rPr>
              <a:t>卡住換更強模型或換人重來；額度用盡有記錄在案的 fallback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410712"/>
            <a:ext cx="35204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9D7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1450">
                <a:solidFill>
                  <a:srgbClr val="1C1F26"/>
                </a:solidFill>
                <a:latin typeface="Georgia"/>
              </a:rPr>
              <a:t>全分支最終審查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55596A"/>
                </a:solidFill>
                <a:latin typeface="Avenir Next"/>
              </a:rPr>
              <a:t>抓「每個任務都對、合起來卻錯」的縫隙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3410712"/>
            <a:ext cx="35204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9D7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1450">
                <a:solidFill>
                  <a:srgbClr val="1C1F26"/>
                </a:solidFill>
                <a:latin typeface="Georgia"/>
              </a:rPr>
              <a:t>模型依難度分級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55596A"/>
                </a:solidFill>
                <a:latin typeface="Avenir Next"/>
              </a:rPr>
              <a:t>機械轉譯用便宜模型，架構與最終審查用最強模型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992624"/>
            <a:ext cx="35204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9D7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1450">
                <a:solidFill>
                  <a:srgbClr val="1C1F26"/>
                </a:solidFill>
                <a:latin typeface="Georgia"/>
              </a:rPr>
              <a:t>Ledger 記錄進度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55596A"/>
                </a:solidFill>
                <a:latin typeface="Avenir Next"/>
              </a:rPr>
              <a:t>對話被壓縮也能接續，不重複做工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992624"/>
            <a:ext cx="35204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9D7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1450">
                <a:solidFill>
                  <a:srgbClr val="1C1F26"/>
                </a:solidFill>
                <a:latin typeface="Georgia"/>
              </a:rPr>
              <a:t>證據為準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55596A"/>
                </a:solidFill>
                <a:latin typeface="Avenir Next"/>
              </a:rPr>
              <a:t>可疑結論要自己重現、獨立驗證，不採信報告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4992624"/>
            <a:ext cx="35204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9D7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b="1" sz="1450">
                <a:solidFill>
                  <a:srgbClr val="1C1F26"/>
                </a:solidFill>
                <a:latin typeface="Georgia"/>
              </a:rPr>
              <a:t>Advisor 諮詢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55596A"/>
                </a:solidFill>
                <a:latin typeface="Avenir Next"/>
              </a:rPr>
              <a:t>關鍵決策前先問一輪，衝突攤開來討論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6F6B"/>
                </a:solidFill>
                <a:latin typeface="Menlo"/>
              </a:rPr>
              <a:t>數字看整段旅程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C1F26"/>
                </a:solidFill>
                <a:latin typeface="Georgia"/>
              </a:rPr>
              <a:t>兩個月，四個世代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94560"/>
            <a:ext cx="35204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4400">
                <a:solidFill>
                  <a:srgbClr val="B3791F"/>
                </a:solidFill>
                <a:latin typeface="Menlo"/>
              </a:rPr>
              <a:t>241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154680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5596A"/>
                </a:solidFill>
                <a:latin typeface="Avenir Next"/>
              </a:rPr>
              <a:t>總 commit 數（四個 repo 合計）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194560"/>
            <a:ext cx="35204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4400">
                <a:solidFill>
                  <a:srgbClr val="B3791F"/>
                </a:solidFill>
                <a:latin typeface="Menlo"/>
              </a:rPr>
              <a:t>~2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3154680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5596A"/>
                </a:solidFill>
                <a:latin typeface="Avenir Next"/>
              </a:rPr>
              <a:t>個月（06-08 → 08-10）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2194560"/>
            <a:ext cx="35204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4400">
                <a:solidFill>
                  <a:srgbClr val="B3791F"/>
                </a:solidFill>
                <a:latin typeface="Menlo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3154680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5596A"/>
                </a:solidFill>
                <a:latin typeface="Avenir Next"/>
              </a:rPr>
              <a:t>個世代 / 階段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97680"/>
            <a:ext cx="35204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4400">
                <a:solidFill>
                  <a:srgbClr val="B3791F"/>
                </a:solidFill>
                <a:latin typeface="Menlo"/>
              </a:rPr>
              <a:t>35+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257800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5596A"/>
                </a:solidFill>
                <a:latin typeface="Avenir Next"/>
              </a:rPr>
              <a:t>個 subagent-driven-development 任務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297680"/>
            <a:ext cx="35204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4400">
                <a:solidFill>
                  <a:srgbClr val="B3791F"/>
                </a:solidFill>
                <a:latin typeface="Menlo"/>
              </a:rPr>
              <a:t>104/104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5257800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5596A"/>
                </a:solidFill>
                <a:latin typeface="Avenir Next"/>
              </a:rPr>
              <a:t>現行系統測試通過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4297680"/>
            <a:ext cx="35204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4400">
                <a:solidFill>
                  <a:srgbClr val="B3791F"/>
                </a:solidFill>
                <a:latin typeface="Menlo"/>
              </a:rPr>
              <a:t>4×3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5257800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5596A"/>
                </a:solidFill>
                <a:latin typeface="Avenir Next"/>
              </a:rPr>
              <a:t>角色 × 讀／寫／封存 權限矩陣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6F6B"/>
                </a:solidFill>
                <a:latin typeface="Menlo"/>
              </a:rPr>
              <a:t>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F26"/>
                </a:solidFill>
                <a:latin typeface="Georgia"/>
              </a:rPr>
              <a:t>還沒做完的部分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C1F26"/>
                </a:solidFill>
                <a:latin typeface="Avenir Next"/>
              </a:rPr>
              <a:t>—  分類管理介面 —— 目前 task_categories 只有 API，畫面上還沒有能建立/管理分類的地方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C1F26"/>
                </a:solidFill>
                <a:latin typeface="Avenir Next"/>
              </a:rPr>
              <a:t>—  人員派工／甘特兩個分頁 —— 舊模型版本已移除，要依新的扁平任務模型重新設計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C1F26"/>
                </a:solidFill>
                <a:latin typeface="Avenir Next"/>
              </a:rPr>
              <a:t>—  文件同步已補上：README.md、docs/dev.md 都已對齊現行架構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6F6B"/>
                </a:solidFill>
                <a:latin typeface="Menlo"/>
              </a:rPr>
              <a:t>收尾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400">
                <a:solidFill>
                  <a:srgbClr val="1C1F26"/>
                </a:solidFill>
                <a:latin typeface="Georgia"/>
              </a:rPr>
              <a:t>一支 HTML 檔，走到一套 SaaS。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9875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55596A"/>
                </a:solidFill>
                <a:latin typeface="Avenir Next"/>
              </a:rPr>
              <a:t>技巧不是重點，讓每一步都可以被重現、被審查、被記錄下來 —— 才是真正把「vibe coding」收斂成可以交付的系統的原因。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5596A"/>
                </a:solidFill>
                <a:latin typeface="Menlo"/>
              </a:rPr>
              <a:t>Spring-MissionBoard · 2026-06-08 → 2026-08-10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