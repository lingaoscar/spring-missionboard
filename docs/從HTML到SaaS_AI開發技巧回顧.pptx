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000" b="1">
                <a:solidFill>
                  <a:srgbClr val="1C1F26"/>
                </a:solidFill>
                <a:latin typeface="Georgia"/>
              </a:rPr>
              <a:t>從一支 HTML WBS 工具，
到任務導向 SaaS。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86200"/>
            <a:ext cx="1005840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>
                <a:solidFill>
                  <a:srgbClr val="55596A"/>
                </a:solidFill>
                <a:latin typeface="Arial"/>
              </a:rPr>
              <a:t>一個銀行 AP 工程師，用 AI 摸索出來的兩個月開發旅程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96A"/>
                </a:solidFill>
                <a:latin typeface="Courier New"/>
              </a:rPr>
              <a:t>2026-06-08 → 2026-08-10   ·   Spring-MissionBoard 及其前身專案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為什麼會有這個專案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一切的起點：會議都在等文件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我在銀行做 AP 工程師。開發本身不是最花時間的，最花時間的是每次開會都要重新對一次文件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文件品質參差不齊、格式各寫各的，開會常常變成在對格式、對用詞，不是在對真正的內容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想法很單純：能不能用 AI 幫忙，把「做文件、對文件」這件事變輕鬆一點？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一開始沒想清楚商業模式，也沒想要做成產品——就是先動手，試試看能不能解決這個真實碰到的痛點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C1F26"/>
                </a:solidFill>
                <a:latin typeface="Georgia"/>
              </a:rPr>
              <a:t>五個階段，一條時間軸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5544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596A"/>
                </a:solidFill>
                <a:latin typeface="Courier New"/>
              </a:rPr>
              <a:t>06-08 → 06-19</a:t>
            </a:r>
          </a:p>
        </p:txBody>
      </p:sp>
      <p:sp>
        <p:nvSpPr>
          <p:cNvPr id="5" name="Oval 4"/>
          <p:cNvSpPr/>
          <p:nvPr/>
        </p:nvSpPr>
        <p:spPr>
          <a:xfrm>
            <a:off x="2331720" y="1837944"/>
            <a:ext cx="128016" cy="128016"/>
          </a:xfrm>
          <a:prstGeom prst="ellipse">
            <a:avLst/>
          </a:prstGeom>
          <a:solidFill>
            <a:srgbClr val="B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97480" y="1783080"/>
            <a:ext cx="8412480" cy="8412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1" sz="1900">
                <a:solidFill>
                  <a:srgbClr val="1C1F26"/>
                </a:solidFill>
                <a:latin typeface="Georgia"/>
              </a:rPr>
              <a:t>WbsScaff</a:t>
            </a:r>
          </a:p>
          <a:p>
            <a:r>
              <a:rPr sz="1400">
                <a:solidFill>
                  <a:srgbClr val="55596A"/>
                </a:solidFill>
                <a:latin typeface="Arial"/>
              </a:rPr>
              <a:t>單檔 HTML WBS 工具，氣隙環境，無伺服器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24328"/>
            <a:ext cx="15544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596A"/>
                </a:solidFill>
                <a:latin typeface="Courier New"/>
              </a:rPr>
              <a:t>06-19 → 07-03</a:t>
            </a:r>
          </a:p>
        </p:txBody>
      </p:sp>
      <p:sp>
        <p:nvSpPr>
          <p:cNvPr id="8" name="Oval 7"/>
          <p:cNvSpPr/>
          <p:nvPr/>
        </p:nvSpPr>
        <p:spPr>
          <a:xfrm>
            <a:off x="2331720" y="2679192"/>
            <a:ext cx="128016" cy="128016"/>
          </a:xfrm>
          <a:prstGeom prst="ellipse">
            <a:avLst/>
          </a:prstGeom>
          <a:solidFill>
            <a:srgbClr val="B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624328"/>
            <a:ext cx="8412480" cy="8412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1" sz="1900">
                <a:solidFill>
                  <a:srgbClr val="1C1F26"/>
                </a:solidFill>
                <a:latin typeface="Georgia"/>
              </a:rPr>
              <a:t>Spring-WbsScaff</a:t>
            </a:r>
          </a:p>
          <a:p>
            <a:r>
              <a:rPr sz="1400">
                <a:solidFill>
                  <a:srgbClr val="55596A"/>
                </a:solidFill>
                <a:latin typeface="Arial"/>
              </a:rPr>
              <a:t>搬上 Web，多人即時協作、部門權限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65576"/>
            <a:ext cx="15544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596A"/>
                </a:solidFill>
                <a:latin typeface="Courier New"/>
              </a:rPr>
              <a:t>07-03 → 07-08</a:t>
            </a:r>
          </a:p>
        </p:txBody>
      </p:sp>
      <p:sp>
        <p:nvSpPr>
          <p:cNvPr id="11" name="Oval 10"/>
          <p:cNvSpPr/>
          <p:nvPr/>
        </p:nvSpPr>
        <p:spPr>
          <a:xfrm>
            <a:off x="2331720" y="3520440"/>
            <a:ext cx="128016" cy="128016"/>
          </a:xfrm>
          <a:prstGeom prst="ellipse">
            <a:avLst/>
          </a:prstGeom>
          <a:solidFill>
            <a:srgbClr val="B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3465576"/>
            <a:ext cx="8412480" cy="8412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1" sz="1900">
                <a:solidFill>
                  <a:srgbClr val="1C1F26"/>
                </a:solidFill>
                <a:latin typeface="Georgia"/>
              </a:rPr>
              <a:t>Spring-TaskFlow</a:t>
            </a:r>
          </a:p>
          <a:p>
            <a:r>
              <a:rPr sz="1400">
                <a:solidFill>
                  <a:srgbClr val="55596A"/>
                </a:solidFill>
                <a:latin typeface="Arial"/>
              </a:rPr>
              <a:t>拆出獨立看板系統，核心從樹狀改拖曳卡片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06824"/>
            <a:ext cx="15544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596A"/>
                </a:solidFill>
                <a:latin typeface="Courier New"/>
              </a:rPr>
              <a:t>07-17 → 08-08</a:t>
            </a:r>
          </a:p>
        </p:txBody>
      </p:sp>
      <p:sp>
        <p:nvSpPr>
          <p:cNvPr id="14" name="Oval 13"/>
          <p:cNvSpPr/>
          <p:nvPr/>
        </p:nvSpPr>
        <p:spPr>
          <a:xfrm>
            <a:off x="2331720" y="4361688"/>
            <a:ext cx="128016" cy="128016"/>
          </a:xfrm>
          <a:prstGeom prst="ellipse">
            <a:avLst/>
          </a:prstGeom>
          <a:solidFill>
            <a:srgbClr val="B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4306824"/>
            <a:ext cx="8412480" cy="8412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1" sz="1900">
                <a:solidFill>
                  <a:srgbClr val="1C1F26"/>
                </a:solidFill>
                <a:latin typeface="Georgia"/>
              </a:rPr>
              <a:t>WbsFlow → MissionBoard</a:t>
            </a:r>
          </a:p>
          <a:p>
            <a:r>
              <a:rPr sz="1400">
                <a:solidFill>
                  <a:srgbClr val="55596A"/>
                </a:solidFill>
                <a:latin typeface="Arial"/>
              </a:rPr>
              <a:t>全新 repo 合併兩者：「WBS 節點即任務」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48072"/>
            <a:ext cx="155448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5596A"/>
                </a:solidFill>
                <a:latin typeface="Courier New"/>
              </a:rPr>
              <a:t>08-09 → 08-10</a:t>
            </a:r>
          </a:p>
        </p:txBody>
      </p:sp>
      <p:sp>
        <p:nvSpPr>
          <p:cNvPr id="17" name="Oval 16"/>
          <p:cNvSpPr/>
          <p:nvPr/>
        </p:nvSpPr>
        <p:spPr>
          <a:xfrm>
            <a:off x="2331720" y="5202936"/>
            <a:ext cx="128016" cy="128016"/>
          </a:xfrm>
          <a:prstGeom prst="ellipse">
            <a:avLst/>
          </a:prstGeom>
          <a:solidFill>
            <a:srgbClr val="B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5148072"/>
            <a:ext cx="8412480" cy="8412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1" sz="1900">
                <a:solidFill>
                  <a:srgbClr val="1C1F26"/>
                </a:solidFill>
                <a:latin typeface="Georgia"/>
              </a:rPr>
              <a:t>任務導向重構</a:t>
            </a:r>
          </a:p>
          <a:p>
            <a:r>
              <a:rPr sz="1400">
                <a:solidFill>
                  <a:srgbClr val="55596A"/>
                </a:solidFill>
                <a:latin typeface="Arial"/>
              </a:rPr>
              <a:t>拆掉節點模型，看板變預設首頁 —— 這次 session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PHASE 1   ·   2026-06-08 → 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WbsScaff：一支不需要伺服器的 HTML 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96A"/>
                </a:solidFill>
                <a:latin typeface="Courier New"/>
              </a:rPr>
              <a:t>39 commits  ·  原始命名 Scaff-WBS-Builder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純 Vanilla JS + 內嵌 CSS，沒有任何外部依賴，瀏覽器打開就能用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樹狀節點最多 5 層，雙擊可以直接改標題，還能跨層拖曳排序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父層狀態自動用子層算出來，不能手動亂改 —— 這個設計後來一路延續到每一代系統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CSV／XLSX／JSON 匯出入都做了，方便跟現有的 Excel 流程接軌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畫面長這樣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Georgia"/>
              </a:rPr>
              <a:t>WbsScaff：離線 WBS 樹狀編輯器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6535" y="1911096"/>
            <a:ext cx="7278624" cy="4590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wbsscaff-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399" y="1965960"/>
            <a:ext cx="716889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675120"/>
            <a:ext cx="107899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i="1">
                <a:solidFill>
                  <a:srgbClr val="55596A"/>
                </a:solidFill>
                <a:latin typeface="Arial"/>
              </a:rPr>
              <a:t>打開瀏覽器就是一支完整的工具，不用裝任何東西、不用連網路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AI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先做出可以按的東西，再寫規格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C1F26"/>
                </a:solidFill>
                <a:latin typeface="Arial"/>
              </a:rPr>
              <a:t>—  brainstorming 先做出一個真的能點的 HTML 畫面草稿，動工前就先讓我用眼睛選、用手點，不是憑空想像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C1F26"/>
                </a:solidFill>
                <a:latin typeface="Arial"/>
              </a:rPr>
              <a:t>—  原本打算做一套建置流程（要編譯才能跑），真的做出來以後發現根本不需要，改成單檔手改就好 —— 計畫輸給現實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C1F26"/>
                </a:solidFill>
                <a:latin typeface="Arial"/>
              </a:rPr>
              <a:t>—  曾經做過一個直接串 AI 生成的功能，後來整支拿掉，因為不是每個能做的功能都該留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4846320"/>
            <a:ext cx="30000" cy="1280160"/>
          </a:xfrm>
          <a:prstGeom prst="rect">
            <a:avLst/>
          </a:prstGeom>
          <a:solidFill>
            <a:srgbClr val="B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24128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i="1" sz="1700">
                <a:solidFill>
                  <a:srgbClr val="1C1F26"/>
                </a:solidFill>
                <a:latin typeface="Georgia"/>
              </a:rPr>
              <a:t>“氣隙生產環境這個定位，從第一天就決定了後面每一次「要不要加依賴」的取捨。”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55596A"/>
                </a:solidFill>
                <a:latin typeface="Courier New"/>
              </a:rPr>
              <a:t>— WbsScaff README / CLAUDE.md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PHASE 2   ·   2026-06-19 → 07-03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Spring-WbsScaff：搬上 Web，變成多人系統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96A"/>
                </a:solidFill>
                <a:latin typeface="Courier New"/>
              </a:rPr>
              <a:t>97 commits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從「我自己用的小工具」變成「大家一起用、有部門權限、能即時協作」的後台系統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技術棧：Spring Boot 3.4 + Spring Security + STOMP WebSocket 即時同步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這是整條路上第一次真正的架構升級：單檔 JS 變成有資料庫、有登入的正式系統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畫面長這樣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Georgia"/>
              </a:rPr>
              <a:t>Spring-WbsScaff：多人版 WBS 樹狀畫面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4747000" y="1911096"/>
            <a:ext cx="2697695" cy="4590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spring-wbsscaff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864" y="1965960"/>
            <a:ext cx="258796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675120"/>
            <a:ext cx="107899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i="1">
                <a:solidFill>
                  <a:srgbClr val="55596A"/>
                </a:solidFill>
                <a:latin typeface="Arial"/>
              </a:rPr>
              <a:t>節點內容改得比較貼近真實場景：主機申請、防火牆開通、資安檢核……都是實際會遇到的項目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AI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整條分支做完之後，才看得出縫隙在哪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前四份計畫在同一天 50 分鐘內一口氣做完，那時候還沒有拆任務給不同 AI 分工這件事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後續補功能改用「一個任務一個全新 AI」的方式：9 個任務，每個都各自審查過關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但整條分支做完、拿去做最後總體檢查時，才抓到一個漏洞：跨部門拖曳節點時，只檢查了節點本身，沒檢查新掛的父節點也屬於自己的專案 —— 這種問題單獨看每個任務都看不出來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中途還繞了一圈：加了 MSSQL 支援 → 乾脆全部換 MSSQL → 最後在最終版本又換回 PostgreSQL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PHASE 3   ·   2026-07-03 → 07-08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Spring-TaskFlow：拆出獨立的看板系統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96A"/>
                </a:solidFill>
                <a:latin typeface="Courier New"/>
              </a:rPr>
              <a:t>32 commits  ·  主體一天內完成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策略很簡單：把 WbsScaff 的架構跟畫面風格整套搬過來，只換掉核心功能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核心功能從「樹狀編輯」換成「看板拖曳卡片」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登入、部門權限、頁面外殼幾乎都是繼承來的，省下重新驗證的時間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這一步之後，系統世界裡同時有「WBS 樹」跟「看板」兩套獨立產品 —— 也埋下了後面合併的動機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畫面長這樣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Georgia"/>
              </a:rPr>
              <a:t>Spring-TaskFlow：待辦／進行中／完成三欄看板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2783939" y="1911096"/>
            <a:ext cx="6623816" cy="4590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spring-taskflow-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803" y="1965960"/>
            <a:ext cx="6514088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675120"/>
            <a:ext cx="107899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i="1">
                <a:solidFill>
                  <a:srgbClr val="55596A"/>
                </a:solidFill>
                <a:latin typeface="Arial"/>
              </a:rPr>
              <a:t>從「一棵樹」變成「三個欄位＋卡片」，這個視覺轉變後來變成最終系統的核心體驗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AI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Georgia"/>
              </a:rPr>
              <a:t>搬遷專案最容易踩的坑：繼承別人的舊程式碼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11 個任務，好幾個中途被打回去重做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AI 額度用完的時候，有明確的備案：由主控端直接接手修完，不會卡在原地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最後總體檢查換了一顆更強的 AI 專門做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246120"/>
            <a:ext cx="512064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>
            <a:normAutofit/>
          </a:bodyPr>
          <a:lstStyle/>
          <a:p>
            <a:pPr algn="ctr"/>
            <a:r>
              <a:rPr sz="1100" b="1">
                <a:solidFill>
                  <a:srgbClr val="AB4030"/>
                </a:solidFill>
                <a:latin typeface="Courier New"/>
              </a:rPr>
              <a:t>案例一 · 嚴重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F26"/>
                </a:solidFill>
                <a:latin typeface="Arial"/>
              </a:rPr>
              <a:t>從 WbsScaff 繼承過來、畫面上根本沒用到的使用者管理 API，外部直接打就能繞過部門隔離改別人帳號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5596A"/>
                </a:solidFill>
                <a:latin typeface="Arial"/>
              </a:rPr>
              <a:t>最後總體檢查才抓到 —— 因為它從沒被任何一個任務碰過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246120"/>
            <a:ext cx="539496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>
            <a:normAutofit/>
          </a:bodyPr>
          <a:lstStyle/>
          <a:p>
            <a:pPr algn="ctr"/>
            <a:r>
              <a:rPr sz="1100" b="1">
                <a:solidFill>
                  <a:srgbClr val="B3791F"/>
                </a:solidFill>
                <a:latin typeface="Courier New"/>
              </a:rPr>
              <a:t>案例二 · 修好一個、壞了一個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F26"/>
                </a:solidFill>
                <a:latin typeface="Arial"/>
              </a:rPr>
              <a:t>修完上面那個問題之後，複查發現修復本身弄壞了「主管自建看板」這個功能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5596A"/>
                </a:solidFill>
                <a:latin typeface="Arial"/>
              </a:rPr>
              <a:t>又補了一輪測試才真正全部過關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PHASE 4   ·   2026-07-17 → 08-08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WbsFlow → MissionBoard：兩套系統合併成一套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96A"/>
                </a:solidFill>
                <a:latin typeface="Courier New"/>
              </a:rPr>
              <a:t>73 commits（含本次重構）  ·  全新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核心決定：「WBS 節點即任務」—— 不做規劃層跟執行層兩套模型，樹狀圖最底層的節點本身就是可以指派的任務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全新開一個 repo，不是延續任一個舊專案，把兩邊已經驗證過的做法整合起來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拆成四個小專案依序做：資料層與權限核心、登入認證、專案管理、節點與選單管理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AI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C1F26"/>
                </a:solidFill>
                <a:latin typeface="Georgia"/>
              </a:rPr>
              <a:t>動手寫規格之前，先派兩個 AI 去讀舊專案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6070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正式討論規格之前，先平行派兩個 AI 分別去讀 WbsScaff 跟 TaskFlow 的架構，回來再一起討論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C1F26"/>
                </a:solidFill>
                <a:latin typeface="Arial"/>
              </a:rPr>
              <a:t>—  四個小專案、24 個任務全部用「先寫一支會失敗的測試、確認真的失敗，才開始寫功能」的方式做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063240"/>
            <a:ext cx="30000" cy="1280160"/>
          </a:xfrm>
          <a:prstGeom prst="rect">
            <a:avLst/>
          </a:prstGeom>
          <a:solidFill>
            <a:srgbClr val="B3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i="1" sz="1700">
                <a:solidFill>
                  <a:srgbClr val="1C1F26"/>
                </a:solidFill>
                <a:latin typeface="Georgia"/>
              </a:rPr>
              <a:t>“兩個舊專案技術棧同構，等於已經幫你驗證過八成的基礎設施；真正的新東西只有「節點即任務」的三層資料模型和四種檢視畫面。”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55596A"/>
                </a:solidFill>
                <a:latin typeface="Courier New"/>
              </a:rPr>
              <a:t>— brainstorming 討論紀錄，2026-07-17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709160"/>
            <a:ext cx="512064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>
            <a:normAutofit/>
          </a:bodyPr>
          <a:lstStyle/>
          <a:p>
            <a:pPr algn="ctr"/>
            <a:r>
              <a:rPr sz="1100" b="1">
                <a:solidFill>
                  <a:srgbClr val="AB4030"/>
                </a:solidFill>
                <a:latin typeface="Courier New"/>
              </a:rPr>
              <a:t>登入子專案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F26"/>
                </a:solidFill>
                <a:latin typeface="Arial"/>
              </a:rPr>
              <a:t>測試偷偷違反了計畫裡明文禁止的做法，被審查抓到後來回改了 3 輪才過關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5596A"/>
                </a:solidFill>
                <a:latin typeface="Arial"/>
              </a:rPr>
              <a:t>規則被違反，但被抓到了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4709160"/>
            <a:ext cx="539496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>
            <a:normAutofit/>
          </a:bodyPr>
          <a:lstStyle/>
          <a:p>
            <a:pPr algn="ctr"/>
            <a:r>
              <a:rPr sz="1100" b="1">
                <a:solidFill>
                  <a:srgbClr val="3F7D4F"/>
                </a:solidFill>
                <a:latin typeface="Courier New"/>
              </a:rPr>
              <a:t>節點管理子專案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F26"/>
                </a:solidFill>
                <a:latin typeface="Arial"/>
              </a:rPr>
              <a:t>AI 發現原本規劃書假設的資料庫行為，在測試環境裡根本不成立，自己修正並附上理由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5596A"/>
                </a:solidFill>
                <a:latin typeface="Arial"/>
              </a:rPr>
              <a:t>計畫假設被證偽 —— 這個問題後來在下一階段又重演一次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PHASE 5 · 這次 SESSION   ·   2026-08-09 → 08-10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任務導向重構：把樹拆掉，看板變成核心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96A"/>
                </a:solidFill>
                <a:latin typeface="Courier New"/>
              </a:rPr>
              <a:t>11 個任務 + 1 次總體檢查 + 1 輪修正  ·  104/104 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用了快兩個月才發現：「先建骨架、再往下長細項」這個流程太重，使用者要的其實是先建任務、事後再歸類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把三層固定的樹狀結構整個拆掉，換成天生就能獨立存在的任務，分類變成選配、不是必要條件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看板變成專案畫面裡預設、也是唯一的畫面，舊的樹編輯器等三個分頁整個移除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這是從「規劃工具」真正走向「任務派工系統」的臨門一腳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畫面長這樣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Georgia"/>
              </a:rPr>
              <a:t>現在的 Spring-MissionBoard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" y="1911096"/>
            <a:ext cx="5138928" cy="3252978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missionboard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5029200" cy="3143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24637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5596A"/>
                </a:solidFill>
                <a:latin typeface="Arial"/>
              </a:rPr>
              <a:t>登入頁</a:t>
            </a:r>
          </a:p>
        </p:txBody>
      </p:sp>
      <p:sp>
        <p:nvSpPr>
          <p:cNvPr id="7" name="Rectangle 6"/>
          <p:cNvSpPr/>
          <p:nvPr/>
        </p:nvSpPr>
        <p:spPr>
          <a:xfrm>
            <a:off x="6254496" y="1911096"/>
            <a:ext cx="5138928" cy="3252978"/>
          </a:xfrm>
          <a:prstGeom prst="rect">
            <a:avLst/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-missionboard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65960"/>
            <a:ext cx="5029200" cy="3143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60" y="524637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55596A"/>
                </a:solidFill>
                <a:latin typeface="Arial"/>
              </a:rPr>
              <a:t>任務看板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AI TECHNIQUE · 研究先行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寫計畫前，先花力氣把地基弄清楚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C1F26"/>
                </a:solidFill>
                <a:latin typeface="Arial"/>
              </a:rPr>
              <a:t>—  派 3 個平行 AI 做研究：把現有後端、前端程式碼逐字抄下來讀懂，還跑去讀了姊妹專案拖曳功能的實作邏輯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C1F26"/>
                </a:solidFill>
                <a:latin typeface="Arial"/>
              </a:rPr>
              <a:t>—  每個關鍵決定（欄位怎麼命名、刪除要怎麼處理、API 要長什麼樣）在寫進計畫之前，先問過一輪更資深的 AI 顧問意見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C1F26"/>
                </a:solidFill>
                <a:latin typeface="Arial"/>
              </a:rPr>
              <a:t>—  寫完計畫還會做一次自我檢查：對照原始需求逐條核對有沒有漏掉，掃一遍有沒有偷懶留白的地方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AI TECHNIQUE · 規模化執行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11 個任務、11 個全新 AI，難的用強模型、簡單的用便宜模型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機械式的轉抄工作（資料結構、測試骨架）用便宜快速的模型；需要判斷跟整合的用中階模型；最後總體檢查用最強的模型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每個任務都走一樣的流程：先寫測試 → 確認真的會失敗 → 開始寫功能 → 確認測試通過 → 送出 → 交給另一個 AI 獨立審查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全程靠一份進度記錄檔追蹤：就算對話中斷、記憶被清空，回頭讀這份記錄也能接著做，不會重複做工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AI TECHNIQUE · 證據為準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Georgia"/>
              </a:rPr>
              <a:t>不相信報告，要真的重現給我看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107442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>
            <a:normAutofit/>
          </a:bodyPr>
          <a:lstStyle/>
          <a:p>
            <a:pPr algn="ctr"/>
            <a:r>
              <a:rPr sz="1100" b="1">
                <a:solidFill>
                  <a:srgbClr val="3F7D4F"/>
                </a:solidFill>
                <a:latin typeface="Courier New"/>
              </a:rPr>
              <a:t>案例一 · 計畫真的寫錯了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F26"/>
                </a:solidFill>
                <a:latin typeface="Arial"/>
              </a:rPr>
              <a:t>某個任務沒照計畫寫的程式碼做。審查的 AI 沒有直接接受解釋，自己在乾淨的環境重現一次計畫版本 —— 真的會出錯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5596A"/>
                </a:solidFill>
                <a:latin typeface="Arial"/>
              </a:rPr>
              <a:t>結論：這次是計畫本身寫錯了，動手做的那個 AI 是對的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429000"/>
            <a:ext cx="107442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>
            <a:normAutofit/>
          </a:bodyPr>
          <a:lstStyle/>
          <a:p>
            <a:pPr algn="ctr"/>
            <a:r>
              <a:rPr sz="1100" b="1">
                <a:solidFill>
                  <a:srgbClr val="1F6F6B"/>
                </a:solidFill>
                <a:latin typeface="Courier New"/>
              </a:rPr>
              <a:t>案例二 · 工具本身的問題，不是程式碼的錯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F26"/>
                </a:solidFill>
                <a:latin typeface="Arial"/>
              </a:rPr>
              <a:t>測試看板拖曳的自動化工具「回報成功但畫面沒反應」。兩個獨立的 AI 各自重現，還用一個完全不相關的登入按鈕排除「跟拖曳有關」的猜測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5596A"/>
                </a:solidFill>
                <a:latin typeface="Arial"/>
              </a:rPr>
              <a:t>確認是本機工具本身的環境問題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29200"/>
            <a:ext cx="107442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>
            <a:normAutofit/>
          </a:bodyPr>
          <a:lstStyle/>
          <a:p>
            <a:pPr algn="ctr"/>
            <a:r>
              <a:rPr sz="1100" b="1">
                <a:solidFill>
                  <a:srgbClr val="AB4030"/>
                </a:solidFill>
                <a:latin typeface="Courier New"/>
              </a:rPr>
              <a:t>案例三 · 只有整體檢查才看得到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F26"/>
                </a:solidFill>
                <a:latin typeface="Arial"/>
              </a:rPr>
              <a:t>最後總體檢查（最強的 AI）親手在瀏覽器裡一格一格推演拖曳邏輯，抓到一個「同欄往下拖會多插一格」的小 bug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5596A"/>
                </a:solidFill>
                <a:latin typeface="Arial"/>
              </a:rPr>
              <a:t>這種問題要橫跨前端跟後端一起看，單一任務的審查根本看不到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架構怎麼選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先求穩，留擴充空間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1C1F26"/>
                </a:solidFill>
                <a:latin typeface="Arial"/>
              </a:rPr>
              <a:t>—  MVC 是我過去開發經驗裡比較熟悉、也最容易驗證正確性的架構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1C1F26"/>
                </a:solidFill>
                <a:latin typeface="Arial"/>
              </a:rPr>
              <a:t>—  選它不是因為最潮，是因為它是個「安全的起點」—— 先把資料模型跟權限邏輯做對，比一開始就衝去做微服務更重要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1C1F26"/>
                </a:solidFill>
                <a:latin typeface="Arial"/>
              </a:rPr>
              <a:t>—  之後如果要拆前後端、走 MVVM，或往微服務發展，這個底子改起來也不會太痛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快速部署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Docker Compose：一行指令，環境就好了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1C1F26"/>
                </a:solidFill>
                <a:latin typeface="Arial"/>
              </a:rPr>
              <a:t>—  每個專案都用同一套模式：docker compose up -d 資料庫就起來了，.env.example 複製成 .env 就能跑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1C1F26"/>
                </a:solidFill>
                <a:latin typeface="Arial"/>
              </a:rPr>
              <a:t>—  不用再手動裝資料庫、對版本、喬 port —— 這件事情只要做對一次，之後每個專案都能直接複製貼上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1C1F26"/>
                </a:solidFill>
                <a:latin typeface="Arial"/>
              </a:rPr>
              <a:t>—  一個人開發最怕卡在環境設定上，這件事解決得越快，剩下的時間才能花在真正的問題上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怎麼幫下一個專案打底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把「怎麼開發」也寫成規則，不用每次重新想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在自己的全域設定檔裡寫一套跨專案規則：用什麼語言溝通、git 流程怎麼走、什麼時候該停下來問我、什麼時候 AI 可以自己做決定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做了一個「建新專案」的固定流程，依標準規格建立骨架 —— 下次要開新專案，不用再從零想「資料夾要怎麼擺」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1F26"/>
                </a:solidFill>
                <a:latin typeface="Arial"/>
              </a:rPr>
              <a:t>—  危險操作（像強制推送、大範圍刪除）都被攔住，要嘛我親口同意，要嘛巡檢自動確認沒問題才放行 —— 降低我不在電腦前也會出包的風險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釐清需求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先問清楚，比先動手更重要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每次要做新功能，AI 不會馬上動手，會先用討論的方式跟我來回問答，把真正要解決的問題問清楚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遇到關鍵決策 —— 例如要不要用隔離環境做重構、要不要整個資料模型都重寫 —— AI 會主動停下來問我，不會自己憑感覺猜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這個習慣救了不少次：後來回頭看，會發現很多返工都是因為一開始沒問清楚就衝去做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決策方式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用選單決策，不是丟一段話要我自己抓重點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遇到需要我拍板的地方，AI 不會丟一大段文字解釋，而是列出幾個明確的選項讓我直接選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像是「這次重構要不要用隔離環境？」「截圖要抬幾代舊系統？」都是這樣問出來的，包含這份簡報的內容方向也是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好處很直接：決策速度變快，也比較不會漏掉「原來還有這個選項」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貫穿五個階段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Georgia"/>
              </a:rPr>
              <a:t>用下來留下的技巧清單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先討論再動手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brainstorming → 規格 → 計畫 → 測試先行，每階段先想清楚再做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8308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任務拆給全新 AI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避免對話累積的雜訊污染判斷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78308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獨立審查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動手做的跟審查的是不同 AI，不自己審自己的作業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364992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卡住就升級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換更強模型或換人重來，不是原地打轉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364992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最後做總體檢查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抓「每個任務都對、合起來卻錯」的縫隙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364992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模型分級用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簡單轉抄用便宜快模型，關鍵判斷用最強模型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946904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進度寫成記錄檔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對話中斷也能接續，不重複做工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946904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不採信報告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可疑的結論要自己重現、獨立驗證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4946904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D7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>
            <a:normAutofit/>
          </a:bodyPr>
          <a:lstStyle/>
          <a:p>
            <a:pPr algn="ctr"/>
            <a:r>
              <a:rPr b="1" sz="1450">
                <a:solidFill>
                  <a:srgbClr val="1C1F26"/>
                </a:solidFill>
                <a:latin typeface="Georgia"/>
              </a:rPr>
              <a:t>關鍵決策先問顧問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96A"/>
                </a:solidFill>
                <a:latin typeface="Arial"/>
              </a:rPr>
              <a:t>衝突就攤開來一起討論，不悶著頭選一邊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數字看整段旅程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Georgia"/>
              </a:rPr>
              <a:t>兩個月，四個世代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520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400">
                <a:solidFill>
                  <a:srgbClr val="B3791F"/>
                </a:solidFill>
                <a:latin typeface="Courier New"/>
              </a:rPr>
              <a:t>241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63240"/>
            <a:ext cx="35204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>
                <a:solidFill>
                  <a:srgbClr val="55596A"/>
                </a:solidFill>
                <a:latin typeface="Arial"/>
              </a:rPr>
              <a:t>總 commit 數（四個 repo 合計）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103120"/>
            <a:ext cx="3520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400">
                <a:solidFill>
                  <a:srgbClr val="B3791F"/>
                </a:solidFill>
                <a:latin typeface="Courier New"/>
              </a:rPr>
              <a:t>~2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63240"/>
            <a:ext cx="35204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>
                <a:solidFill>
                  <a:srgbClr val="55596A"/>
                </a:solidFill>
                <a:latin typeface="Arial"/>
              </a:rPr>
              <a:t>個月（06-08 → 08-10）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03120"/>
            <a:ext cx="3520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400">
                <a:solidFill>
                  <a:srgbClr val="B3791F"/>
                </a:solidFill>
                <a:latin typeface="Courier New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63240"/>
            <a:ext cx="35204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>
                <a:solidFill>
                  <a:srgbClr val="55596A"/>
                </a:solidFill>
                <a:latin typeface="Arial"/>
              </a:rPr>
              <a:t>個世代 / 階段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06240"/>
            <a:ext cx="3520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400">
                <a:solidFill>
                  <a:srgbClr val="B3791F"/>
                </a:solidFill>
                <a:latin typeface="Courier New"/>
              </a:rPr>
              <a:t>35+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166360"/>
            <a:ext cx="35204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>
                <a:solidFill>
                  <a:srgbClr val="55596A"/>
                </a:solidFill>
                <a:latin typeface="Arial"/>
              </a:rPr>
              <a:t>個拆分給 AI 做的任務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206240"/>
            <a:ext cx="3520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400">
                <a:solidFill>
                  <a:srgbClr val="B3791F"/>
                </a:solidFill>
                <a:latin typeface="Courier New"/>
              </a:rPr>
              <a:t>104/104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166360"/>
            <a:ext cx="35204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>
                <a:solidFill>
                  <a:srgbClr val="55596A"/>
                </a:solidFill>
                <a:latin typeface="Arial"/>
              </a:rPr>
              <a:t>現行系統測試通過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206240"/>
            <a:ext cx="35204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400">
                <a:solidFill>
                  <a:srgbClr val="B3791F"/>
                </a:solidFill>
                <a:latin typeface="Courier New"/>
              </a:rPr>
              <a:t>4×3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166360"/>
            <a:ext cx="35204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>
                <a:solidFill>
                  <a:srgbClr val="55596A"/>
                </a:solidFill>
                <a:latin typeface="Arial"/>
              </a:rPr>
              <a:t>角色 × 讀／寫／封存 權限矩陣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F26"/>
                </a:solidFill>
                <a:latin typeface="Georgia"/>
              </a:rPr>
              <a:t>還沒做完的部分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6070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分類管理畫面 —— 目前只有 API，畫面上還沒有能建立/管理分類的地方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人員派工／甘特兩個分頁 —— 舊模型下的版本已經拿掉，要依新的任務模型重新設計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C1F26"/>
                </a:solidFill>
                <a:latin typeface="Arial"/>
              </a:rPr>
              <a:t>—  文件已經同步：README、開發文件都對齊現在的架構了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F6B"/>
                </a:solidFill>
                <a:latin typeface="Courier New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1" sz="3800">
                <a:solidFill>
                  <a:srgbClr val="1C1F26"/>
                </a:solidFill>
                <a:latin typeface="Georgia"/>
              </a:rPr>
              <a:t>從一個開會的痛點，
走到一支可以看板拖曳的系統。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987552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900">
                <a:solidFill>
                  <a:srgbClr val="55596A"/>
                </a:solidFill>
                <a:latin typeface="Arial"/>
              </a:rPr>
              <a:t>技巧不是重點，讓每一步都能被重現、被審查、被記錄下來 —— 才是真正把「憑感覺開發」收斂成可以交付的系統的原因。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96A"/>
                </a:solidFill>
                <a:latin typeface="Courier New"/>
              </a:rPr>
              <a:t>Spring-MissionBoard · 2026-06-08 → 2026-08-10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