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大標題文字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12" name="內文層級一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1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21" name="內文層級一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2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大標題文字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大標題文字</a:t>
            </a:r>
          </a:p>
        </p:txBody>
      </p:sp>
      <p:sp>
        <p:nvSpPr>
          <p:cNvPr id="30" name="內文層級一…"/>
          <p:cNvSpPr txBox="1"/>
          <p:nvPr>
            <p:ph type="body" sz="quarter" idx="1"/>
          </p:nvPr>
        </p:nvSpPr>
        <p:spPr>
          <a:xfrm>
            <a:off x="722312" y="2906713"/>
            <a:ext cx="7772401" cy="1500201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3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39" name="內文層級一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48" name="內文層級一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77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58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大標題文字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73" name="內文層級一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大標題文字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4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內文層級一…"/>
          <p:cNvSpPr txBox="1"/>
          <p:nvPr>
            <p:ph type="body" sz="quarter" idx="1"/>
          </p:nvPr>
        </p:nvSpPr>
        <p:spPr>
          <a:xfrm>
            <a:off x="1792288" y="5367337"/>
            <a:ext cx="5486404" cy="80487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8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Connector 2"/>
          <p:cNvSpPr/>
          <p:nvPr/>
        </p:nvSpPr>
        <p:spPr>
          <a:xfrm>
            <a:off x="685800" y="914400"/>
            <a:ext cx="2377441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6" name="Oval 3"/>
          <p:cNvSpPr/>
          <p:nvPr/>
        </p:nvSpPr>
        <p:spPr>
          <a:xfrm>
            <a:off x="658368" y="886967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7" name="Oval 4"/>
          <p:cNvSpPr/>
          <p:nvPr/>
        </p:nvSpPr>
        <p:spPr>
          <a:xfrm>
            <a:off x="1450847" y="886967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8" name="Oval 5"/>
          <p:cNvSpPr/>
          <p:nvPr/>
        </p:nvSpPr>
        <p:spPr>
          <a:xfrm>
            <a:off x="2243327" y="886967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9" name="Oval 6"/>
          <p:cNvSpPr/>
          <p:nvPr/>
        </p:nvSpPr>
        <p:spPr>
          <a:xfrm>
            <a:off x="3035807" y="886967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0" name="TextBox 7"/>
          <p:cNvSpPr txBox="1"/>
          <p:nvPr/>
        </p:nvSpPr>
        <p:spPr>
          <a:xfrm>
            <a:off x="685799" y="1280160"/>
            <a:ext cx="10607042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SPRING-MISSIONBOARD  ·  技術回顧</a:t>
            </a:r>
          </a:p>
        </p:txBody>
      </p:sp>
      <p:sp>
        <p:nvSpPr>
          <p:cNvPr id="101" name="TextBox 8"/>
          <p:cNvSpPr txBox="1"/>
          <p:nvPr/>
        </p:nvSpPr>
        <p:spPr>
          <a:xfrm>
            <a:off x="685799" y="1828800"/>
            <a:ext cx="10607042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08000"/>
              </a:lnSpc>
              <a:defRPr sz="46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時間都去哪了？</a:t>
            </a:r>
          </a:p>
        </p:txBody>
      </p:sp>
      <p:sp>
        <p:nvSpPr>
          <p:cNvPr id="102" name="TextBox 9"/>
          <p:cNvSpPr txBox="1"/>
          <p:nvPr/>
        </p:nvSpPr>
        <p:spPr>
          <a:xfrm>
            <a:off x="685799" y="3063239"/>
            <a:ext cx="106070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4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 HTML 到 SaaS 雜談</a:t>
            </a:r>
          </a:p>
        </p:txBody>
      </p:sp>
      <p:sp>
        <p:nvSpPr>
          <p:cNvPr id="103" name="Connector 10"/>
          <p:cNvSpPr/>
          <p:nvPr/>
        </p:nvSpPr>
        <p:spPr>
          <a:xfrm>
            <a:off x="685800" y="4663440"/>
            <a:ext cx="4983481" cy="1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" name="TextBox 11"/>
          <p:cNvSpPr txBox="1"/>
          <p:nvPr/>
        </p:nvSpPr>
        <p:spPr>
          <a:xfrm>
            <a:off x="685800" y="4846320"/>
            <a:ext cx="82296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7DE3F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2026-06-08 → 2026-08-10   ·   Spring-MissionBoard 及其前身專案</a:t>
            </a:r>
          </a:p>
        </p:txBody>
      </p:sp>
      <p:grpSp>
        <p:nvGrpSpPr>
          <p:cNvPr id="107" name="Rounded Rectangle 12"/>
          <p:cNvGrpSpPr/>
          <p:nvPr/>
        </p:nvGrpSpPr>
        <p:grpSpPr>
          <a:xfrm>
            <a:off x="685800" y="6126479"/>
            <a:ext cx="2999233" cy="310897"/>
            <a:chOff x="0" y="0"/>
            <a:chExt cx="2999232" cy="310895"/>
          </a:xfrm>
        </p:grpSpPr>
        <p:sp>
          <p:nvSpPr>
            <p:cNvPr id="105" name="圓角矩形"/>
            <p:cNvSpPr/>
            <p:nvPr/>
          </p:nvSpPr>
          <p:spPr>
            <a:xfrm>
              <a:off x="0" y="0"/>
              <a:ext cx="2999233" cy="31089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6" name="personal project"/>
            <p:cNvSpPr txBox="1"/>
            <p:nvPr/>
          </p:nvSpPr>
          <p:spPr>
            <a:xfrm>
              <a:off x="820414" y="72898"/>
              <a:ext cx="1358404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22D3EE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personal project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"/>
          <p:cNvSpPr txBox="1"/>
          <p:nvPr/>
        </p:nvSpPr>
        <p:spPr>
          <a:xfrm>
            <a:off x="685800" y="640080"/>
            <a:ext cx="10807659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DISCLAIMER</a:t>
            </a:r>
          </a:p>
        </p:txBody>
      </p:sp>
      <p:sp>
        <p:nvSpPr>
          <p:cNvPr id="110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這份簡報的所有內容，都是我個人興趣開發</a:t>
            </a:r>
          </a:p>
        </p:txBody>
      </p:sp>
      <p:sp>
        <p:nvSpPr>
          <p:cNvPr id="111" name="Connector 3"/>
          <p:cNvSpPr/>
          <p:nvPr/>
        </p:nvSpPr>
        <p:spPr>
          <a:xfrm>
            <a:off x="685797" y="1664205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2" name="Oval 4"/>
          <p:cNvSpPr/>
          <p:nvPr/>
        </p:nvSpPr>
        <p:spPr>
          <a:xfrm>
            <a:off x="658368" y="163677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" name="Oval 5"/>
          <p:cNvSpPr/>
          <p:nvPr/>
        </p:nvSpPr>
        <p:spPr>
          <a:xfrm>
            <a:off x="106984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Oval 6"/>
          <p:cNvSpPr/>
          <p:nvPr/>
        </p:nvSpPr>
        <p:spPr>
          <a:xfrm>
            <a:off x="148132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Oval 7"/>
          <p:cNvSpPr/>
          <p:nvPr/>
        </p:nvSpPr>
        <p:spPr>
          <a:xfrm>
            <a:off x="685800" y="2121405"/>
            <a:ext cx="310896" cy="310905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6" name="TextBox 8"/>
          <p:cNvSpPr txBox="1"/>
          <p:nvPr/>
        </p:nvSpPr>
        <p:spPr>
          <a:xfrm>
            <a:off x="685800" y="2175255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17" name="TextBox 9"/>
          <p:cNvSpPr txBox="1"/>
          <p:nvPr/>
        </p:nvSpPr>
        <p:spPr>
          <a:xfrm>
            <a:off x="1188719" y="2130549"/>
            <a:ext cx="10304741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以下介紹之專案（WbsScaff、Spring-WbsScaff、Spring-TaskFlow、Spring-MissionBoard），均為個人興趣開發，非公司指派或授權之專案</a:t>
            </a:r>
          </a:p>
        </p:txBody>
      </p:sp>
      <p:sp>
        <p:nvSpPr>
          <p:cNvPr id="118" name="Oval 10"/>
          <p:cNvSpPr/>
          <p:nvPr/>
        </p:nvSpPr>
        <p:spPr>
          <a:xfrm>
            <a:off x="685800" y="2834638"/>
            <a:ext cx="310896" cy="310905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TextBox 11"/>
          <p:cNvSpPr txBox="1"/>
          <p:nvPr/>
        </p:nvSpPr>
        <p:spPr>
          <a:xfrm>
            <a:off x="685800" y="2888487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0" name="TextBox 12"/>
          <p:cNvSpPr txBox="1"/>
          <p:nvPr/>
        </p:nvSpPr>
        <p:spPr>
          <a:xfrm>
            <a:off x="1188719" y="2843783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使用之時間與設備均屬個人所有，與現職工作內容無關，亦不代表任何官方立場或部門決策</a:t>
            </a:r>
          </a:p>
        </p:txBody>
      </p:sp>
      <p:sp>
        <p:nvSpPr>
          <p:cNvPr id="121" name="Oval 13"/>
          <p:cNvSpPr/>
          <p:nvPr/>
        </p:nvSpPr>
        <p:spPr>
          <a:xfrm>
            <a:off x="685800" y="3547871"/>
            <a:ext cx="310896" cy="310905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TextBox 14"/>
          <p:cNvSpPr txBox="1"/>
          <p:nvPr/>
        </p:nvSpPr>
        <p:spPr>
          <a:xfrm>
            <a:off x="685800" y="3601718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23" name="TextBox 15"/>
          <p:cNvSpPr txBox="1"/>
          <p:nvPr/>
        </p:nvSpPr>
        <p:spPr>
          <a:xfrm>
            <a:off x="1188719" y="3557015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目前均為個人技術驗證，未經正式上線審查，畫面所示資安、權限設計均為模擬情境，非真實系統</a:t>
            </a:r>
          </a:p>
        </p:txBody>
      </p:sp>
      <p:sp>
        <p:nvSpPr>
          <p:cNvPr id="124" name="Oval 16"/>
          <p:cNvSpPr/>
          <p:nvPr/>
        </p:nvSpPr>
        <p:spPr>
          <a:xfrm>
            <a:off x="685800" y="4261103"/>
            <a:ext cx="310896" cy="310905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TextBox 17"/>
          <p:cNvSpPr txBox="1"/>
          <p:nvPr/>
        </p:nvSpPr>
        <p:spPr>
          <a:xfrm>
            <a:off x="685800" y="4314950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26" name="TextBox 18"/>
          <p:cNvSpPr txBox="1"/>
          <p:nvPr/>
        </p:nvSpPr>
        <p:spPr>
          <a:xfrm>
            <a:off x="1188719" y="4270247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本次僅為開發心得分享交流，非提案亦非報告</a:t>
            </a:r>
          </a:p>
        </p:txBody>
      </p:sp>
      <p:sp>
        <p:nvSpPr>
          <p:cNvPr id="127" name="Oval 19"/>
          <p:cNvSpPr/>
          <p:nvPr/>
        </p:nvSpPr>
        <p:spPr>
          <a:xfrm>
            <a:off x="685800" y="4974335"/>
            <a:ext cx="310896" cy="310905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20"/>
          <p:cNvSpPr txBox="1"/>
          <p:nvPr/>
        </p:nvSpPr>
        <p:spPr>
          <a:xfrm>
            <a:off x="685800" y="5028183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29" name="TextBox 21"/>
          <p:cNvSpPr txBox="1"/>
          <p:nvPr/>
        </p:nvSpPr>
        <p:spPr>
          <a:xfrm>
            <a:off x="1188719" y="4983479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若因本簡報內容引發贊助衝動，歡迎抖內支持一位假日還在寫 code 的 AP 工程師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起點</a:t>
            </a:r>
          </a:p>
        </p:txBody>
      </p:sp>
      <p:sp>
        <p:nvSpPr>
          <p:cNvPr id="132" name="TextBox 2"/>
          <p:cNvSpPr txBox="1"/>
          <p:nvPr/>
        </p:nvSpPr>
        <p:spPr>
          <a:xfrm>
            <a:off x="685800" y="1005839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一切的起點：會議都在等文件</a:t>
            </a:r>
          </a:p>
        </p:txBody>
      </p:sp>
      <p:sp>
        <p:nvSpPr>
          <p:cNvPr id="133" name="Connector 3"/>
          <p:cNvSpPr/>
          <p:nvPr/>
        </p:nvSpPr>
        <p:spPr>
          <a:xfrm>
            <a:off x="685799" y="1664207"/>
            <a:ext cx="82296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4" name="Oval 4"/>
          <p:cNvSpPr/>
          <p:nvPr/>
        </p:nvSpPr>
        <p:spPr>
          <a:xfrm>
            <a:off x="658368" y="1636776"/>
            <a:ext cx="54864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Oval 5"/>
          <p:cNvSpPr/>
          <p:nvPr/>
        </p:nvSpPr>
        <p:spPr>
          <a:xfrm>
            <a:off x="106984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6" name="Oval 6"/>
          <p:cNvSpPr/>
          <p:nvPr/>
        </p:nvSpPr>
        <p:spPr>
          <a:xfrm>
            <a:off x="1481327" y="16367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7" name="Rectangle 7"/>
          <p:cNvSpPr/>
          <p:nvPr/>
        </p:nvSpPr>
        <p:spPr>
          <a:xfrm>
            <a:off x="685799" y="2212848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8" name="TextBox 8"/>
          <p:cNvSpPr txBox="1"/>
          <p:nvPr/>
        </p:nvSpPr>
        <p:spPr>
          <a:xfrm>
            <a:off x="978407" y="2121407"/>
            <a:ext cx="1051505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身為一個 AP，開發本身不是最花時間的，最花時間的是每次開會都要重新對一次文件，格式不對齊、資訊分散</a:t>
            </a:r>
          </a:p>
        </p:txBody>
      </p:sp>
      <p:sp>
        <p:nvSpPr>
          <p:cNvPr id="139" name="Rectangle 9"/>
          <p:cNvSpPr/>
          <p:nvPr/>
        </p:nvSpPr>
        <p:spPr>
          <a:xfrm>
            <a:off x="685799" y="2638679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TextBox 10"/>
          <p:cNvSpPr txBox="1"/>
          <p:nvPr/>
        </p:nvSpPr>
        <p:spPr>
          <a:xfrm>
            <a:off x="978407" y="2547239"/>
            <a:ext cx="10515053" cy="5814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換算一下：每週簡報，一人約 2MB，500 人一週約 1,000MB；一年 52 週下來，約 52,000MB（≈52GB）在四處流通、重複對稿</a:t>
            </a:r>
          </a:p>
        </p:txBody>
      </p:sp>
      <p:sp>
        <p:nvSpPr>
          <p:cNvPr id="141" name="Rectangle 11"/>
          <p:cNvSpPr/>
          <p:nvPr/>
        </p:nvSpPr>
        <p:spPr>
          <a:xfrm>
            <a:off x="685799" y="3344035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2" name="TextBox 12"/>
          <p:cNvSpPr txBox="1"/>
          <p:nvPr/>
        </p:nvSpPr>
        <p:spPr>
          <a:xfrm>
            <a:off x="978407" y="3252596"/>
            <a:ext cx="1051505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其實心裡一直有個嚮往：想親手做出一套真正跑在雲端、大家連上去就能一起用的 SaaS 系統，不只是寫寫離線小工具</a:t>
            </a:r>
          </a:p>
        </p:txBody>
      </p:sp>
      <p:sp>
        <p:nvSpPr>
          <p:cNvPr id="143" name="Rectangle 13"/>
          <p:cNvSpPr/>
          <p:nvPr/>
        </p:nvSpPr>
        <p:spPr>
          <a:xfrm>
            <a:off x="685799" y="4049393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14"/>
          <p:cNvSpPr txBox="1"/>
          <p:nvPr/>
        </p:nvSpPr>
        <p:spPr>
          <a:xfrm>
            <a:off x="978407" y="3957954"/>
            <a:ext cx="1051505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想法很單純：能不能用 AI 幫忙，把「做文件、對文件」這件事變輕鬆一點？</a:t>
            </a:r>
          </a:p>
        </p:txBody>
      </p:sp>
      <p:sp>
        <p:nvSpPr>
          <p:cNvPr id="145" name="Rectangle 15"/>
          <p:cNvSpPr/>
          <p:nvPr/>
        </p:nvSpPr>
        <p:spPr>
          <a:xfrm>
            <a:off x="685799" y="4475224"/>
            <a:ext cx="100586" cy="10058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6" name="TextBox 16"/>
          <p:cNvSpPr txBox="1"/>
          <p:nvPr/>
        </p:nvSpPr>
        <p:spPr>
          <a:xfrm>
            <a:off x="978407" y="4383785"/>
            <a:ext cx="1051505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所以就動手做了 Spring-MissionBoard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先講一下 SAAS</a:t>
            </a:r>
          </a:p>
        </p:txBody>
      </p:sp>
      <p:sp>
        <p:nvSpPr>
          <p:cNvPr id="149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不用自己裝，開瀏覽器就能用</a:t>
            </a:r>
          </a:p>
        </p:txBody>
      </p:sp>
      <p:sp>
        <p:nvSpPr>
          <p:cNvPr id="150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東西放在同一個地方，大家連上去看到的都是同一份、也都是最新的</a:t>
            </a:r>
          </a:p>
        </p:txBody>
      </p:sp>
      <p:sp>
        <p:nvSpPr>
          <p:cNvPr id="151" name="Connector 4"/>
          <p:cNvSpPr/>
          <p:nvPr/>
        </p:nvSpPr>
        <p:spPr>
          <a:xfrm>
            <a:off x="685797" y="1911094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2" name="Oval 5"/>
          <p:cNvSpPr/>
          <p:nvPr/>
        </p:nvSpPr>
        <p:spPr>
          <a:xfrm>
            <a:off x="658368" y="1883664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3" name="Oval 6"/>
          <p:cNvSpPr/>
          <p:nvPr/>
        </p:nvSpPr>
        <p:spPr>
          <a:xfrm>
            <a:off x="106984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4" name="Oval 7"/>
          <p:cNvSpPr/>
          <p:nvPr/>
        </p:nvSpPr>
        <p:spPr>
          <a:xfrm>
            <a:off x="148132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5" name="Rectangle 8"/>
          <p:cNvSpPr/>
          <p:nvPr/>
        </p:nvSpPr>
        <p:spPr>
          <a:xfrm>
            <a:off x="685798" y="2414016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6" name="TextBox 9"/>
          <p:cNvSpPr txBox="1"/>
          <p:nvPr/>
        </p:nvSpPr>
        <p:spPr>
          <a:xfrm>
            <a:off x="978405" y="2322576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開會前要人工合併，常常對到不一樣的版本　→　不用互傳檔案，也不用問「哪一份才是最新的」</a:t>
            </a:r>
          </a:p>
        </p:txBody>
      </p:sp>
      <p:sp>
        <p:nvSpPr>
          <p:cNvPr id="157" name="Rectangle 10"/>
          <p:cNvSpPr/>
          <p:nvPr/>
        </p:nvSpPr>
        <p:spPr>
          <a:xfrm>
            <a:off x="685795" y="2848989"/>
            <a:ext cx="4946638" cy="359753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Rectangle 11"/>
          <p:cNvSpPr/>
          <p:nvPr/>
        </p:nvSpPr>
        <p:spPr>
          <a:xfrm>
            <a:off x="685795" y="2848991"/>
            <a:ext cx="4946638" cy="384053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12"/>
          <p:cNvSpPr txBox="1"/>
          <p:nvPr/>
        </p:nvSpPr>
        <p:spPr>
          <a:xfrm>
            <a:off x="685795" y="2926713"/>
            <a:ext cx="494663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以前 · 各自一份檔案</a:t>
            </a:r>
          </a:p>
        </p:txBody>
      </p:sp>
      <p:sp>
        <p:nvSpPr>
          <p:cNvPr id="160" name="Rectangle 13"/>
          <p:cNvSpPr/>
          <p:nvPr/>
        </p:nvSpPr>
        <p:spPr>
          <a:xfrm>
            <a:off x="6546828" y="2848989"/>
            <a:ext cx="4946635" cy="3597535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1" name="Rectangle 14"/>
          <p:cNvSpPr/>
          <p:nvPr/>
        </p:nvSpPr>
        <p:spPr>
          <a:xfrm>
            <a:off x="6546828" y="2848991"/>
            <a:ext cx="4946635" cy="38405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15"/>
          <p:cNvSpPr txBox="1"/>
          <p:nvPr/>
        </p:nvSpPr>
        <p:spPr>
          <a:xfrm>
            <a:off x="6546828" y="2926713"/>
            <a:ext cx="4946635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連到同一個地方</a:t>
            </a:r>
          </a:p>
        </p:txBody>
      </p:sp>
      <p:sp>
        <p:nvSpPr>
          <p:cNvPr id="163" name="Connector 16"/>
          <p:cNvSpPr/>
          <p:nvPr/>
        </p:nvSpPr>
        <p:spPr>
          <a:xfrm>
            <a:off x="5742156" y="4647755"/>
            <a:ext cx="694949" cy="5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4" name="Isosceles Triangle 17"/>
          <p:cNvSpPr/>
          <p:nvPr/>
        </p:nvSpPr>
        <p:spPr>
          <a:xfrm rot="5400000">
            <a:off x="6290793" y="4556314"/>
            <a:ext cx="182888" cy="182884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系統定位</a:t>
            </a:r>
          </a:p>
        </p:txBody>
      </p:sp>
      <p:sp>
        <p:nvSpPr>
          <p:cNvPr id="167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沒想過一次到位，是一步步走過來的</a:t>
            </a:r>
          </a:p>
        </p:txBody>
      </p:sp>
      <p:sp>
        <p:nvSpPr>
          <p:cNvPr id="168" name="Connector 3"/>
          <p:cNvSpPr/>
          <p:nvPr/>
        </p:nvSpPr>
        <p:spPr>
          <a:xfrm>
            <a:off x="685797" y="1664205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9" name="Oval 4"/>
          <p:cNvSpPr/>
          <p:nvPr/>
        </p:nvSpPr>
        <p:spPr>
          <a:xfrm>
            <a:off x="658368" y="163677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Oval 5"/>
          <p:cNvSpPr/>
          <p:nvPr/>
        </p:nvSpPr>
        <p:spPr>
          <a:xfrm>
            <a:off x="106984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Oval 6"/>
          <p:cNvSpPr/>
          <p:nvPr/>
        </p:nvSpPr>
        <p:spPr>
          <a:xfrm>
            <a:off x="148132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2" name="Rectangle 7"/>
          <p:cNvSpPr/>
          <p:nvPr/>
        </p:nvSpPr>
        <p:spPr>
          <a:xfrm>
            <a:off x="685798" y="2212848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先從一支單一 HTML 檔開始，一個人就能做完，快速驗證想法可不可行，不做過度設計</a:t>
            </a:r>
          </a:p>
        </p:txBody>
      </p:sp>
      <p:sp>
        <p:nvSpPr>
          <p:cNvPr id="174" name="Rectangle 9"/>
          <p:cNvSpPr/>
          <p:nvPr/>
        </p:nvSpPr>
        <p:spPr>
          <a:xfrm>
            <a:off x="685798" y="2665727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5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確定方向對了，才往剛剛講的那種「大家連同一個地方」的系統走</a:t>
            </a:r>
          </a:p>
        </p:txBody>
      </p:sp>
      <p:sp>
        <p:nvSpPr>
          <p:cNvPr id="176" name="Rectangle 11"/>
          <p:cNvSpPr/>
          <p:nvPr/>
        </p:nvSpPr>
        <p:spPr>
          <a:xfrm>
            <a:off x="685798" y="3118610"/>
            <a:ext cx="100590" cy="100590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12"/>
          <p:cNvSpPr txBox="1"/>
          <p:nvPr/>
        </p:nvSpPr>
        <p:spPr>
          <a:xfrm>
            <a:off x="978405" y="3027171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過程就是做出來、自己用用看，好用的留下、不好用的直接砍掉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系統現況</a:t>
            </a:r>
          </a:p>
        </p:txBody>
      </p:sp>
      <p:sp>
        <p:nvSpPr>
          <p:cNvPr id="180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現在的 Spring-MissionBoard</a:t>
            </a:r>
          </a:p>
        </p:txBody>
      </p:sp>
      <p:sp>
        <p:nvSpPr>
          <p:cNvPr id="181" name="Connector 3"/>
          <p:cNvSpPr/>
          <p:nvPr/>
        </p:nvSpPr>
        <p:spPr>
          <a:xfrm>
            <a:off x="685797" y="1572766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2" name="Oval 4"/>
          <p:cNvSpPr/>
          <p:nvPr/>
        </p:nvSpPr>
        <p:spPr>
          <a:xfrm>
            <a:off x="658368" y="154533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Oval 5"/>
          <p:cNvSpPr/>
          <p:nvPr/>
        </p:nvSpPr>
        <p:spPr>
          <a:xfrm>
            <a:off x="106984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4" name="Oval 6"/>
          <p:cNvSpPr/>
          <p:nvPr/>
        </p:nvSpPr>
        <p:spPr>
          <a:xfrm>
            <a:off x="148132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7"/>
          <p:cNvSpPr/>
          <p:nvPr/>
        </p:nvSpPr>
        <p:spPr>
          <a:xfrm>
            <a:off x="630936" y="1975103"/>
            <a:ext cx="5330677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86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29966"/>
            <a:ext cx="5220950" cy="3263097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Rectangle 9"/>
          <p:cNvSpPr/>
          <p:nvPr/>
        </p:nvSpPr>
        <p:spPr>
          <a:xfrm>
            <a:off x="630934" y="1975103"/>
            <a:ext cx="310902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8" name="Rectangle 10"/>
          <p:cNvSpPr/>
          <p:nvPr/>
        </p:nvSpPr>
        <p:spPr>
          <a:xfrm>
            <a:off x="630936" y="1975103"/>
            <a:ext cx="54869" cy="31090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1" name="Rounded Rectangle 11"/>
          <p:cNvGrpSpPr/>
          <p:nvPr/>
        </p:nvGrpSpPr>
        <p:grpSpPr>
          <a:xfrm>
            <a:off x="685798" y="5457649"/>
            <a:ext cx="1024135" cy="310907"/>
            <a:chOff x="0" y="0"/>
            <a:chExt cx="1024134" cy="310905"/>
          </a:xfrm>
        </p:grpSpPr>
        <p:sp>
          <p:nvSpPr>
            <p:cNvPr id="189" name="圓角矩形"/>
            <p:cNvSpPr/>
            <p:nvPr/>
          </p:nvSpPr>
          <p:spPr>
            <a:xfrm>
              <a:off x="-1" y="-1"/>
              <a:ext cx="1024135" cy="31090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0" name="分類管理"/>
            <p:cNvSpPr txBox="1"/>
            <p:nvPr/>
          </p:nvSpPr>
          <p:spPr>
            <a:xfrm>
              <a:off x="200914" y="47498"/>
              <a:ext cx="62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分類管理</a:t>
              </a:r>
            </a:p>
          </p:txBody>
        </p:sp>
      </p:grpSp>
      <p:sp>
        <p:nvSpPr>
          <p:cNvPr id="192" name="Rectangle 12"/>
          <p:cNvSpPr/>
          <p:nvPr/>
        </p:nvSpPr>
        <p:spPr>
          <a:xfrm>
            <a:off x="6217644" y="1975103"/>
            <a:ext cx="5330681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93" name="Picture 13" descr="Picture 1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72507" y="2029966"/>
            <a:ext cx="5220952" cy="3263097"/>
          </a:xfrm>
          <a:prstGeom prst="rect">
            <a:avLst/>
          </a:prstGeom>
          <a:ln w="12700">
            <a:miter lim="400000"/>
          </a:ln>
        </p:spPr>
      </p:pic>
      <p:sp>
        <p:nvSpPr>
          <p:cNvPr id="194" name="Rectangle 14"/>
          <p:cNvSpPr/>
          <p:nvPr/>
        </p:nvSpPr>
        <p:spPr>
          <a:xfrm>
            <a:off x="6217644" y="1975103"/>
            <a:ext cx="310901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5" name="Rectangle 15"/>
          <p:cNvSpPr/>
          <p:nvPr/>
        </p:nvSpPr>
        <p:spPr>
          <a:xfrm>
            <a:off x="6217644" y="1975103"/>
            <a:ext cx="54869" cy="31090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8" name="Rounded Rectangle 16"/>
          <p:cNvGrpSpPr/>
          <p:nvPr/>
        </p:nvGrpSpPr>
        <p:grpSpPr>
          <a:xfrm>
            <a:off x="6272502" y="5457649"/>
            <a:ext cx="1024138" cy="310907"/>
            <a:chOff x="-1" y="0"/>
            <a:chExt cx="1024137" cy="310905"/>
          </a:xfrm>
        </p:grpSpPr>
        <p:sp>
          <p:nvSpPr>
            <p:cNvPr id="196" name="圓角矩形"/>
            <p:cNvSpPr/>
            <p:nvPr/>
          </p:nvSpPr>
          <p:spPr>
            <a:xfrm>
              <a:off x="-2" y="-1"/>
              <a:ext cx="1024138" cy="31090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7" name="任務看板"/>
            <p:cNvSpPr txBox="1"/>
            <p:nvPr/>
          </p:nvSpPr>
          <p:spPr>
            <a:xfrm>
              <a:off x="200914" y="47498"/>
              <a:ext cx="62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任務看板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開發歷程</a:t>
            </a:r>
          </a:p>
        </p:txBody>
      </p:sp>
      <p:sp>
        <p:nvSpPr>
          <p:cNvPr id="201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四個階段，一條時間軸</a:t>
            </a:r>
          </a:p>
        </p:txBody>
      </p:sp>
      <p:sp>
        <p:nvSpPr>
          <p:cNvPr id="202" name="Connector 3"/>
          <p:cNvSpPr/>
          <p:nvPr/>
        </p:nvSpPr>
        <p:spPr>
          <a:xfrm>
            <a:off x="685797" y="1527047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3" name="Oval 4"/>
          <p:cNvSpPr/>
          <p:nvPr/>
        </p:nvSpPr>
        <p:spPr>
          <a:xfrm>
            <a:off x="658368" y="149961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4" name="Oval 5"/>
          <p:cNvSpPr/>
          <p:nvPr/>
        </p:nvSpPr>
        <p:spPr>
          <a:xfrm>
            <a:off x="1069847" y="149961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5" name="Oval 6"/>
          <p:cNvSpPr/>
          <p:nvPr/>
        </p:nvSpPr>
        <p:spPr>
          <a:xfrm>
            <a:off x="1481327" y="149961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Connector 7"/>
          <p:cNvSpPr/>
          <p:nvPr/>
        </p:nvSpPr>
        <p:spPr>
          <a:xfrm>
            <a:off x="685797" y="2606038"/>
            <a:ext cx="10807666" cy="5"/>
          </a:xfrm>
          <a:prstGeom prst="line">
            <a:avLst/>
          </a:prstGeom>
          <a:ln w="254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7" name="Oval 8"/>
          <p:cNvSpPr/>
          <p:nvPr/>
        </p:nvSpPr>
        <p:spPr>
          <a:xfrm>
            <a:off x="1954458" y="2523744"/>
            <a:ext cx="164601" cy="16460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8" name="TextBox 9"/>
          <p:cNvSpPr txBox="1"/>
          <p:nvPr/>
        </p:nvSpPr>
        <p:spPr>
          <a:xfrm>
            <a:off x="685800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06-08 → 06-19</a:t>
            </a:r>
          </a:p>
        </p:txBody>
      </p:sp>
      <p:sp>
        <p:nvSpPr>
          <p:cNvPr id="209" name="Rectangle 10"/>
          <p:cNvSpPr/>
          <p:nvPr/>
        </p:nvSpPr>
        <p:spPr>
          <a:xfrm>
            <a:off x="795528" y="2926076"/>
            <a:ext cx="2482458" cy="32004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0" name="Rectangle 11"/>
          <p:cNvSpPr/>
          <p:nvPr/>
        </p:nvSpPr>
        <p:spPr>
          <a:xfrm>
            <a:off x="795528" y="2926077"/>
            <a:ext cx="2482458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1" name="TextBox 12"/>
          <p:cNvSpPr txBox="1"/>
          <p:nvPr/>
        </p:nvSpPr>
        <p:spPr>
          <a:xfrm>
            <a:off x="941832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</a:t>
            </a:r>
          </a:p>
        </p:txBody>
      </p:sp>
      <p:sp>
        <p:nvSpPr>
          <p:cNvPr id="212" name="TextBox 13"/>
          <p:cNvSpPr txBox="1"/>
          <p:nvPr/>
        </p:nvSpPr>
        <p:spPr>
          <a:xfrm>
            <a:off x="941832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單檔 HTML WBS 工具，氣隙環境，無伺服器</a:t>
            </a:r>
          </a:p>
        </p:txBody>
      </p:sp>
      <p:sp>
        <p:nvSpPr>
          <p:cNvPr id="213" name="TextBox 14"/>
          <p:cNvSpPr txBox="1"/>
          <p:nvPr/>
        </p:nvSpPr>
        <p:spPr>
          <a:xfrm>
            <a:off x="941832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38 commits · 6 檔 · 0.9MB</a:t>
            </a:r>
          </a:p>
        </p:txBody>
      </p:sp>
      <p:grpSp>
        <p:nvGrpSpPr>
          <p:cNvPr id="216" name="Rounded Rectangle 15"/>
          <p:cNvGrpSpPr/>
          <p:nvPr/>
        </p:nvGrpSpPr>
        <p:grpSpPr>
          <a:xfrm>
            <a:off x="941829" y="5705851"/>
            <a:ext cx="1517916" cy="310907"/>
            <a:chOff x="-1" y="0"/>
            <a:chExt cx="1517915" cy="310905"/>
          </a:xfrm>
        </p:grpSpPr>
        <p:sp>
          <p:nvSpPr>
            <p:cNvPr id="214" name="圓角矩形"/>
            <p:cNvSpPr/>
            <p:nvPr/>
          </p:nvSpPr>
          <p:spPr>
            <a:xfrm>
              <a:off x="-2" y="-1"/>
              <a:ext cx="1517916" cy="310907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耗時 11 天"/>
            <p:cNvSpPr txBox="1"/>
            <p:nvPr/>
          </p:nvSpPr>
          <p:spPr>
            <a:xfrm>
              <a:off x="409182" y="66549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11 天</a:t>
              </a:r>
            </a:p>
          </p:txBody>
        </p:sp>
      </p:grpSp>
      <p:sp>
        <p:nvSpPr>
          <p:cNvPr id="217" name="Oval 16"/>
          <p:cNvSpPr/>
          <p:nvPr/>
        </p:nvSpPr>
        <p:spPr>
          <a:xfrm>
            <a:off x="4656375" y="2523744"/>
            <a:ext cx="164601" cy="16460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8" name="TextBox 17"/>
          <p:cNvSpPr txBox="1"/>
          <p:nvPr/>
        </p:nvSpPr>
        <p:spPr>
          <a:xfrm>
            <a:off x="3387714" y="2103120"/>
            <a:ext cx="2701919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06-19 → 07-03</a:t>
            </a:r>
          </a:p>
        </p:txBody>
      </p:sp>
      <p:sp>
        <p:nvSpPr>
          <p:cNvPr id="219" name="Rectangle 18"/>
          <p:cNvSpPr/>
          <p:nvPr/>
        </p:nvSpPr>
        <p:spPr>
          <a:xfrm>
            <a:off x="3497441" y="2926076"/>
            <a:ext cx="2482463" cy="32004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0" name="Rectangle 19"/>
          <p:cNvSpPr/>
          <p:nvPr/>
        </p:nvSpPr>
        <p:spPr>
          <a:xfrm>
            <a:off x="3497441" y="2926077"/>
            <a:ext cx="2482463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TextBox 20"/>
          <p:cNvSpPr txBox="1"/>
          <p:nvPr/>
        </p:nvSpPr>
        <p:spPr>
          <a:xfrm>
            <a:off x="3643745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</a:t>
            </a:r>
          </a:p>
        </p:txBody>
      </p:sp>
      <p:sp>
        <p:nvSpPr>
          <p:cNvPr id="222" name="TextBox 21"/>
          <p:cNvSpPr txBox="1"/>
          <p:nvPr/>
        </p:nvSpPr>
        <p:spPr>
          <a:xfrm>
            <a:off x="3643745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搬上 Web，多人即時協作、部門權限</a:t>
            </a:r>
          </a:p>
        </p:txBody>
      </p:sp>
      <p:sp>
        <p:nvSpPr>
          <p:cNvPr id="223" name="TextBox 22"/>
          <p:cNvSpPr txBox="1"/>
          <p:nvPr/>
        </p:nvSpPr>
        <p:spPr>
          <a:xfrm>
            <a:off x="3643745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97 commits · 152 檔 · 6.9MB</a:t>
            </a:r>
          </a:p>
        </p:txBody>
      </p:sp>
      <p:grpSp>
        <p:nvGrpSpPr>
          <p:cNvPr id="226" name="Rounded Rectangle 23"/>
          <p:cNvGrpSpPr/>
          <p:nvPr/>
        </p:nvGrpSpPr>
        <p:grpSpPr>
          <a:xfrm>
            <a:off x="3643742" y="5705851"/>
            <a:ext cx="1517916" cy="310907"/>
            <a:chOff x="-1" y="0"/>
            <a:chExt cx="1517915" cy="310905"/>
          </a:xfrm>
        </p:grpSpPr>
        <p:sp>
          <p:nvSpPr>
            <p:cNvPr id="224" name="圓角矩形"/>
            <p:cNvSpPr/>
            <p:nvPr/>
          </p:nvSpPr>
          <p:spPr>
            <a:xfrm>
              <a:off x="-2" y="-1"/>
              <a:ext cx="1517916" cy="310907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25" name="耗時 14 天"/>
            <p:cNvSpPr txBox="1"/>
            <p:nvPr/>
          </p:nvSpPr>
          <p:spPr>
            <a:xfrm>
              <a:off x="409182" y="66549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14 天</a:t>
              </a:r>
            </a:p>
          </p:txBody>
        </p:sp>
      </p:grpSp>
      <p:sp>
        <p:nvSpPr>
          <p:cNvPr id="227" name="Oval 24"/>
          <p:cNvSpPr/>
          <p:nvPr/>
        </p:nvSpPr>
        <p:spPr>
          <a:xfrm>
            <a:off x="7358288" y="2523744"/>
            <a:ext cx="164601" cy="16460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8" name="TextBox 25"/>
          <p:cNvSpPr txBox="1"/>
          <p:nvPr/>
        </p:nvSpPr>
        <p:spPr>
          <a:xfrm>
            <a:off x="6089629" y="2103120"/>
            <a:ext cx="2701919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07-03 → 07-08</a:t>
            </a:r>
          </a:p>
        </p:txBody>
      </p:sp>
      <p:sp>
        <p:nvSpPr>
          <p:cNvPr id="229" name="Rectangle 26"/>
          <p:cNvSpPr/>
          <p:nvPr/>
        </p:nvSpPr>
        <p:spPr>
          <a:xfrm>
            <a:off x="6199356" y="2926076"/>
            <a:ext cx="2482460" cy="32004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0" name="Rectangle 27"/>
          <p:cNvSpPr/>
          <p:nvPr/>
        </p:nvSpPr>
        <p:spPr>
          <a:xfrm>
            <a:off x="6199356" y="2926077"/>
            <a:ext cx="2482460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1" name="TextBox 28"/>
          <p:cNvSpPr txBox="1"/>
          <p:nvPr/>
        </p:nvSpPr>
        <p:spPr>
          <a:xfrm>
            <a:off x="6345661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</a:t>
            </a:r>
          </a:p>
        </p:txBody>
      </p:sp>
      <p:sp>
        <p:nvSpPr>
          <p:cNvPr id="232" name="TextBox 29"/>
          <p:cNvSpPr txBox="1"/>
          <p:nvPr/>
        </p:nvSpPr>
        <p:spPr>
          <a:xfrm>
            <a:off x="6345661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拆出獨立看板系統，核心從樹狀改拖曳卡片</a:t>
            </a:r>
          </a:p>
        </p:txBody>
      </p:sp>
      <p:sp>
        <p:nvSpPr>
          <p:cNvPr id="233" name="TextBox 30"/>
          <p:cNvSpPr txBox="1"/>
          <p:nvPr/>
        </p:nvSpPr>
        <p:spPr>
          <a:xfrm>
            <a:off x="6345661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32 commits · 115 檔 · 2.0MB</a:t>
            </a:r>
          </a:p>
        </p:txBody>
      </p:sp>
      <p:grpSp>
        <p:nvGrpSpPr>
          <p:cNvPr id="236" name="Rounded Rectangle 31"/>
          <p:cNvGrpSpPr/>
          <p:nvPr/>
        </p:nvGrpSpPr>
        <p:grpSpPr>
          <a:xfrm>
            <a:off x="6345658" y="5705851"/>
            <a:ext cx="1353323" cy="310907"/>
            <a:chOff x="-1" y="0"/>
            <a:chExt cx="1353322" cy="310905"/>
          </a:xfrm>
        </p:grpSpPr>
        <p:sp>
          <p:nvSpPr>
            <p:cNvPr id="234" name="圓角矩形"/>
            <p:cNvSpPr/>
            <p:nvPr/>
          </p:nvSpPr>
          <p:spPr>
            <a:xfrm>
              <a:off x="-2" y="-1"/>
              <a:ext cx="1353324" cy="310907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5" name="耗時 5 天"/>
            <p:cNvSpPr txBox="1"/>
            <p:nvPr/>
          </p:nvSpPr>
          <p:spPr>
            <a:xfrm>
              <a:off x="365116" y="66549"/>
              <a:ext cx="623082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5 天</a:t>
              </a:r>
            </a:p>
          </p:txBody>
        </p:sp>
      </p:grpSp>
      <p:sp>
        <p:nvSpPr>
          <p:cNvPr id="237" name="Oval 32"/>
          <p:cNvSpPr/>
          <p:nvPr/>
        </p:nvSpPr>
        <p:spPr>
          <a:xfrm>
            <a:off x="10060205" y="2523744"/>
            <a:ext cx="164601" cy="16460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" name="TextBox 33"/>
          <p:cNvSpPr txBox="1"/>
          <p:nvPr/>
        </p:nvSpPr>
        <p:spPr>
          <a:xfrm>
            <a:off x="8791544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07-17 → 08-10</a:t>
            </a:r>
          </a:p>
        </p:txBody>
      </p:sp>
      <p:sp>
        <p:nvSpPr>
          <p:cNvPr id="239" name="Rectangle 34"/>
          <p:cNvSpPr/>
          <p:nvPr/>
        </p:nvSpPr>
        <p:spPr>
          <a:xfrm>
            <a:off x="8901272" y="2926076"/>
            <a:ext cx="2482463" cy="32004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0" name="Rectangle 35"/>
          <p:cNvSpPr/>
          <p:nvPr/>
        </p:nvSpPr>
        <p:spPr>
          <a:xfrm>
            <a:off x="8901272" y="2926077"/>
            <a:ext cx="2482463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1" name="TextBox 36"/>
          <p:cNvSpPr txBox="1"/>
          <p:nvPr/>
        </p:nvSpPr>
        <p:spPr>
          <a:xfrm>
            <a:off x="9047574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MissionBoard</a:t>
            </a:r>
          </a:p>
        </p:txBody>
      </p:sp>
      <p:sp>
        <p:nvSpPr>
          <p:cNvPr id="242" name="TextBox 37"/>
          <p:cNvSpPr txBox="1"/>
          <p:nvPr/>
        </p:nvSpPr>
        <p:spPr>
          <a:xfrm>
            <a:off x="9047574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全新 repo 合併兩者，拆掉節點模型改用任務導向</a:t>
            </a:r>
          </a:p>
        </p:txBody>
      </p:sp>
      <p:sp>
        <p:nvSpPr>
          <p:cNvPr id="243" name="TextBox 38"/>
          <p:cNvSpPr txBox="1"/>
          <p:nvPr/>
        </p:nvSpPr>
        <p:spPr>
          <a:xfrm>
            <a:off x="9047574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73 commits · 83 檔 · 0.49MB</a:t>
            </a:r>
          </a:p>
        </p:txBody>
      </p:sp>
      <p:grpSp>
        <p:nvGrpSpPr>
          <p:cNvPr id="246" name="Rounded Rectangle 39"/>
          <p:cNvGrpSpPr/>
          <p:nvPr/>
        </p:nvGrpSpPr>
        <p:grpSpPr>
          <a:xfrm>
            <a:off x="9047572" y="5705851"/>
            <a:ext cx="1517916" cy="310907"/>
            <a:chOff x="-1" y="0"/>
            <a:chExt cx="1517915" cy="310905"/>
          </a:xfrm>
        </p:grpSpPr>
        <p:sp>
          <p:nvSpPr>
            <p:cNvPr id="244" name="圓角矩形"/>
            <p:cNvSpPr/>
            <p:nvPr/>
          </p:nvSpPr>
          <p:spPr>
            <a:xfrm>
              <a:off x="-2" y="-1"/>
              <a:ext cx="1517916" cy="310907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5" name="耗時 24 天"/>
            <p:cNvSpPr txBox="1"/>
            <p:nvPr/>
          </p:nvSpPr>
          <p:spPr>
            <a:xfrm>
              <a:off x="409182" y="66549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24 天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各階段在做什麼</a:t>
            </a:r>
          </a:p>
        </p:txBody>
      </p:sp>
      <p:sp>
        <p:nvSpPr>
          <p:cNvPr id="249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同一套底子，換掉核心功能</a:t>
            </a:r>
          </a:p>
        </p:txBody>
      </p:sp>
      <p:sp>
        <p:nvSpPr>
          <p:cNvPr id="250" name="Connector 3"/>
          <p:cNvSpPr/>
          <p:nvPr/>
        </p:nvSpPr>
        <p:spPr>
          <a:xfrm>
            <a:off x="685797" y="1664205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1" name="Oval 4"/>
          <p:cNvSpPr/>
          <p:nvPr/>
        </p:nvSpPr>
        <p:spPr>
          <a:xfrm>
            <a:off x="658368" y="163677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2" name="Oval 5"/>
          <p:cNvSpPr/>
          <p:nvPr/>
        </p:nvSpPr>
        <p:spPr>
          <a:xfrm>
            <a:off x="106984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3" name="Oval 6"/>
          <p:cNvSpPr/>
          <p:nvPr/>
        </p:nvSpPr>
        <p:spPr>
          <a:xfrm>
            <a:off x="148132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4" name="Rectangle 7"/>
          <p:cNvSpPr/>
          <p:nvPr/>
        </p:nvSpPr>
        <p:spPr>
          <a:xfrm>
            <a:off x="685798" y="2212848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5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→ Spring-WbsScaff：從一支單機 HTML，變成大家連得上、資料存得住的系統</a:t>
            </a:r>
          </a:p>
        </p:txBody>
      </p:sp>
      <p:sp>
        <p:nvSpPr>
          <p:cNvPr id="256" name="Rectangle 9"/>
          <p:cNvSpPr/>
          <p:nvPr/>
        </p:nvSpPr>
        <p:spPr>
          <a:xfrm>
            <a:off x="685798" y="2972305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7" name="TextBox 10"/>
          <p:cNvSpPr txBox="1"/>
          <p:nvPr/>
        </p:nvSpPr>
        <p:spPr>
          <a:xfrm>
            <a:off x="978405" y="2880866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Spring-TaskFlow：把看板做起來，也把開發流程順出來，後面要長新東西就快很多</a:t>
            </a:r>
          </a:p>
        </p:txBody>
      </p:sp>
      <p:sp>
        <p:nvSpPr>
          <p:cNvPr id="258" name="Rectangle 11"/>
          <p:cNvSpPr/>
          <p:nvPr/>
        </p:nvSpPr>
        <p:spPr>
          <a:xfrm>
            <a:off x="685798" y="3425190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9" name="TextBox 12"/>
          <p:cNvSpPr txBox="1"/>
          <p:nvPr/>
        </p:nvSpPr>
        <p:spPr>
          <a:xfrm>
            <a:off x="978405" y="3333748"/>
            <a:ext cx="10515057" cy="6644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WbsFlow → MissionBoard：想把兩套的特色合在一起時卡住了，目標互相打架，乾脆重新確立方向——任務導向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WBSSCAFF</a:t>
            </a:r>
          </a:p>
        </p:txBody>
      </p:sp>
      <p:sp>
        <p:nvSpPr>
          <p:cNvPr id="262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一支打開就能用的 HTML 檔</a:t>
            </a:r>
          </a:p>
        </p:txBody>
      </p:sp>
      <p:sp>
        <p:nvSpPr>
          <p:cNvPr id="263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2026-06-08 → 06-19</a:t>
            </a:r>
          </a:p>
        </p:txBody>
      </p:sp>
      <p:sp>
        <p:nvSpPr>
          <p:cNvPr id="264" name="Connector 4"/>
          <p:cNvSpPr/>
          <p:nvPr/>
        </p:nvSpPr>
        <p:spPr>
          <a:xfrm>
            <a:off x="685797" y="1911094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5" name="Oval 5"/>
          <p:cNvSpPr/>
          <p:nvPr/>
        </p:nvSpPr>
        <p:spPr>
          <a:xfrm>
            <a:off x="658368" y="1883664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6" name="Oval 6"/>
          <p:cNvSpPr/>
          <p:nvPr/>
        </p:nvSpPr>
        <p:spPr>
          <a:xfrm>
            <a:off x="106984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7" name="Oval 7"/>
          <p:cNvSpPr/>
          <p:nvPr/>
        </p:nvSpPr>
        <p:spPr>
          <a:xfrm>
            <a:off x="148132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8" name="Rectangle 8"/>
          <p:cNvSpPr/>
          <p:nvPr/>
        </p:nvSpPr>
        <p:spPr>
          <a:xfrm>
            <a:off x="685798" y="2414016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9" name="TextBox 9"/>
          <p:cNvSpPr txBox="1"/>
          <p:nvPr/>
        </p:nvSpPr>
        <p:spPr>
          <a:xfrm>
            <a:off x="978405" y="2322576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不用安裝、不用連網路，檔案傳給誰都能直接打開來用</a:t>
            </a:r>
          </a:p>
        </p:txBody>
      </p:sp>
      <p:sp>
        <p:nvSpPr>
          <p:cNvPr id="270" name="Rectangle 10"/>
          <p:cNvSpPr/>
          <p:nvPr/>
        </p:nvSpPr>
        <p:spPr>
          <a:xfrm>
            <a:off x="685798" y="2848864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1" name="TextBox 11"/>
          <p:cNvSpPr txBox="1"/>
          <p:nvPr/>
        </p:nvSpPr>
        <p:spPr>
          <a:xfrm>
            <a:off x="978405" y="2757422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用樹狀結構把工作拆項目，最多五層，雙擊就能改標題，也能直接拖曳搬位置</a:t>
            </a:r>
          </a:p>
        </p:txBody>
      </p:sp>
      <p:sp>
        <p:nvSpPr>
          <p:cNvPr id="272" name="Rectangle 12"/>
          <p:cNvSpPr/>
          <p:nvPr/>
        </p:nvSpPr>
        <p:spPr>
          <a:xfrm>
            <a:off x="685798" y="3283710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TextBox 13"/>
          <p:cNvSpPr txBox="1"/>
          <p:nvPr/>
        </p:nvSpPr>
        <p:spPr>
          <a:xfrm>
            <a:off x="978405" y="3192271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上層的完成狀態由下層自動算出來，不能手動亂填——這個設計後來每一代都留著</a:t>
            </a:r>
          </a:p>
        </p:txBody>
      </p:sp>
      <p:sp>
        <p:nvSpPr>
          <p:cNvPr id="274" name="Rectangle 14"/>
          <p:cNvSpPr/>
          <p:nvPr/>
        </p:nvSpPr>
        <p:spPr>
          <a:xfrm>
            <a:off x="685798" y="3718559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5" name="TextBox 15"/>
          <p:cNvSpPr txBox="1"/>
          <p:nvPr/>
        </p:nvSpPr>
        <p:spPr>
          <a:xfrm>
            <a:off x="978405" y="3627118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可以匯出入 Excel／CSV，銜接大家原本就在用的檔案流程</a:t>
            </a:r>
          </a:p>
        </p:txBody>
      </p:sp>
      <p:sp>
        <p:nvSpPr>
          <p:cNvPr id="276" name="Rectangle 16"/>
          <p:cNvSpPr/>
          <p:nvPr/>
        </p:nvSpPr>
        <p:spPr>
          <a:xfrm>
            <a:off x="685800" y="4153406"/>
            <a:ext cx="10807659" cy="640085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7" name="TextBox 17"/>
          <p:cNvSpPr txBox="1"/>
          <p:nvPr/>
        </p:nvSpPr>
        <p:spPr>
          <a:xfrm>
            <a:off x="914399" y="4226559"/>
            <a:ext cx="2926086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這一代還留著，可以直接玩：</a:t>
            </a:r>
          </a:p>
        </p:txBody>
      </p:sp>
      <p:sp>
        <p:nvSpPr>
          <p:cNvPr id="278" name="TextBox 18"/>
          <p:cNvSpPr txBox="1"/>
          <p:nvPr/>
        </p:nvSpPr>
        <p:spPr>
          <a:xfrm>
            <a:off x="3886198" y="4226559"/>
            <a:ext cx="742438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https://lingaoscar.github.io/WbsScaff/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畫面</a:t>
            </a:r>
          </a:p>
        </p:txBody>
      </p:sp>
      <p:sp>
        <p:nvSpPr>
          <p:cNvPr id="281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WbsScaff：離線 WBS 樹狀編輯器</a:t>
            </a:r>
          </a:p>
        </p:txBody>
      </p:sp>
      <p:sp>
        <p:nvSpPr>
          <p:cNvPr id="282" name="Connector 3"/>
          <p:cNvSpPr/>
          <p:nvPr/>
        </p:nvSpPr>
        <p:spPr>
          <a:xfrm>
            <a:off x="685797" y="1572766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83" name="Oval 4"/>
          <p:cNvSpPr/>
          <p:nvPr/>
        </p:nvSpPr>
        <p:spPr>
          <a:xfrm>
            <a:off x="658368" y="154533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4" name="Oval 5"/>
          <p:cNvSpPr/>
          <p:nvPr/>
        </p:nvSpPr>
        <p:spPr>
          <a:xfrm>
            <a:off x="106984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5" name="Oval 6"/>
          <p:cNvSpPr/>
          <p:nvPr/>
        </p:nvSpPr>
        <p:spPr>
          <a:xfrm>
            <a:off x="148132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6" name="Rectangle 7"/>
          <p:cNvSpPr/>
          <p:nvPr/>
        </p:nvSpPr>
        <p:spPr>
          <a:xfrm>
            <a:off x="2889225" y="1975103"/>
            <a:ext cx="6400808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87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944092" y="2029966"/>
            <a:ext cx="6291073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288" name="Rectangle 9"/>
          <p:cNvSpPr/>
          <p:nvPr/>
        </p:nvSpPr>
        <p:spPr>
          <a:xfrm>
            <a:off x="2889229" y="1975103"/>
            <a:ext cx="310901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9" name="Rectangle 10"/>
          <p:cNvSpPr/>
          <p:nvPr/>
        </p:nvSpPr>
        <p:spPr>
          <a:xfrm>
            <a:off x="2889229" y="1975103"/>
            <a:ext cx="54869" cy="31090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92" name="Rounded Rectangle 11"/>
          <p:cNvGrpSpPr/>
          <p:nvPr/>
        </p:nvGrpSpPr>
        <p:grpSpPr>
          <a:xfrm>
            <a:off x="2944086" y="6126476"/>
            <a:ext cx="3986797" cy="310907"/>
            <a:chOff x="0" y="0"/>
            <a:chExt cx="3986795" cy="310905"/>
          </a:xfrm>
        </p:grpSpPr>
        <p:sp>
          <p:nvSpPr>
            <p:cNvPr id="290" name="圓角矩形"/>
            <p:cNvSpPr/>
            <p:nvPr/>
          </p:nvSpPr>
          <p:spPr>
            <a:xfrm>
              <a:off x="-1" y="-1"/>
              <a:ext cx="3986796" cy="31090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91" name="打開瀏覽器就是一支完整的工具，不用裝任何東西"/>
            <p:cNvSpPr txBox="1"/>
            <p:nvPr/>
          </p:nvSpPr>
          <p:spPr>
            <a:xfrm>
              <a:off x="310641" y="47498"/>
              <a:ext cx="3365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打開瀏覽器就是一支完整的工具，不用裝任何東西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SPRING-WBSSCAFF</a:t>
            </a:r>
          </a:p>
        </p:txBody>
      </p:sp>
      <p:sp>
        <p:nvSpPr>
          <p:cNvPr id="295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搬上網路，變成大家一起用的系統</a:t>
            </a:r>
          </a:p>
        </p:txBody>
      </p:sp>
      <p:sp>
        <p:nvSpPr>
          <p:cNvPr id="296" name="TextBox 3"/>
          <p:cNvSpPr txBox="1"/>
          <p:nvPr/>
        </p:nvSpPr>
        <p:spPr>
          <a:xfrm>
            <a:off x="685800" y="1664205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2026-06-19 → 07-03</a:t>
            </a:r>
          </a:p>
        </p:txBody>
      </p:sp>
      <p:sp>
        <p:nvSpPr>
          <p:cNvPr id="297" name="Connector 4"/>
          <p:cNvSpPr/>
          <p:nvPr/>
        </p:nvSpPr>
        <p:spPr>
          <a:xfrm>
            <a:off x="685797" y="2048255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8" name="Oval 5"/>
          <p:cNvSpPr/>
          <p:nvPr/>
        </p:nvSpPr>
        <p:spPr>
          <a:xfrm>
            <a:off x="658368" y="2020822"/>
            <a:ext cx="54864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Oval 6"/>
          <p:cNvSpPr/>
          <p:nvPr/>
        </p:nvSpPr>
        <p:spPr>
          <a:xfrm>
            <a:off x="1069847" y="2020822"/>
            <a:ext cx="54873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0" name="Oval 7"/>
          <p:cNvSpPr/>
          <p:nvPr/>
        </p:nvSpPr>
        <p:spPr>
          <a:xfrm>
            <a:off x="1481327" y="2020822"/>
            <a:ext cx="54873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1" name="Rectangle 8"/>
          <p:cNvSpPr/>
          <p:nvPr/>
        </p:nvSpPr>
        <p:spPr>
          <a:xfrm>
            <a:off x="685798" y="2596894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2" name="TextBox 9"/>
          <p:cNvSpPr txBox="1"/>
          <p:nvPr/>
        </p:nvSpPr>
        <p:spPr>
          <a:xfrm>
            <a:off x="978405" y="250545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從「自己電腦上的小工具」變成「打開瀏覽器就能用、資料存在同一個地方」</a:t>
            </a:r>
          </a:p>
        </p:txBody>
      </p:sp>
      <p:sp>
        <p:nvSpPr>
          <p:cNvPr id="303" name="Rectangle 10"/>
          <p:cNvSpPr/>
          <p:nvPr/>
        </p:nvSpPr>
        <p:spPr>
          <a:xfrm>
            <a:off x="685798" y="3049777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4" name="TextBox 11"/>
          <p:cNvSpPr txBox="1"/>
          <p:nvPr/>
        </p:nvSpPr>
        <p:spPr>
          <a:xfrm>
            <a:off x="978405" y="295833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加了登入，也把部門的界線做進去：不同科別看到的東西不一樣</a:t>
            </a:r>
          </a:p>
        </p:txBody>
      </p:sp>
      <p:sp>
        <p:nvSpPr>
          <p:cNvPr id="305" name="Rectangle 12"/>
          <p:cNvSpPr/>
          <p:nvPr/>
        </p:nvSpPr>
        <p:spPr>
          <a:xfrm>
            <a:off x="685798" y="3502659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TextBox 13"/>
          <p:cNvSpPr txBox="1"/>
          <p:nvPr/>
        </p:nvSpPr>
        <p:spPr>
          <a:xfrm>
            <a:off x="978405" y="3411220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多人同時編輯同一張表，別人改了什麼，畫面會即時跟著動</a:t>
            </a:r>
          </a:p>
        </p:txBody>
      </p:sp>
      <p:sp>
        <p:nvSpPr>
          <p:cNvPr id="307" name="Rectangle 14"/>
          <p:cNvSpPr/>
          <p:nvPr/>
        </p:nvSpPr>
        <p:spPr>
          <a:xfrm>
            <a:off x="685798" y="3955541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8" name="TextBox 15"/>
          <p:cNvSpPr txBox="1"/>
          <p:nvPr/>
        </p:nvSpPr>
        <p:spPr>
          <a:xfrm>
            <a:off x="978405" y="3864102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這一步是整條路上第一次真正的升級：從單機檔案變成有帳號、有資料庫的正式系統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畫面</a:t>
            </a:r>
          </a:p>
        </p:txBody>
      </p:sp>
      <p:sp>
        <p:nvSpPr>
          <p:cNvPr id="311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Spring-WbsScaff：多人版 WBS 樹狀畫面</a:t>
            </a:r>
          </a:p>
        </p:txBody>
      </p:sp>
      <p:sp>
        <p:nvSpPr>
          <p:cNvPr id="312" name="Connector 3"/>
          <p:cNvSpPr/>
          <p:nvPr/>
        </p:nvSpPr>
        <p:spPr>
          <a:xfrm>
            <a:off x="685797" y="1572766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3" name="Oval 4"/>
          <p:cNvSpPr/>
          <p:nvPr/>
        </p:nvSpPr>
        <p:spPr>
          <a:xfrm>
            <a:off x="658368" y="154533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4" name="Oval 5"/>
          <p:cNvSpPr/>
          <p:nvPr/>
        </p:nvSpPr>
        <p:spPr>
          <a:xfrm>
            <a:off x="106984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5" name="Oval 6"/>
          <p:cNvSpPr/>
          <p:nvPr/>
        </p:nvSpPr>
        <p:spPr>
          <a:xfrm>
            <a:off x="148132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6" name="Rectangle 7"/>
          <p:cNvSpPr/>
          <p:nvPr/>
        </p:nvSpPr>
        <p:spPr>
          <a:xfrm>
            <a:off x="4899228" y="1975103"/>
            <a:ext cx="2380806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17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954092" y="2029966"/>
            <a:ext cx="2271078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318" name="Rectangle 9"/>
          <p:cNvSpPr/>
          <p:nvPr/>
        </p:nvSpPr>
        <p:spPr>
          <a:xfrm>
            <a:off x="4899228" y="1975103"/>
            <a:ext cx="310901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9" name="Rectangle 10"/>
          <p:cNvSpPr/>
          <p:nvPr/>
        </p:nvSpPr>
        <p:spPr>
          <a:xfrm>
            <a:off x="4899228" y="1975103"/>
            <a:ext cx="54869" cy="31090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22" name="Rounded Rectangle 11"/>
          <p:cNvGrpSpPr/>
          <p:nvPr/>
        </p:nvGrpSpPr>
        <p:grpSpPr>
          <a:xfrm>
            <a:off x="4954090" y="6126476"/>
            <a:ext cx="4809754" cy="310907"/>
            <a:chOff x="0" y="0"/>
            <a:chExt cx="4809752" cy="310905"/>
          </a:xfrm>
        </p:grpSpPr>
        <p:sp>
          <p:nvSpPr>
            <p:cNvPr id="320" name="圓角矩形"/>
            <p:cNvSpPr/>
            <p:nvPr/>
          </p:nvSpPr>
          <p:spPr>
            <a:xfrm>
              <a:off x="-1" y="-1"/>
              <a:ext cx="4809754" cy="31090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21" name="節點內容更貼近真實場景：主機申請、防火牆開通、資安檢核"/>
            <p:cNvSpPr txBox="1"/>
            <p:nvPr/>
          </p:nvSpPr>
          <p:spPr>
            <a:xfrm>
              <a:off x="341120" y="47498"/>
              <a:ext cx="4127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節點內容更貼近真實場景：主機申請、防火牆開通、資安檢核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SPRING-TASKFLOW</a:t>
            </a:r>
          </a:p>
        </p:txBody>
      </p:sp>
      <p:sp>
        <p:nvSpPr>
          <p:cNvPr id="325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把樹狀改成看板，用拖的就好</a:t>
            </a:r>
          </a:p>
        </p:txBody>
      </p:sp>
      <p:sp>
        <p:nvSpPr>
          <p:cNvPr id="326" name="TextBox 3"/>
          <p:cNvSpPr txBox="1"/>
          <p:nvPr/>
        </p:nvSpPr>
        <p:spPr>
          <a:xfrm>
            <a:off x="685800" y="1664205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2026-07-03 → 07-08</a:t>
            </a:r>
          </a:p>
        </p:txBody>
      </p:sp>
      <p:sp>
        <p:nvSpPr>
          <p:cNvPr id="327" name="Connector 4"/>
          <p:cNvSpPr/>
          <p:nvPr/>
        </p:nvSpPr>
        <p:spPr>
          <a:xfrm>
            <a:off x="685797" y="2048255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8" name="Oval 5"/>
          <p:cNvSpPr/>
          <p:nvPr/>
        </p:nvSpPr>
        <p:spPr>
          <a:xfrm>
            <a:off x="658368" y="2020822"/>
            <a:ext cx="54864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9" name="Oval 6"/>
          <p:cNvSpPr/>
          <p:nvPr/>
        </p:nvSpPr>
        <p:spPr>
          <a:xfrm>
            <a:off x="1069847" y="2020822"/>
            <a:ext cx="54873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0" name="Oval 7"/>
          <p:cNvSpPr/>
          <p:nvPr/>
        </p:nvSpPr>
        <p:spPr>
          <a:xfrm>
            <a:off x="1481327" y="2020822"/>
            <a:ext cx="54873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1" name="Rectangle 8"/>
          <p:cNvSpPr/>
          <p:nvPr/>
        </p:nvSpPr>
        <p:spPr>
          <a:xfrm>
            <a:off x="685798" y="2596894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2" name="TextBox 9"/>
          <p:cNvSpPr txBox="1"/>
          <p:nvPr/>
        </p:nvSpPr>
        <p:spPr>
          <a:xfrm>
            <a:off x="978405" y="250545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畫面換成待辦／進行中／完成三欄，工作變成一張張卡片，用拖的改狀態</a:t>
            </a:r>
          </a:p>
        </p:txBody>
      </p:sp>
      <p:sp>
        <p:nvSpPr>
          <p:cNvPr id="333" name="Rectangle 10"/>
          <p:cNvSpPr/>
          <p:nvPr/>
        </p:nvSpPr>
        <p:spPr>
          <a:xfrm>
            <a:off x="685798" y="3049777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4" name="TextBox 11"/>
          <p:cNvSpPr txBox="1"/>
          <p:nvPr/>
        </p:nvSpPr>
        <p:spPr>
          <a:xfrm>
            <a:off x="978405" y="295833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卡片可以指派給人、設優先度跟日期，一眼看得出誰手上有什麼</a:t>
            </a:r>
          </a:p>
        </p:txBody>
      </p:sp>
      <p:sp>
        <p:nvSpPr>
          <p:cNvPr id="335" name="Rectangle 12"/>
          <p:cNvSpPr/>
          <p:nvPr/>
        </p:nvSpPr>
        <p:spPr>
          <a:xfrm>
            <a:off x="685798" y="3502659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6" name="TextBox 13"/>
          <p:cNvSpPr txBox="1"/>
          <p:nvPr/>
        </p:nvSpPr>
        <p:spPr>
          <a:xfrm>
            <a:off x="978405" y="3411220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登入、部門權限、頁面外框直接沿用上一代，省下重新驗證的時間</a:t>
            </a:r>
          </a:p>
        </p:txBody>
      </p:sp>
      <p:sp>
        <p:nvSpPr>
          <p:cNvPr id="337" name="Rectangle 14"/>
          <p:cNvSpPr/>
          <p:nvPr/>
        </p:nvSpPr>
        <p:spPr>
          <a:xfrm>
            <a:off x="685798" y="3955541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8" name="TextBox 15"/>
          <p:cNvSpPr txBox="1"/>
          <p:nvPr/>
        </p:nvSpPr>
        <p:spPr>
          <a:xfrm>
            <a:off x="978405" y="3864102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做完這一步，手上同時有「樹」跟「看板」兩套東西——也就是後面想合併的起因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畫面</a:t>
            </a:r>
          </a:p>
        </p:txBody>
      </p:sp>
      <p:sp>
        <p:nvSpPr>
          <p:cNvPr id="341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Spring-TaskFlow：待辦／進行中／完成三欄看板</a:t>
            </a:r>
          </a:p>
        </p:txBody>
      </p:sp>
      <p:sp>
        <p:nvSpPr>
          <p:cNvPr id="342" name="Connector 3"/>
          <p:cNvSpPr/>
          <p:nvPr/>
        </p:nvSpPr>
        <p:spPr>
          <a:xfrm>
            <a:off x="685797" y="1572766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3" name="Oval 4"/>
          <p:cNvSpPr/>
          <p:nvPr/>
        </p:nvSpPr>
        <p:spPr>
          <a:xfrm>
            <a:off x="658368" y="154533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4" name="Oval 5"/>
          <p:cNvSpPr/>
          <p:nvPr/>
        </p:nvSpPr>
        <p:spPr>
          <a:xfrm>
            <a:off x="106984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5" name="Oval 6"/>
          <p:cNvSpPr/>
          <p:nvPr/>
        </p:nvSpPr>
        <p:spPr>
          <a:xfrm>
            <a:off x="148132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6" name="Rectangle 7"/>
          <p:cNvSpPr/>
          <p:nvPr/>
        </p:nvSpPr>
        <p:spPr>
          <a:xfrm>
            <a:off x="3176538" y="1975103"/>
            <a:ext cx="5826181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47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31406" y="2029966"/>
            <a:ext cx="5716445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Rectangle 9"/>
          <p:cNvSpPr/>
          <p:nvPr/>
        </p:nvSpPr>
        <p:spPr>
          <a:xfrm>
            <a:off x="3176540" y="1975103"/>
            <a:ext cx="310901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9" name="Rectangle 10"/>
          <p:cNvSpPr/>
          <p:nvPr/>
        </p:nvSpPr>
        <p:spPr>
          <a:xfrm>
            <a:off x="3176540" y="1975103"/>
            <a:ext cx="54869" cy="31090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52" name="Rounded Rectangle 11"/>
          <p:cNvGrpSpPr/>
          <p:nvPr/>
        </p:nvGrpSpPr>
        <p:grpSpPr>
          <a:xfrm>
            <a:off x="3231401" y="6126476"/>
            <a:ext cx="5138940" cy="310907"/>
            <a:chOff x="0" y="0"/>
            <a:chExt cx="5138939" cy="310905"/>
          </a:xfrm>
        </p:grpSpPr>
        <p:sp>
          <p:nvSpPr>
            <p:cNvPr id="350" name="圓角矩形"/>
            <p:cNvSpPr/>
            <p:nvPr/>
          </p:nvSpPr>
          <p:spPr>
            <a:xfrm>
              <a:off x="-1" y="-1"/>
              <a:ext cx="5138940" cy="31090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51" name="從「一棵樹」變成「三個欄位＋卡片」，成為最終系統的核心體驗"/>
            <p:cNvSpPr txBox="1"/>
            <p:nvPr/>
          </p:nvSpPr>
          <p:spPr>
            <a:xfrm>
              <a:off x="353314" y="47498"/>
              <a:ext cx="443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從「一棵樹」變成「三個欄位＋卡片」，成為最終系統的核心體驗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為什麼要重構</a:t>
            </a:r>
          </a:p>
        </p:txBody>
      </p:sp>
      <p:sp>
        <p:nvSpPr>
          <p:cNvPr id="355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兩個都好用的功能，合在一起卻打架</a:t>
            </a:r>
          </a:p>
        </p:txBody>
      </p:sp>
      <p:sp>
        <p:nvSpPr>
          <p:cNvPr id="356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不是技術寫不出來，是介面跟使用體驗卡住了</a:t>
            </a:r>
          </a:p>
        </p:txBody>
      </p:sp>
      <p:sp>
        <p:nvSpPr>
          <p:cNvPr id="357" name="Connector 4"/>
          <p:cNvSpPr/>
          <p:nvPr/>
        </p:nvSpPr>
        <p:spPr>
          <a:xfrm>
            <a:off x="685797" y="1911094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8" name="Oval 5"/>
          <p:cNvSpPr/>
          <p:nvPr/>
        </p:nvSpPr>
        <p:spPr>
          <a:xfrm>
            <a:off x="658368" y="1883664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9" name="Oval 6"/>
          <p:cNvSpPr/>
          <p:nvPr/>
        </p:nvSpPr>
        <p:spPr>
          <a:xfrm>
            <a:off x="106984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0" name="Oval 7"/>
          <p:cNvSpPr/>
          <p:nvPr/>
        </p:nvSpPr>
        <p:spPr>
          <a:xfrm>
            <a:off x="148132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1" name="Rectangle 8"/>
          <p:cNvSpPr/>
          <p:nvPr/>
        </p:nvSpPr>
        <p:spPr>
          <a:xfrm>
            <a:off x="685798" y="2414016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2" name="TextBox 9"/>
          <p:cNvSpPr txBox="1"/>
          <p:nvPr/>
        </p:nvSpPr>
        <p:spPr>
          <a:xfrm>
            <a:off x="978405" y="2322576"/>
            <a:ext cx="10515057" cy="58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做得好的是樹狀規劃；Spring-TaskFlow 做得好的是看板指派——WbsFlow 把兩者硬合併，結果要先搭骨架才能建任務；使用者實際要的是先建任務、事後再歸類，所以拆掉樹狀階層，任務改成天生獨立</a:t>
            </a:r>
          </a:p>
        </p:txBody>
      </p:sp>
      <p:sp>
        <p:nvSpPr>
          <p:cNvPr id="363" name="Rectangle 10"/>
          <p:cNvSpPr/>
          <p:nvPr/>
        </p:nvSpPr>
        <p:spPr>
          <a:xfrm>
            <a:off x="685795" y="3408045"/>
            <a:ext cx="4946638" cy="3038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4" name="Rectangle 11"/>
          <p:cNvSpPr/>
          <p:nvPr/>
        </p:nvSpPr>
        <p:spPr>
          <a:xfrm>
            <a:off x="685795" y="3408045"/>
            <a:ext cx="4946638" cy="384053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5" name="TextBox 12"/>
          <p:cNvSpPr txBox="1"/>
          <p:nvPr/>
        </p:nvSpPr>
        <p:spPr>
          <a:xfrm>
            <a:off x="685795" y="3485769"/>
            <a:ext cx="4946638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之前 · WBS 樹狀規劃</a:t>
            </a:r>
          </a:p>
        </p:txBody>
      </p:sp>
      <p:sp>
        <p:nvSpPr>
          <p:cNvPr id="366" name="Rectangle 13"/>
          <p:cNvSpPr/>
          <p:nvPr/>
        </p:nvSpPr>
        <p:spPr>
          <a:xfrm>
            <a:off x="6546828" y="3408045"/>
            <a:ext cx="4946635" cy="3038480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7" name="Rectangle 14"/>
          <p:cNvSpPr/>
          <p:nvPr/>
        </p:nvSpPr>
        <p:spPr>
          <a:xfrm>
            <a:off x="6546828" y="3408045"/>
            <a:ext cx="4946635" cy="38405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8" name="TextBox 15"/>
          <p:cNvSpPr txBox="1"/>
          <p:nvPr/>
        </p:nvSpPr>
        <p:spPr>
          <a:xfrm>
            <a:off x="6546828" y="3485769"/>
            <a:ext cx="4946635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任務導向看板</a:t>
            </a:r>
          </a:p>
        </p:txBody>
      </p:sp>
      <p:sp>
        <p:nvSpPr>
          <p:cNvPr id="369" name="Connector 16"/>
          <p:cNvSpPr/>
          <p:nvPr/>
        </p:nvSpPr>
        <p:spPr>
          <a:xfrm>
            <a:off x="5742156" y="4927282"/>
            <a:ext cx="694949" cy="5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70" name="Isosceles Triangle 17"/>
          <p:cNvSpPr/>
          <p:nvPr/>
        </p:nvSpPr>
        <p:spPr>
          <a:xfrm rot="5400000">
            <a:off x="6290795" y="4835840"/>
            <a:ext cx="182885" cy="182885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71" name="Picture 18" descr="Picture 1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19272" y="3956684"/>
            <a:ext cx="1279685" cy="2215516"/>
          </a:xfrm>
          <a:prstGeom prst="rect">
            <a:avLst/>
          </a:prstGeom>
          <a:ln w="12700">
            <a:miter lim="400000"/>
          </a:ln>
        </p:spPr>
      </p:pic>
      <p:pic>
        <p:nvPicPr>
          <p:cNvPr id="372" name="Picture 19" descr="Picture 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247732" y="3956684"/>
            <a:ext cx="3544824" cy="221551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我怎麼用 AI</a:t>
            </a:r>
          </a:p>
        </p:txBody>
      </p:sp>
      <p:sp>
        <p:nvSpPr>
          <p:cNvPr id="375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實際的做法，講給有興趣的同仁參考</a:t>
            </a:r>
          </a:p>
        </p:txBody>
      </p:sp>
      <p:sp>
        <p:nvSpPr>
          <p:cNvPr id="376" name="Connector 3"/>
          <p:cNvSpPr/>
          <p:nvPr/>
        </p:nvSpPr>
        <p:spPr>
          <a:xfrm>
            <a:off x="685797" y="1572766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77" name="Oval 4"/>
          <p:cNvSpPr/>
          <p:nvPr/>
        </p:nvSpPr>
        <p:spPr>
          <a:xfrm>
            <a:off x="658368" y="154533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8" name="Oval 5"/>
          <p:cNvSpPr/>
          <p:nvPr/>
        </p:nvSpPr>
        <p:spPr>
          <a:xfrm>
            <a:off x="106984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9" name="Oval 6"/>
          <p:cNvSpPr/>
          <p:nvPr/>
        </p:nvSpPr>
        <p:spPr>
          <a:xfrm>
            <a:off x="148132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0" name="Rectangle 7"/>
          <p:cNvSpPr/>
          <p:nvPr/>
        </p:nvSpPr>
        <p:spPr>
          <a:xfrm>
            <a:off x="685798" y="2075688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1" name="TextBox 8"/>
          <p:cNvSpPr txBox="1"/>
          <p:nvPr/>
        </p:nvSpPr>
        <p:spPr>
          <a:xfrm>
            <a:off x="978405" y="1984248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動手前，我會先讓 AI 把舊專案的程式碼讀過一遍，比我自己憑印象猜準很多</a:t>
            </a:r>
          </a:p>
        </p:txBody>
      </p:sp>
      <p:sp>
        <p:nvSpPr>
          <p:cNvPr id="382" name="Rectangle 9"/>
          <p:cNvSpPr/>
          <p:nvPr/>
        </p:nvSpPr>
        <p:spPr>
          <a:xfrm>
            <a:off x="685798" y="2428619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3" name="TextBox 10"/>
          <p:cNvSpPr txBox="1"/>
          <p:nvPr/>
        </p:nvSpPr>
        <p:spPr>
          <a:xfrm>
            <a:off x="978405" y="2337180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一個任務開一個新對話，不讓前面累積的雜訊影響判斷</a:t>
            </a:r>
          </a:p>
        </p:txBody>
      </p:sp>
      <p:sp>
        <p:nvSpPr>
          <p:cNvPr id="384" name="Rectangle 11"/>
          <p:cNvSpPr/>
          <p:nvPr/>
        </p:nvSpPr>
        <p:spPr>
          <a:xfrm>
            <a:off x="685798" y="2781554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5" name="TextBox 12"/>
          <p:cNvSpPr txBox="1"/>
          <p:nvPr/>
        </p:nvSpPr>
        <p:spPr>
          <a:xfrm>
            <a:off x="978405" y="2690114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寫的跟審的分開：同一段東西，我另外開一個 AI 來挑毛病，不讓它自己審自己</a:t>
            </a:r>
          </a:p>
        </p:txBody>
      </p:sp>
      <p:sp>
        <p:nvSpPr>
          <p:cNvPr id="386" name="Rectangle 13"/>
          <p:cNvSpPr/>
          <p:nvPr/>
        </p:nvSpPr>
        <p:spPr>
          <a:xfrm>
            <a:off x="685798" y="3134485"/>
            <a:ext cx="100590" cy="100590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TextBox 14"/>
          <p:cNvSpPr txBox="1"/>
          <p:nvPr/>
        </p:nvSpPr>
        <p:spPr>
          <a:xfrm>
            <a:off x="978405" y="3043046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簡單的抄寫用便宜快的，需要判斷的才換強的，額度留給真的難的地方</a:t>
            </a:r>
          </a:p>
        </p:txBody>
      </p:sp>
      <p:sp>
        <p:nvSpPr>
          <p:cNvPr id="388" name="Rectangle 15"/>
          <p:cNvSpPr/>
          <p:nvPr/>
        </p:nvSpPr>
        <p:spPr>
          <a:xfrm>
            <a:off x="685798" y="3487420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9" name="TextBox 16"/>
          <p:cNvSpPr txBox="1"/>
          <p:nvPr/>
        </p:nvSpPr>
        <p:spPr>
          <a:xfrm>
            <a:off x="978405" y="3395979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進度另外記一份檔案，對話斷掉重開，看記錄就能接著做</a:t>
            </a:r>
          </a:p>
        </p:txBody>
      </p:sp>
      <p:sp>
        <p:nvSpPr>
          <p:cNvPr id="390" name="Rectangle 17"/>
          <p:cNvSpPr/>
          <p:nvPr/>
        </p:nvSpPr>
        <p:spPr>
          <a:xfrm>
            <a:off x="685800" y="3794633"/>
            <a:ext cx="10807659" cy="566933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18"/>
          <p:cNvSpPr/>
          <p:nvPr/>
        </p:nvSpPr>
        <p:spPr>
          <a:xfrm>
            <a:off x="685798" y="3794633"/>
            <a:ext cx="73158" cy="566933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2" name="TextBox 19"/>
          <p:cNvSpPr txBox="1"/>
          <p:nvPr/>
        </p:nvSpPr>
        <p:spPr>
          <a:xfrm>
            <a:off x="941830" y="3963796"/>
            <a:ext cx="1035046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「不讓它自己審自己」這條，後來救回過好幾次差點出包的東西。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踩過的坑</a:t>
            </a:r>
          </a:p>
        </p:txBody>
      </p:sp>
      <p:sp>
        <p:nvSpPr>
          <p:cNvPr id="395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它說沒問題，實際不一定</a:t>
            </a:r>
          </a:p>
        </p:txBody>
      </p:sp>
      <p:sp>
        <p:nvSpPr>
          <p:cNvPr id="396" name="Connector 3"/>
          <p:cNvSpPr/>
          <p:nvPr/>
        </p:nvSpPr>
        <p:spPr>
          <a:xfrm>
            <a:off x="685797" y="1664205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7" name="Oval 4"/>
          <p:cNvSpPr/>
          <p:nvPr/>
        </p:nvSpPr>
        <p:spPr>
          <a:xfrm>
            <a:off x="658368" y="163677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8" name="Oval 5"/>
          <p:cNvSpPr/>
          <p:nvPr/>
        </p:nvSpPr>
        <p:spPr>
          <a:xfrm>
            <a:off x="106984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9" name="Oval 6"/>
          <p:cNvSpPr/>
          <p:nvPr/>
        </p:nvSpPr>
        <p:spPr>
          <a:xfrm>
            <a:off x="148132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0" name="Rectangle 7"/>
          <p:cNvSpPr/>
          <p:nvPr/>
        </p:nvSpPr>
        <p:spPr>
          <a:xfrm>
            <a:off x="685798" y="2212848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1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後來養成習慣：可疑的結論不聽解釋，直接要求重現一次給我看</a:t>
            </a:r>
          </a:p>
        </p:txBody>
      </p:sp>
      <p:sp>
        <p:nvSpPr>
          <p:cNvPr id="402" name="Rectangle 9"/>
          <p:cNvSpPr/>
          <p:nvPr/>
        </p:nvSpPr>
        <p:spPr>
          <a:xfrm>
            <a:off x="685798" y="2665727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兩個印象比較深的例子：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真實對話紀錄 · 例子一</a:t>
            </a:r>
          </a:p>
        </p:txBody>
      </p:sp>
      <p:sp>
        <p:nvSpPr>
          <p:cNvPr id="406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一句模糊指令，兩條互斥的路線</a:t>
            </a:r>
          </a:p>
        </p:txBody>
      </p:sp>
      <p:sp>
        <p:nvSpPr>
          <p:cNvPr id="407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任務導向重構開工前，我沒有直接動手，先把分岔路口攤開來問</a:t>
            </a:r>
          </a:p>
        </p:txBody>
      </p:sp>
      <p:sp>
        <p:nvSpPr>
          <p:cNvPr id="408" name="Connector 4"/>
          <p:cNvSpPr/>
          <p:nvPr/>
        </p:nvSpPr>
        <p:spPr>
          <a:xfrm>
            <a:off x="685797" y="1911094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09" name="Oval 5"/>
          <p:cNvSpPr/>
          <p:nvPr/>
        </p:nvSpPr>
        <p:spPr>
          <a:xfrm>
            <a:off x="658368" y="1883664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0" name="Oval 6"/>
          <p:cNvSpPr/>
          <p:nvPr/>
        </p:nvSpPr>
        <p:spPr>
          <a:xfrm>
            <a:off x="106984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1" name="Oval 7"/>
          <p:cNvSpPr/>
          <p:nvPr/>
        </p:nvSpPr>
        <p:spPr>
          <a:xfrm>
            <a:off x="148132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2" name="Rectangle 8"/>
          <p:cNvSpPr/>
          <p:nvPr/>
        </p:nvSpPr>
        <p:spPr>
          <a:xfrm>
            <a:off x="685800" y="2276855"/>
            <a:ext cx="10807659" cy="685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3" name="Rectangle 9"/>
          <p:cNvSpPr/>
          <p:nvPr/>
        </p:nvSpPr>
        <p:spPr>
          <a:xfrm>
            <a:off x="685800" y="2276855"/>
            <a:ext cx="54864" cy="68580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4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415" name="TextBox 11"/>
          <p:cNvSpPr txBox="1"/>
          <p:nvPr/>
        </p:nvSpPr>
        <p:spPr>
          <a:xfrm>
            <a:off x="960118" y="2660904"/>
            <a:ext cx="102590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「請繼續完成系統建制」</a:t>
            </a:r>
          </a:p>
        </p:txBody>
      </p:sp>
      <p:sp>
        <p:nvSpPr>
          <p:cNvPr id="416" name="Rectangle 12"/>
          <p:cNvSpPr/>
          <p:nvPr/>
        </p:nvSpPr>
        <p:spPr>
          <a:xfrm>
            <a:off x="685800" y="3127248"/>
            <a:ext cx="10807659" cy="1645925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7" name="Rectangle 13"/>
          <p:cNvSpPr/>
          <p:nvPr/>
        </p:nvSpPr>
        <p:spPr>
          <a:xfrm>
            <a:off x="685800" y="3127248"/>
            <a:ext cx="54864" cy="164592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8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419" name="TextBox 15"/>
          <p:cNvSpPr txBox="1"/>
          <p:nvPr/>
        </p:nvSpPr>
        <p:spPr>
          <a:xfrm>
            <a:off x="960118" y="3511296"/>
            <a:ext cx="10259023" cy="810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「繼續完成系統建制」指的是哪個方向？兩者路線互斥（重構會移除現有樹編輯器）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① 執行任務導向重構（推薦）— 看板變預設首頁，移除舊三分頁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② 在現有 WBS 樹模型上補完 — 樹狀模型不變，把佔位符分頁做出來</a:t>
            </a:r>
          </a:p>
        </p:txBody>
      </p:sp>
      <p:sp>
        <p:nvSpPr>
          <p:cNvPr id="420" name="Rectangle 16"/>
          <p:cNvSpPr/>
          <p:nvPr/>
        </p:nvSpPr>
        <p:spPr>
          <a:xfrm>
            <a:off x="685800" y="4983479"/>
            <a:ext cx="10807659" cy="594365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1" name="TextBox 17"/>
          <p:cNvSpPr txBox="1"/>
          <p:nvPr/>
        </p:nvSpPr>
        <p:spPr>
          <a:xfrm>
            <a:off x="914400" y="5172709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422" name="TextBox 18"/>
          <p:cNvSpPr txBox="1"/>
          <p:nvPr/>
        </p:nvSpPr>
        <p:spPr>
          <a:xfrm>
            <a:off x="1737360" y="5172709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選了①，後續做出 11 個任務、73 commits，104/104 測試通過，才有現在的 MissionBoard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真實對話紀錄 · 例子二</a:t>
            </a:r>
          </a:p>
        </p:txBody>
      </p:sp>
      <p:sp>
        <p:nvSpPr>
          <p:cNvPr id="425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獨立審查，抓到單一任務看不出來的問題</a:t>
            </a:r>
          </a:p>
        </p:txBody>
      </p:sp>
      <p:sp>
        <p:nvSpPr>
          <p:cNvPr id="426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11 個任務都各自過關後，另一顆最強模型做最終總體檢查</a:t>
            </a:r>
          </a:p>
        </p:txBody>
      </p:sp>
      <p:sp>
        <p:nvSpPr>
          <p:cNvPr id="427" name="Connector 4"/>
          <p:cNvSpPr/>
          <p:nvPr/>
        </p:nvSpPr>
        <p:spPr>
          <a:xfrm>
            <a:off x="685797" y="1911094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8" name="Oval 5"/>
          <p:cNvSpPr/>
          <p:nvPr/>
        </p:nvSpPr>
        <p:spPr>
          <a:xfrm>
            <a:off x="658368" y="1883664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9" name="Oval 6"/>
          <p:cNvSpPr/>
          <p:nvPr/>
        </p:nvSpPr>
        <p:spPr>
          <a:xfrm>
            <a:off x="106984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0" name="Oval 7"/>
          <p:cNvSpPr/>
          <p:nvPr/>
        </p:nvSpPr>
        <p:spPr>
          <a:xfrm>
            <a:off x="148132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1" name="Rectangle 8"/>
          <p:cNvSpPr/>
          <p:nvPr/>
        </p:nvSpPr>
        <p:spPr>
          <a:xfrm>
            <a:off x="685800" y="2276855"/>
            <a:ext cx="10807659" cy="685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2" name="Rectangle 9"/>
          <p:cNvSpPr/>
          <p:nvPr/>
        </p:nvSpPr>
        <p:spPr>
          <a:xfrm>
            <a:off x="685800" y="2276855"/>
            <a:ext cx="54864" cy="68580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3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434" name="TextBox 11"/>
          <p:cNvSpPr txBox="1"/>
          <p:nvPr/>
        </p:nvSpPr>
        <p:spPr>
          <a:xfrm>
            <a:off x="960118" y="2660904"/>
            <a:ext cx="102590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（11 個任務全數完成、各自審查通過後，啟動最終總體檢查）</a:t>
            </a:r>
          </a:p>
        </p:txBody>
      </p:sp>
      <p:sp>
        <p:nvSpPr>
          <p:cNvPr id="435" name="Rectangle 12"/>
          <p:cNvSpPr/>
          <p:nvPr/>
        </p:nvSpPr>
        <p:spPr>
          <a:xfrm>
            <a:off x="685800" y="3127248"/>
            <a:ext cx="10807659" cy="1901952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6" name="Rectangle 13"/>
          <p:cNvSpPr/>
          <p:nvPr/>
        </p:nvSpPr>
        <p:spPr>
          <a:xfrm>
            <a:off x="685800" y="3127248"/>
            <a:ext cx="54864" cy="190195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7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438" name="TextBox 15"/>
          <p:cNvSpPr txBox="1"/>
          <p:nvPr/>
        </p:nvSpPr>
        <p:spPr>
          <a:xfrm>
            <a:off x="960118" y="3511296"/>
            <a:ext cx="10259023" cy="7340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Final review: no Critical findings, 3 Important（都是文件／測試缺口）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額外納入修正：project-detail.js 同欄向下拖曳有 off-by-one（插入位置差一格）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派一個統整 fix wave 處理全部發現，不是一個發現派一個 fixer</a:t>
            </a:r>
          </a:p>
        </p:txBody>
      </p:sp>
      <p:sp>
        <p:nvSpPr>
          <p:cNvPr id="439" name="Rectangle 16"/>
          <p:cNvSpPr/>
          <p:nvPr/>
        </p:nvSpPr>
        <p:spPr>
          <a:xfrm>
            <a:off x="685800" y="5239510"/>
            <a:ext cx="10807659" cy="594365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0" name="TextBox 17"/>
          <p:cNvSpPr txBox="1"/>
          <p:nvPr/>
        </p:nvSpPr>
        <p:spPr>
          <a:xfrm>
            <a:off x="914400" y="5428741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441" name="TextBox 18"/>
          <p:cNvSpPr txBox="1"/>
          <p:nvPr/>
        </p:nvSpPr>
        <p:spPr>
          <a:xfrm>
            <a:off x="1737360" y="5428741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8 個發現全部修復，複查乾淨，104/104 測試通過才 commit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我自己設的規矩</a:t>
            </a:r>
          </a:p>
        </p:txBody>
      </p:sp>
      <p:sp>
        <p:nvSpPr>
          <p:cNvPr id="444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怎麼確認做出來的東西真的能用</a:t>
            </a:r>
          </a:p>
        </p:txBody>
      </p:sp>
      <p:sp>
        <p:nvSpPr>
          <p:cNvPr id="445" name="Connector 3"/>
          <p:cNvSpPr/>
          <p:nvPr/>
        </p:nvSpPr>
        <p:spPr>
          <a:xfrm>
            <a:off x="685797" y="1664205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6" name="Oval 4"/>
          <p:cNvSpPr/>
          <p:nvPr/>
        </p:nvSpPr>
        <p:spPr>
          <a:xfrm>
            <a:off x="658368" y="163677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7" name="Oval 5"/>
          <p:cNvSpPr/>
          <p:nvPr/>
        </p:nvSpPr>
        <p:spPr>
          <a:xfrm>
            <a:off x="106984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8" name="Oval 6"/>
          <p:cNvSpPr/>
          <p:nvPr/>
        </p:nvSpPr>
        <p:spPr>
          <a:xfrm>
            <a:off x="148132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9" name="Rectangle 7"/>
          <p:cNvSpPr/>
          <p:nvPr/>
        </p:nvSpPr>
        <p:spPr>
          <a:xfrm>
            <a:off x="685798" y="2212848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0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有畫面的功能，一定要截圖給我看，不接受只說「已完成」</a:t>
            </a:r>
          </a:p>
        </p:txBody>
      </p:sp>
      <p:sp>
        <p:nvSpPr>
          <p:cNvPr id="451" name="Rectangle 9"/>
          <p:cNvSpPr/>
          <p:nvPr/>
        </p:nvSpPr>
        <p:spPr>
          <a:xfrm>
            <a:off x="685798" y="2665727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2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要推上遠端，一律要我親自點頭才行，AI 不能自己決定</a:t>
            </a:r>
          </a:p>
        </p:txBody>
      </p:sp>
      <p:sp>
        <p:nvSpPr>
          <p:cNvPr id="453" name="Rectangle 11"/>
          <p:cNvSpPr/>
          <p:nvPr/>
        </p:nvSpPr>
        <p:spPr>
          <a:xfrm>
            <a:off x="685798" y="3118610"/>
            <a:ext cx="100590" cy="100590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4" name="TextBox 12"/>
          <p:cNvSpPr txBox="1"/>
          <p:nvPr/>
        </p:nvSpPr>
        <p:spPr>
          <a:xfrm>
            <a:off x="978405" y="3027171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測試沒過就是還沒做完，沒有例外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開發流程</a:t>
            </a:r>
          </a:p>
        </p:txBody>
      </p:sp>
      <p:sp>
        <p:nvSpPr>
          <p:cNvPr id="457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每個功能都走一樣的四步驟</a:t>
            </a:r>
          </a:p>
        </p:txBody>
      </p:sp>
      <p:sp>
        <p:nvSpPr>
          <p:cNvPr id="458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不只寫程式，分析、測試、文件也是流程裡固定要做的一步，不是事後才想到</a:t>
            </a:r>
          </a:p>
        </p:txBody>
      </p:sp>
      <p:sp>
        <p:nvSpPr>
          <p:cNvPr id="459" name="Connector 4"/>
          <p:cNvSpPr/>
          <p:nvPr/>
        </p:nvSpPr>
        <p:spPr>
          <a:xfrm>
            <a:off x="685798" y="1911094"/>
            <a:ext cx="822963" cy="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60" name="Oval 5"/>
          <p:cNvSpPr/>
          <p:nvPr/>
        </p:nvSpPr>
        <p:spPr>
          <a:xfrm>
            <a:off x="658368" y="1883664"/>
            <a:ext cx="54864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61" name="Oval 6"/>
          <p:cNvSpPr/>
          <p:nvPr/>
        </p:nvSpPr>
        <p:spPr>
          <a:xfrm>
            <a:off x="1069847" y="1883664"/>
            <a:ext cx="54869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62" name="Oval 7"/>
          <p:cNvSpPr/>
          <p:nvPr/>
        </p:nvSpPr>
        <p:spPr>
          <a:xfrm>
            <a:off x="1481327" y="1883664"/>
            <a:ext cx="54869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63" name="Rectangle 8"/>
          <p:cNvSpPr/>
          <p:nvPr/>
        </p:nvSpPr>
        <p:spPr>
          <a:xfrm>
            <a:off x="685800" y="2304288"/>
            <a:ext cx="10807659" cy="141732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64" name="Rectangle 9"/>
          <p:cNvSpPr/>
          <p:nvPr/>
        </p:nvSpPr>
        <p:spPr>
          <a:xfrm>
            <a:off x="685798" y="2304288"/>
            <a:ext cx="73156" cy="141732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grpSp>
        <p:nvGrpSpPr>
          <p:cNvPr id="467" name="Rounded Rectangle 10"/>
          <p:cNvGrpSpPr/>
          <p:nvPr/>
        </p:nvGrpSpPr>
        <p:grpSpPr>
          <a:xfrm>
            <a:off x="941832" y="2468877"/>
            <a:ext cx="1051565" cy="310901"/>
            <a:chOff x="0" y="0"/>
            <a:chExt cx="1051564" cy="310900"/>
          </a:xfrm>
        </p:grpSpPr>
        <p:sp>
          <p:nvSpPr>
            <p:cNvPr id="465" name="圓角矩形"/>
            <p:cNvSpPr/>
            <p:nvPr/>
          </p:nvSpPr>
          <p:spPr>
            <a:xfrm>
              <a:off x="0" y="-1"/>
              <a:ext cx="1051565" cy="310902"/>
            </a:xfrm>
            <a:prstGeom prst="roundRect">
              <a:avLst>
                <a:gd name="adj" fmla="val 50000"/>
              </a:avLst>
            </a:prstGeom>
            <a:solidFill>
              <a:srgbClr val="0B11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Helvetica"/>
                </a:defRPr>
              </a:pPr>
            </a:p>
          </p:txBody>
        </p:sp>
        <p:sp>
          <p:nvSpPr>
            <p:cNvPr id="466" name="cc-new"/>
            <p:cNvSpPr txBox="1"/>
            <p:nvPr/>
          </p:nvSpPr>
          <p:spPr>
            <a:xfrm>
              <a:off x="244172" y="66548"/>
              <a:ext cx="563216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cc-new</a:t>
              </a:r>
            </a:p>
          </p:txBody>
        </p:sp>
      </p:grpSp>
      <p:sp>
        <p:nvSpPr>
          <p:cNvPr id="468" name="TextBox 11"/>
          <p:cNvSpPr txBox="1"/>
          <p:nvPr/>
        </p:nvSpPr>
        <p:spPr>
          <a:xfrm>
            <a:off x="2148839" y="2441448"/>
            <a:ext cx="90703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每次啟動新專案／新迭代的起手式，先跑 brainstorming 定方向，再決定要不要建骨架</a:t>
            </a:r>
          </a:p>
        </p:txBody>
      </p:sp>
      <p:sp>
        <p:nvSpPr>
          <p:cNvPr id="469" name="Rectangle 12"/>
          <p:cNvSpPr/>
          <p:nvPr/>
        </p:nvSpPr>
        <p:spPr>
          <a:xfrm>
            <a:off x="941832" y="2953511"/>
            <a:ext cx="82299" cy="822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70" name="TextBox 13"/>
          <p:cNvSpPr txBox="1"/>
          <p:nvPr/>
        </p:nvSpPr>
        <p:spPr>
          <a:xfrm>
            <a:off x="1106423" y="2871216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一個指令生出三種骨架（github／godot／ios），各自帶最小可跑的範例，不是空資料夾</a:t>
            </a:r>
          </a:p>
        </p:txBody>
      </p:sp>
      <p:sp>
        <p:nvSpPr>
          <p:cNvPr id="471" name="Rectangle 14"/>
          <p:cNvSpPr/>
          <p:nvPr/>
        </p:nvSpPr>
        <p:spPr>
          <a:xfrm>
            <a:off x="941832" y="3227832"/>
            <a:ext cx="82299" cy="8229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72" name="TextBox 15"/>
          <p:cNvSpPr txBox="1"/>
          <p:nvPr/>
        </p:nvSpPr>
        <p:spPr>
          <a:xfrm>
            <a:off x="1106423" y="3145533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收工前先驗證：godot 用 headless 開一次、iOS 直接 build 模擬器，骨架跑不起來不算完成</a:t>
            </a:r>
          </a:p>
        </p:txBody>
      </p:sp>
      <p:sp>
        <p:nvSpPr>
          <p:cNvPr id="473" name="Rectangle 16"/>
          <p:cNvSpPr/>
          <p:nvPr/>
        </p:nvSpPr>
        <p:spPr>
          <a:xfrm>
            <a:off x="941832" y="3502152"/>
            <a:ext cx="82299" cy="8229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74" name="TextBox 17"/>
          <p:cNvSpPr txBox="1"/>
          <p:nvPr/>
        </p:nvSpPr>
        <p:spPr>
          <a:xfrm>
            <a:off x="1106423" y="3419854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刻意不推送：本地 commit＋建立空 private repo，推送留給新開的 session 自己決定，順便避開 push gate</a:t>
            </a:r>
          </a:p>
        </p:txBody>
      </p:sp>
      <p:sp>
        <p:nvSpPr>
          <p:cNvPr id="475" name="Oval 18"/>
          <p:cNvSpPr/>
          <p:nvPr/>
        </p:nvSpPr>
        <p:spPr>
          <a:xfrm>
            <a:off x="2729208" y="4041647"/>
            <a:ext cx="1371605" cy="1371605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76" name="TextBox 19"/>
          <p:cNvSpPr txBox="1"/>
          <p:nvPr/>
        </p:nvSpPr>
        <p:spPr>
          <a:xfrm>
            <a:off x="2729207" y="4169664"/>
            <a:ext cx="137160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477" name="TextBox 20"/>
          <p:cNvSpPr txBox="1"/>
          <p:nvPr/>
        </p:nvSpPr>
        <p:spPr>
          <a:xfrm>
            <a:off x="2729207" y="4575047"/>
            <a:ext cx="1371604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分析</a:t>
            </a:r>
          </a:p>
        </p:txBody>
      </p:sp>
      <p:sp>
        <p:nvSpPr>
          <p:cNvPr id="478" name="Connector 21"/>
          <p:cNvSpPr/>
          <p:nvPr/>
        </p:nvSpPr>
        <p:spPr>
          <a:xfrm>
            <a:off x="4100807" y="4727447"/>
            <a:ext cx="411483" cy="3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79" name="Oval 22"/>
          <p:cNvSpPr/>
          <p:nvPr/>
        </p:nvSpPr>
        <p:spPr>
          <a:xfrm>
            <a:off x="4512288" y="4041647"/>
            <a:ext cx="1371605" cy="1371605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80" name="TextBox 23"/>
          <p:cNvSpPr txBox="1"/>
          <p:nvPr/>
        </p:nvSpPr>
        <p:spPr>
          <a:xfrm>
            <a:off x="4512288" y="4169664"/>
            <a:ext cx="1371603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481" name="TextBox 24"/>
          <p:cNvSpPr txBox="1"/>
          <p:nvPr/>
        </p:nvSpPr>
        <p:spPr>
          <a:xfrm>
            <a:off x="4512288" y="4575047"/>
            <a:ext cx="137160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實作</a:t>
            </a:r>
          </a:p>
        </p:txBody>
      </p:sp>
      <p:sp>
        <p:nvSpPr>
          <p:cNvPr id="482" name="Connector 25"/>
          <p:cNvSpPr/>
          <p:nvPr/>
        </p:nvSpPr>
        <p:spPr>
          <a:xfrm>
            <a:off x="5883888" y="4727447"/>
            <a:ext cx="411483" cy="3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83" name="Oval 26"/>
          <p:cNvSpPr/>
          <p:nvPr/>
        </p:nvSpPr>
        <p:spPr>
          <a:xfrm>
            <a:off x="6295368" y="4041647"/>
            <a:ext cx="1371605" cy="1371605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84" name="TextBox 27"/>
          <p:cNvSpPr txBox="1"/>
          <p:nvPr/>
        </p:nvSpPr>
        <p:spPr>
          <a:xfrm>
            <a:off x="6295368" y="4169664"/>
            <a:ext cx="1371603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485" name="TextBox 28"/>
          <p:cNvSpPr txBox="1"/>
          <p:nvPr/>
        </p:nvSpPr>
        <p:spPr>
          <a:xfrm>
            <a:off x="6295368" y="4575047"/>
            <a:ext cx="137160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測試</a:t>
            </a:r>
          </a:p>
        </p:txBody>
      </p:sp>
      <p:sp>
        <p:nvSpPr>
          <p:cNvPr id="486" name="Connector 29"/>
          <p:cNvSpPr/>
          <p:nvPr/>
        </p:nvSpPr>
        <p:spPr>
          <a:xfrm>
            <a:off x="7666969" y="4727447"/>
            <a:ext cx="411483" cy="3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87" name="Oval 30"/>
          <p:cNvSpPr/>
          <p:nvPr/>
        </p:nvSpPr>
        <p:spPr>
          <a:xfrm>
            <a:off x="8078447" y="4041647"/>
            <a:ext cx="1371605" cy="1371605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88" name="TextBox 31"/>
          <p:cNvSpPr txBox="1"/>
          <p:nvPr/>
        </p:nvSpPr>
        <p:spPr>
          <a:xfrm>
            <a:off x="8078447" y="4169664"/>
            <a:ext cx="137160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489" name="TextBox 32"/>
          <p:cNvSpPr txBox="1"/>
          <p:nvPr/>
        </p:nvSpPr>
        <p:spPr>
          <a:xfrm>
            <a:off x="8078447" y="4575047"/>
            <a:ext cx="1371604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文件</a:t>
            </a:r>
          </a:p>
        </p:txBody>
      </p:sp>
      <p:sp>
        <p:nvSpPr>
          <p:cNvPr id="490" name="TextBox 33"/>
          <p:cNvSpPr txBox="1"/>
          <p:nvPr/>
        </p:nvSpPr>
        <p:spPr>
          <a:xfrm>
            <a:off x="685800" y="5669279"/>
            <a:ext cx="10807659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每一代（WbsScaff、Spring-WbsScaff、Spring-TaskFlow、MissionBoard）都走這四步，不是後來才補上的規矩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貼合現況</a:t>
            </a:r>
          </a:p>
        </p:txBody>
      </p:sp>
      <p:sp>
        <p:nvSpPr>
          <p:cNvPr id="493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我把現在的工作情境搬進系統裡</a:t>
            </a:r>
          </a:p>
        </p:txBody>
      </p:sp>
      <p:sp>
        <p:nvSpPr>
          <p:cNvPr id="494" name="Connector 3"/>
          <p:cNvSpPr/>
          <p:nvPr/>
        </p:nvSpPr>
        <p:spPr>
          <a:xfrm>
            <a:off x="685797" y="1664205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95" name="Oval 4"/>
          <p:cNvSpPr/>
          <p:nvPr/>
        </p:nvSpPr>
        <p:spPr>
          <a:xfrm>
            <a:off x="658368" y="163677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6" name="Oval 5"/>
          <p:cNvSpPr/>
          <p:nvPr/>
        </p:nvSpPr>
        <p:spPr>
          <a:xfrm>
            <a:off x="106984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7" name="Oval 6"/>
          <p:cNvSpPr/>
          <p:nvPr/>
        </p:nvSpPr>
        <p:spPr>
          <a:xfrm>
            <a:off x="148132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8" name="Rectangle 7"/>
          <p:cNvSpPr/>
          <p:nvPr/>
        </p:nvSpPr>
        <p:spPr>
          <a:xfrm>
            <a:off x="685798" y="2212848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9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為了貼近實際狀況，我用現在工作上真的會遇到的情境來設計：主機申請、防火牆開通、資安檢核這類項目</a:t>
            </a:r>
          </a:p>
        </p:txBody>
      </p:sp>
      <p:sp>
        <p:nvSpPr>
          <p:cNvPr id="500" name="Rectangle 9"/>
          <p:cNvSpPr/>
          <p:nvPr/>
        </p:nvSpPr>
        <p:spPr>
          <a:xfrm>
            <a:off x="685798" y="2972305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1" name="TextBox 10"/>
          <p:cNvSpPr txBox="1"/>
          <p:nvPr/>
        </p:nvSpPr>
        <p:spPr>
          <a:xfrm>
            <a:off x="978405" y="2880866"/>
            <a:ext cx="10515057" cy="664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角色也照實際職務分：長官跨科看得到但不能改、科長科內全權、專案負責人管自己的案子、成員只看得到自己參與的</a:t>
            </a:r>
          </a:p>
        </p:txBody>
      </p:sp>
      <p:sp>
        <p:nvSpPr>
          <p:cNvPr id="502" name="Rectangle 11"/>
          <p:cNvSpPr/>
          <p:nvPr/>
        </p:nvSpPr>
        <p:spPr>
          <a:xfrm>
            <a:off x="685798" y="3731767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3" name="TextBox 12"/>
          <p:cNvSpPr txBox="1"/>
          <p:nvPr/>
        </p:nvSpPr>
        <p:spPr>
          <a:xfrm>
            <a:off x="978405" y="364032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科別之間互相看不到，每個動作都會再確認一次「這個人有沒有資格動這筆資料」</a:t>
            </a:r>
          </a:p>
        </p:txBody>
      </p:sp>
      <p:sp>
        <p:nvSpPr>
          <p:cNvPr id="504" name="Rectangle 13"/>
          <p:cNvSpPr/>
          <p:nvPr/>
        </p:nvSpPr>
        <p:spPr>
          <a:xfrm>
            <a:off x="685798" y="4184648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5" name="TextBox 14"/>
          <p:cNvSpPr txBox="1"/>
          <p:nvPr/>
        </p:nvSpPr>
        <p:spPr>
          <a:xfrm>
            <a:off x="978405" y="4093209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權限畫得細，反而增加了協作的自由度：大家可以放心一起動同一份資料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508" name="TextBox 2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數字看整段旅程</a:t>
            </a:r>
          </a:p>
        </p:txBody>
      </p:sp>
      <p:sp>
        <p:nvSpPr>
          <p:cNvPr id="509" name="TextBox 3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兩個月，四個世代</a:t>
            </a:r>
          </a:p>
        </p:txBody>
      </p:sp>
      <p:sp>
        <p:nvSpPr>
          <p:cNvPr id="510" name="Connector 4"/>
          <p:cNvSpPr/>
          <p:nvPr/>
        </p:nvSpPr>
        <p:spPr>
          <a:xfrm>
            <a:off x="685798" y="1572766"/>
            <a:ext cx="822962" cy="2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11" name="Oval 5"/>
          <p:cNvSpPr/>
          <p:nvPr/>
        </p:nvSpPr>
        <p:spPr>
          <a:xfrm>
            <a:off x="658368" y="1545336"/>
            <a:ext cx="54864" cy="5486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512" name="Oval 6"/>
          <p:cNvSpPr/>
          <p:nvPr/>
        </p:nvSpPr>
        <p:spPr>
          <a:xfrm>
            <a:off x="1069847" y="1545336"/>
            <a:ext cx="54867" cy="5486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513" name="Oval 7"/>
          <p:cNvSpPr/>
          <p:nvPr/>
        </p:nvSpPr>
        <p:spPr>
          <a:xfrm>
            <a:off x="1481327" y="1545336"/>
            <a:ext cx="54867" cy="5486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514" name="TextBox 8"/>
          <p:cNvSpPr txBox="1"/>
          <p:nvPr/>
        </p:nvSpPr>
        <p:spPr>
          <a:xfrm>
            <a:off x="960119" y="2468878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241</a:t>
            </a:r>
          </a:p>
        </p:txBody>
      </p:sp>
      <p:sp>
        <p:nvSpPr>
          <p:cNvPr id="515" name="TextBox 9"/>
          <p:cNvSpPr txBox="1"/>
          <p:nvPr/>
        </p:nvSpPr>
        <p:spPr>
          <a:xfrm>
            <a:off x="960119" y="3337559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總 commit 數（四個 repo 合計）</a:t>
            </a:r>
          </a:p>
        </p:txBody>
      </p:sp>
      <p:sp>
        <p:nvSpPr>
          <p:cNvPr id="516" name="Connector 10"/>
          <p:cNvSpPr/>
          <p:nvPr/>
        </p:nvSpPr>
        <p:spPr>
          <a:xfrm>
            <a:off x="4288351" y="2606038"/>
            <a:ext cx="2" cy="1325883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17" name="TextBox 11"/>
          <p:cNvSpPr txBox="1"/>
          <p:nvPr/>
        </p:nvSpPr>
        <p:spPr>
          <a:xfrm>
            <a:off x="4562673" y="2468878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</a:t>
            </a:r>
          </a:p>
        </p:txBody>
      </p:sp>
      <p:sp>
        <p:nvSpPr>
          <p:cNvPr id="518" name="TextBox 12"/>
          <p:cNvSpPr txBox="1"/>
          <p:nvPr/>
        </p:nvSpPr>
        <p:spPr>
          <a:xfrm>
            <a:off x="4562673" y="3337559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 md 文件（四個 repo 合計）</a:t>
            </a:r>
          </a:p>
        </p:txBody>
      </p:sp>
      <p:sp>
        <p:nvSpPr>
          <p:cNvPr id="519" name="Connector 13"/>
          <p:cNvSpPr/>
          <p:nvPr/>
        </p:nvSpPr>
        <p:spPr>
          <a:xfrm>
            <a:off x="7890905" y="2606038"/>
            <a:ext cx="2" cy="1325883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0" name="TextBox 14"/>
          <p:cNvSpPr txBox="1"/>
          <p:nvPr/>
        </p:nvSpPr>
        <p:spPr>
          <a:xfrm>
            <a:off x="8165224" y="2468878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21" name="TextBox 15"/>
          <p:cNvSpPr txBox="1"/>
          <p:nvPr/>
        </p:nvSpPr>
        <p:spPr>
          <a:xfrm>
            <a:off x="8165224" y="3337559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個世代 / 階段</a:t>
            </a:r>
          </a:p>
        </p:txBody>
      </p:sp>
      <p:sp>
        <p:nvSpPr>
          <p:cNvPr id="522" name="TextBox 16"/>
          <p:cNvSpPr txBox="1"/>
          <p:nvPr/>
        </p:nvSpPr>
        <p:spPr>
          <a:xfrm>
            <a:off x="960119" y="4206240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35+</a:t>
            </a:r>
          </a:p>
        </p:txBody>
      </p:sp>
      <p:sp>
        <p:nvSpPr>
          <p:cNvPr id="523" name="TextBox 17"/>
          <p:cNvSpPr txBox="1"/>
          <p:nvPr/>
        </p:nvSpPr>
        <p:spPr>
          <a:xfrm>
            <a:off x="960119" y="5074920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個拆分給 AI 做的任務</a:t>
            </a:r>
          </a:p>
        </p:txBody>
      </p:sp>
      <p:sp>
        <p:nvSpPr>
          <p:cNvPr id="524" name="Connector 18"/>
          <p:cNvSpPr/>
          <p:nvPr/>
        </p:nvSpPr>
        <p:spPr>
          <a:xfrm>
            <a:off x="4288351" y="4343398"/>
            <a:ext cx="2" cy="1325883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5" name="TextBox 19"/>
          <p:cNvSpPr txBox="1"/>
          <p:nvPr/>
        </p:nvSpPr>
        <p:spPr>
          <a:xfrm>
            <a:off x="4562673" y="4206240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26" name="TextBox 20"/>
          <p:cNvSpPr txBox="1"/>
          <p:nvPr/>
        </p:nvSpPr>
        <p:spPr>
          <a:xfrm>
            <a:off x="4562673" y="5074920"/>
            <a:ext cx="3053915" cy="464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份全域 Claude 設定（CLAUDE.md／hooks／settings.json）</a:t>
            </a:r>
          </a:p>
        </p:txBody>
      </p:sp>
      <p:sp>
        <p:nvSpPr>
          <p:cNvPr id="527" name="Connector 21"/>
          <p:cNvSpPr/>
          <p:nvPr/>
        </p:nvSpPr>
        <p:spPr>
          <a:xfrm>
            <a:off x="7890905" y="4343398"/>
            <a:ext cx="2" cy="1325883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8" name="TextBox 22"/>
          <p:cNvSpPr txBox="1"/>
          <p:nvPr/>
        </p:nvSpPr>
        <p:spPr>
          <a:xfrm>
            <a:off x="8165224" y="4206240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529" name="TextBox 23"/>
          <p:cNvSpPr txBox="1"/>
          <p:nvPr/>
        </p:nvSpPr>
        <p:spPr>
          <a:xfrm>
            <a:off x="8165224" y="5074920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份開發規則與 skill（guides／skills／指令）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近期優化</a:t>
            </a:r>
          </a:p>
        </p:txBody>
      </p:sp>
      <p:sp>
        <p:nvSpPr>
          <p:cNvPr id="532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上線後又做了一輪：導覽重構＋首頁儀表板</a:t>
            </a:r>
          </a:p>
        </p:txBody>
      </p:sp>
      <p:sp>
        <p:nvSpPr>
          <p:cNvPr id="533" name="Connector 3"/>
          <p:cNvSpPr/>
          <p:nvPr/>
        </p:nvSpPr>
        <p:spPr>
          <a:xfrm>
            <a:off x="685797" y="1664205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4" name="Oval 4"/>
          <p:cNvSpPr/>
          <p:nvPr/>
        </p:nvSpPr>
        <p:spPr>
          <a:xfrm>
            <a:off x="658368" y="163677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5" name="Oval 5"/>
          <p:cNvSpPr/>
          <p:nvPr/>
        </p:nvSpPr>
        <p:spPr>
          <a:xfrm>
            <a:off x="106984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6" name="Oval 6"/>
          <p:cNvSpPr/>
          <p:nvPr/>
        </p:nvSpPr>
        <p:spPr>
          <a:xfrm>
            <a:off x="1481327" y="163677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7" name="Rectangle 7"/>
          <p:cNvSpPr/>
          <p:nvPr/>
        </p:nvSpPr>
        <p:spPr>
          <a:xfrm>
            <a:off x="685798" y="2212848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8" name="TextBox 8"/>
          <p:cNvSpPr txBox="1"/>
          <p:nvPr/>
        </p:nvSpPr>
        <p:spPr>
          <a:xfrm>
            <a:off x="978405" y="2121405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全站視覺改成白色簡約風格：卡片陰影全部換成細邊框，色彩與字體統一抽成 CSS token</a:t>
            </a:r>
          </a:p>
        </p:txBody>
      </p:sp>
      <p:sp>
        <p:nvSpPr>
          <p:cNvPr id="539" name="Rectangle 9"/>
          <p:cNvSpPr/>
          <p:nvPr/>
        </p:nvSpPr>
        <p:spPr>
          <a:xfrm>
            <a:off x="685798" y="2638679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0" name="TextBox 10"/>
          <p:cNvSpPr txBox="1"/>
          <p:nvPr/>
        </p:nvSpPr>
        <p:spPr>
          <a:xfrm>
            <a:off x="978405" y="2547239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看板、人員派工、WBS 檢視搬進側邊欄第二層，跟著目前所在專案走，不再跟內容區搶版面</a:t>
            </a:r>
          </a:p>
        </p:txBody>
      </p:sp>
      <p:sp>
        <p:nvSpPr>
          <p:cNvPr id="541" name="Rectangle 11"/>
          <p:cNvSpPr/>
          <p:nvPr/>
        </p:nvSpPr>
        <p:spPr>
          <a:xfrm>
            <a:off x="685798" y="3064510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2" name="TextBox 12"/>
          <p:cNvSpPr txBox="1"/>
          <p:nvPr/>
        </p:nvSpPr>
        <p:spPr>
          <a:xfrm>
            <a:off x="978405" y="2973070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 檢視補上「新增大項」，跟看板共用同一套選單挑選邏輯，不用重寫一份</a:t>
            </a:r>
          </a:p>
        </p:txBody>
      </p:sp>
      <p:sp>
        <p:nvSpPr>
          <p:cNvPr id="543" name="Rectangle 13"/>
          <p:cNvSpPr/>
          <p:nvPr/>
        </p:nvSpPr>
        <p:spPr>
          <a:xfrm>
            <a:off x="685798" y="3490340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4" name="TextBox 14"/>
          <p:cNvSpPr txBox="1"/>
          <p:nvPr/>
        </p:nvSpPr>
        <p:spPr>
          <a:xfrm>
            <a:off x="978405" y="3398899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首頁從單純的歡迎詞，改成依角色分三層的儀表板：操作人員看自己的專案跟任務、科長看本科總覽、主任看跨科總覽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近期優化 · 畫面</a:t>
            </a:r>
          </a:p>
        </p:txBody>
      </p:sp>
      <p:sp>
        <p:nvSpPr>
          <p:cNvPr id="547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側邊欄導覽 × WBS 新增大項</a:t>
            </a:r>
          </a:p>
        </p:txBody>
      </p:sp>
      <p:sp>
        <p:nvSpPr>
          <p:cNvPr id="548" name="Connector 3"/>
          <p:cNvSpPr/>
          <p:nvPr/>
        </p:nvSpPr>
        <p:spPr>
          <a:xfrm>
            <a:off x="685797" y="1572766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9" name="Oval 4"/>
          <p:cNvSpPr/>
          <p:nvPr/>
        </p:nvSpPr>
        <p:spPr>
          <a:xfrm>
            <a:off x="658368" y="154533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0" name="Oval 5"/>
          <p:cNvSpPr/>
          <p:nvPr/>
        </p:nvSpPr>
        <p:spPr>
          <a:xfrm>
            <a:off x="106984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1" name="Oval 6"/>
          <p:cNvSpPr/>
          <p:nvPr/>
        </p:nvSpPr>
        <p:spPr>
          <a:xfrm>
            <a:off x="148132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2" name="Rectangle 7"/>
          <p:cNvSpPr/>
          <p:nvPr/>
        </p:nvSpPr>
        <p:spPr>
          <a:xfrm>
            <a:off x="630936" y="1975103"/>
            <a:ext cx="5330677" cy="275610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553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29966"/>
            <a:ext cx="5220948" cy="2646373"/>
          </a:xfrm>
          <a:prstGeom prst="rect">
            <a:avLst/>
          </a:prstGeom>
          <a:ln w="12700">
            <a:miter lim="400000"/>
          </a:ln>
        </p:spPr>
      </p:pic>
      <p:sp>
        <p:nvSpPr>
          <p:cNvPr id="554" name="Rectangle 9"/>
          <p:cNvSpPr/>
          <p:nvPr/>
        </p:nvSpPr>
        <p:spPr>
          <a:xfrm>
            <a:off x="630934" y="1975103"/>
            <a:ext cx="310902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5" name="Rectangle 10"/>
          <p:cNvSpPr/>
          <p:nvPr/>
        </p:nvSpPr>
        <p:spPr>
          <a:xfrm>
            <a:off x="630936" y="1975103"/>
            <a:ext cx="54869" cy="31090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58" name="Rounded Rectangle 11"/>
          <p:cNvGrpSpPr/>
          <p:nvPr/>
        </p:nvGrpSpPr>
        <p:grpSpPr>
          <a:xfrm>
            <a:off x="685800" y="4840926"/>
            <a:ext cx="1682500" cy="310907"/>
            <a:chOff x="0" y="0"/>
            <a:chExt cx="1682499" cy="310905"/>
          </a:xfrm>
        </p:grpSpPr>
        <p:sp>
          <p:nvSpPr>
            <p:cNvPr id="556" name="圓角矩形"/>
            <p:cNvSpPr/>
            <p:nvPr/>
          </p:nvSpPr>
          <p:spPr>
            <a:xfrm>
              <a:off x="0" y="-1"/>
              <a:ext cx="1682500" cy="31090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557" name="看板＋側邊欄導覽"/>
            <p:cNvSpPr txBox="1"/>
            <p:nvPr/>
          </p:nvSpPr>
          <p:spPr>
            <a:xfrm>
              <a:off x="225297" y="47498"/>
              <a:ext cx="12319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看板＋側邊欄導覽</a:t>
              </a:r>
            </a:p>
          </p:txBody>
        </p:sp>
      </p:grpSp>
      <p:sp>
        <p:nvSpPr>
          <p:cNvPr id="559" name="Rectangle 12"/>
          <p:cNvSpPr/>
          <p:nvPr/>
        </p:nvSpPr>
        <p:spPr>
          <a:xfrm>
            <a:off x="6217644" y="1975103"/>
            <a:ext cx="5330681" cy="275610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560" name="Picture 13" descr="Picture 1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72507" y="2029966"/>
            <a:ext cx="5220950" cy="2646373"/>
          </a:xfrm>
          <a:prstGeom prst="rect">
            <a:avLst/>
          </a:prstGeom>
          <a:ln w="12700">
            <a:miter lim="400000"/>
          </a:ln>
        </p:spPr>
      </p:pic>
      <p:sp>
        <p:nvSpPr>
          <p:cNvPr id="561" name="Rectangle 14"/>
          <p:cNvSpPr/>
          <p:nvPr/>
        </p:nvSpPr>
        <p:spPr>
          <a:xfrm>
            <a:off x="6217644" y="1975103"/>
            <a:ext cx="310901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2" name="Rectangle 15"/>
          <p:cNvSpPr/>
          <p:nvPr/>
        </p:nvSpPr>
        <p:spPr>
          <a:xfrm>
            <a:off x="6217644" y="1975103"/>
            <a:ext cx="54869" cy="31090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65" name="Rounded Rectangle 16"/>
          <p:cNvGrpSpPr/>
          <p:nvPr/>
        </p:nvGrpSpPr>
        <p:grpSpPr>
          <a:xfrm>
            <a:off x="6272502" y="4840926"/>
            <a:ext cx="2176283" cy="310907"/>
            <a:chOff x="0" y="0"/>
            <a:chExt cx="2176281" cy="310905"/>
          </a:xfrm>
        </p:grpSpPr>
        <p:sp>
          <p:nvSpPr>
            <p:cNvPr id="563" name="圓角矩形"/>
            <p:cNvSpPr/>
            <p:nvPr/>
          </p:nvSpPr>
          <p:spPr>
            <a:xfrm>
              <a:off x="-1" y="-1"/>
              <a:ext cx="2176282" cy="31090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564" name="WBS 檢視＋新增大項"/>
            <p:cNvSpPr txBox="1"/>
            <p:nvPr/>
          </p:nvSpPr>
          <p:spPr>
            <a:xfrm>
              <a:off x="364880" y="47498"/>
              <a:ext cx="144651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WBS 檢視＋新增大項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近期優化 · 首頁</a:t>
            </a:r>
          </a:p>
        </p:txBody>
      </p:sp>
      <p:sp>
        <p:nvSpPr>
          <p:cNvPr id="568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首頁儀表板：依角色分三層</a:t>
            </a:r>
          </a:p>
        </p:txBody>
      </p:sp>
      <p:sp>
        <p:nvSpPr>
          <p:cNvPr id="569" name="Connector 3"/>
          <p:cNvSpPr/>
          <p:nvPr/>
        </p:nvSpPr>
        <p:spPr>
          <a:xfrm>
            <a:off x="685797" y="1572766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70" name="Oval 4"/>
          <p:cNvSpPr/>
          <p:nvPr/>
        </p:nvSpPr>
        <p:spPr>
          <a:xfrm>
            <a:off x="658368" y="1545336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1" name="Oval 5"/>
          <p:cNvSpPr/>
          <p:nvPr/>
        </p:nvSpPr>
        <p:spPr>
          <a:xfrm>
            <a:off x="106984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2" name="Oval 6"/>
          <p:cNvSpPr/>
          <p:nvPr/>
        </p:nvSpPr>
        <p:spPr>
          <a:xfrm>
            <a:off x="1481327" y="1545336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3" name="Rectangle 7"/>
          <p:cNvSpPr/>
          <p:nvPr/>
        </p:nvSpPr>
        <p:spPr>
          <a:xfrm>
            <a:off x="2156176" y="1975103"/>
            <a:ext cx="7866906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574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11040" y="2029966"/>
            <a:ext cx="7757178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Rectangle 9"/>
          <p:cNvSpPr/>
          <p:nvPr/>
        </p:nvSpPr>
        <p:spPr>
          <a:xfrm>
            <a:off x="2156174" y="1975103"/>
            <a:ext cx="310901" cy="5486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6" name="Rectangle 10"/>
          <p:cNvSpPr/>
          <p:nvPr/>
        </p:nvSpPr>
        <p:spPr>
          <a:xfrm>
            <a:off x="2156174" y="1975103"/>
            <a:ext cx="54869" cy="31090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79" name="Rounded Rectangle 11"/>
          <p:cNvGrpSpPr/>
          <p:nvPr/>
        </p:nvGrpSpPr>
        <p:grpSpPr>
          <a:xfrm>
            <a:off x="2211035" y="6126476"/>
            <a:ext cx="5468123" cy="310907"/>
            <a:chOff x="-1" y="0"/>
            <a:chExt cx="5468121" cy="310905"/>
          </a:xfrm>
        </p:grpSpPr>
        <p:sp>
          <p:nvSpPr>
            <p:cNvPr id="577" name="圓角矩形"/>
            <p:cNvSpPr/>
            <p:nvPr/>
          </p:nvSpPr>
          <p:spPr>
            <a:xfrm>
              <a:off x="-2" y="-1"/>
              <a:ext cx="5468123" cy="310907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578" name="leader 個人視角：進行中的專案＋指派給我的任務，逾期標紅"/>
            <p:cNvSpPr txBox="1"/>
            <p:nvPr/>
          </p:nvSpPr>
          <p:spPr>
            <a:xfrm>
              <a:off x="577772" y="47498"/>
              <a:ext cx="4312568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leader 個人視角：進行中的專案＋指派給我的任務，逾期標紅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2" name="Connector 2"/>
          <p:cNvSpPr/>
          <p:nvPr/>
        </p:nvSpPr>
        <p:spPr>
          <a:xfrm>
            <a:off x="685800" y="685800"/>
            <a:ext cx="2011680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3" name="Oval 3"/>
          <p:cNvSpPr/>
          <p:nvPr/>
        </p:nvSpPr>
        <p:spPr>
          <a:xfrm>
            <a:off x="658368" y="658368"/>
            <a:ext cx="54864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4" name="Oval 4"/>
          <p:cNvSpPr/>
          <p:nvPr/>
        </p:nvSpPr>
        <p:spPr>
          <a:xfrm>
            <a:off x="1664205" y="658368"/>
            <a:ext cx="54873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5" name="Oval 5"/>
          <p:cNvSpPr/>
          <p:nvPr/>
        </p:nvSpPr>
        <p:spPr>
          <a:xfrm>
            <a:off x="2670048" y="658368"/>
            <a:ext cx="54873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6" name="TextBox 6"/>
          <p:cNvSpPr txBox="1"/>
          <p:nvPr/>
        </p:nvSpPr>
        <p:spPr>
          <a:xfrm>
            <a:off x="685800" y="9601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寫在最後</a:t>
            </a:r>
          </a:p>
        </p:txBody>
      </p:sp>
      <p:sp>
        <p:nvSpPr>
          <p:cNvPr id="587" name="TextBox 7"/>
          <p:cNvSpPr txBox="1"/>
          <p:nvPr/>
        </p:nvSpPr>
        <p:spPr>
          <a:xfrm>
            <a:off x="685800" y="1325877"/>
            <a:ext cx="10807659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這次做完，我自己比較有感的幾件事</a:t>
            </a:r>
          </a:p>
        </p:txBody>
      </p:sp>
      <p:sp>
        <p:nvSpPr>
          <p:cNvPr id="588" name="Rectangle 8"/>
          <p:cNvSpPr/>
          <p:nvPr/>
        </p:nvSpPr>
        <p:spPr>
          <a:xfrm>
            <a:off x="685798" y="2706622"/>
            <a:ext cx="100590" cy="100586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9" name="TextBox 9"/>
          <p:cNvSpPr txBox="1"/>
          <p:nvPr/>
        </p:nvSpPr>
        <p:spPr>
          <a:xfrm>
            <a:off x="978405" y="2606038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AI 省下的是打字跟查資料的時間；要做什麼、方向對不對，還是得自己判斷</a:t>
            </a:r>
          </a:p>
        </p:txBody>
      </p:sp>
      <p:sp>
        <p:nvSpPr>
          <p:cNvPr id="590" name="Rectangle 10"/>
          <p:cNvSpPr/>
          <p:nvPr/>
        </p:nvSpPr>
        <p:spPr>
          <a:xfrm>
            <a:off x="685798" y="3218688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1" name="TextBox 11"/>
          <p:cNvSpPr txBox="1"/>
          <p:nvPr/>
        </p:nvSpPr>
        <p:spPr>
          <a:xfrm>
            <a:off x="978405" y="3118104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一個人開發最怕沒人幫忙看，讓另一個 AI 來挑毛病，剛好補上這塊</a:t>
            </a:r>
          </a:p>
        </p:txBody>
      </p:sp>
      <p:sp>
        <p:nvSpPr>
          <p:cNvPr id="592" name="Rectangle 12"/>
          <p:cNvSpPr/>
          <p:nvPr/>
        </p:nvSpPr>
        <p:spPr>
          <a:xfrm>
            <a:off x="685798" y="3730752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3" name="TextBox 13"/>
          <p:cNvSpPr txBox="1"/>
          <p:nvPr/>
        </p:nvSpPr>
        <p:spPr>
          <a:xfrm>
            <a:off x="978405" y="3630167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最花時間的不是寫程式，是把需求想清楚——這件事 AI 幫不上忙</a:t>
            </a:r>
          </a:p>
        </p:txBody>
      </p:sp>
      <p:sp>
        <p:nvSpPr>
          <p:cNvPr id="594" name="Rectangle 14"/>
          <p:cNvSpPr/>
          <p:nvPr/>
        </p:nvSpPr>
        <p:spPr>
          <a:xfrm>
            <a:off x="685798" y="4242815"/>
            <a:ext cx="100590" cy="10058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5" name="TextBox 15"/>
          <p:cNvSpPr txBox="1"/>
          <p:nvPr/>
        </p:nvSpPr>
        <p:spPr>
          <a:xfrm>
            <a:off x="978405" y="4142232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兩個月做了四個世代，走的冤枉路比想像多，但每次砍掉重來都比硬撐下去快</a:t>
            </a:r>
          </a:p>
        </p:txBody>
      </p:sp>
      <p:sp>
        <p:nvSpPr>
          <p:cNvPr id="596" name="Connector 16"/>
          <p:cNvSpPr/>
          <p:nvPr/>
        </p:nvSpPr>
        <p:spPr>
          <a:xfrm>
            <a:off x="685797" y="4791454"/>
            <a:ext cx="4983488" cy="5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97" name="TextBox 17"/>
          <p:cNvSpPr txBox="1"/>
          <p:nvPr/>
        </p:nvSpPr>
        <p:spPr>
          <a:xfrm>
            <a:off x="685800" y="4974335"/>
            <a:ext cx="1080765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謝謝聆聽 · Q &amp; 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