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20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79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7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5" name="Connector 2"/>
          <p:cNvSpPr/>
          <p:nvPr/>
        </p:nvSpPr>
        <p:spPr>
          <a:xfrm>
            <a:off x="685798" y="914400"/>
            <a:ext cx="2377443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" name="Oval 3"/>
          <p:cNvSpPr/>
          <p:nvPr/>
        </p:nvSpPr>
        <p:spPr>
          <a:xfrm>
            <a:off x="658368" y="886966"/>
            <a:ext cx="54864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7" name="Oval 4"/>
          <p:cNvSpPr/>
          <p:nvPr/>
        </p:nvSpPr>
        <p:spPr>
          <a:xfrm>
            <a:off x="1450847" y="886966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8" name="Oval 5"/>
          <p:cNvSpPr/>
          <p:nvPr/>
        </p:nvSpPr>
        <p:spPr>
          <a:xfrm>
            <a:off x="2243327" y="886966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9" name="Oval 6"/>
          <p:cNvSpPr/>
          <p:nvPr/>
        </p:nvSpPr>
        <p:spPr>
          <a:xfrm>
            <a:off x="3035805" y="886966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0" name="TextBox 7"/>
          <p:cNvSpPr txBox="1"/>
          <p:nvPr/>
        </p:nvSpPr>
        <p:spPr>
          <a:xfrm>
            <a:off x="685797" y="1280160"/>
            <a:ext cx="10607046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SPRING-MISSIONBOARD  ·  技術回顧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685797" y="1828800"/>
            <a:ext cx="10607046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08000"/>
              </a:lnSpc>
              <a:defRPr sz="46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時間都去哪了？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685797" y="3063239"/>
            <a:ext cx="10607046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 HTML 到 SaaS 雜談</a:t>
            </a:r>
          </a:p>
        </p:txBody>
      </p:sp>
      <p:sp>
        <p:nvSpPr>
          <p:cNvPr id="103" name="Connector 10"/>
          <p:cNvSpPr/>
          <p:nvPr/>
        </p:nvSpPr>
        <p:spPr>
          <a:xfrm>
            <a:off x="685798" y="4663440"/>
            <a:ext cx="4983485" cy="3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TextBox 11"/>
          <p:cNvSpPr txBox="1"/>
          <p:nvPr/>
        </p:nvSpPr>
        <p:spPr>
          <a:xfrm>
            <a:off x="685800" y="4846320"/>
            <a:ext cx="82296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2026-06-08 → 2026-08-10   ·   Spring-MissionBoard 及其前身專案</a:t>
            </a:r>
          </a:p>
        </p:txBody>
      </p:sp>
      <p:grpSp>
        <p:nvGrpSpPr>
          <p:cNvPr id="107" name="Rounded Rectangle 12"/>
          <p:cNvGrpSpPr/>
          <p:nvPr/>
        </p:nvGrpSpPr>
        <p:grpSpPr>
          <a:xfrm>
            <a:off x="685797" y="6126479"/>
            <a:ext cx="2999239" cy="310901"/>
            <a:chOff x="-1" y="0"/>
            <a:chExt cx="2999238" cy="310900"/>
          </a:xfrm>
        </p:grpSpPr>
        <p:sp>
          <p:nvSpPr>
            <p:cNvPr id="105" name="圓角矩形"/>
            <p:cNvSpPr/>
            <p:nvPr/>
          </p:nvSpPr>
          <p:spPr>
            <a:xfrm>
              <a:off x="-2" y="-1"/>
              <a:ext cx="2999239" cy="310902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06" name="personal project"/>
            <p:cNvSpPr txBox="1"/>
            <p:nvPr/>
          </p:nvSpPr>
          <p:spPr>
            <a:xfrm>
              <a:off x="820414" y="72898"/>
              <a:ext cx="135840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22D3EE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personal project</a:t>
              </a:r>
            </a:p>
          </p:txBody>
        </p:sp>
      </p:grpSp>
      <p:sp>
        <p:nvSpPr>
          <p:cNvPr id="108" name="Rectangle 107"/>
          <p:cNvSpPr/>
          <p:nvPr/>
        </p:nvSpPr>
        <p:spPr>
          <a:xfrm>
            <a:off x="8778240" y="1371599"/>
            <a:ext cx="2194562" cy="9144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9" name="Rectangle 108"/>
          <p:cNvSpPr/>
          <p:nvPr/>
        </p:nvSpPr>
        <p:spPr>
          <a:xfrm>
            <a:off x="8778240" y="4846320"/>
            <a:ext cx="2194562" cy="9144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0" name="Isosceles Triangle 109"/>
          <p:cNvSpPr/>
          <p:nvPr/>
        </p:nvSpPr>
        <p:spPr>
          <a:xfrm rot="10800000">
            <a:off x="8961118" y="1463038"/>
            <a:ext cx="1828802" cy="1691642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1" name="Isosceles Triangle 110"/>
          <p:cNvSpPr/>
          <p:nvPr/>
        </p:nvSpPr>
        <p:spPr>
          <a:xfrm>
            <a:off x="8961118" y="3154678"/>
            <a:ext cx="1828803" cy="1691644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2" name="Oval 111"/>
          <p:cNvSpPr/>
          <p:nvPr/>
        </p:nvSpPr>
        <p:spPr>
          <a:xfrm>
            <a:off x="9464040" y="4462271"/>
            <a:ext cx="822963" cy="38405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3" name="Oval 112"/>
          <p:cNvSpPr/>
          <p:nvPr/>
        </p:nvSpPr>
        <p:spPr>
          <a:xfrm>
            <a:off x="9674352" y="2971799"/>
            <a:ext cx="402339" cy="14630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4" name="Rectangle 113"/>
          <p:cNvSpPr/>
          <p:nvPr/>
        </p:nvSpPr>
        <p:spPr>
          <a:xfrm>
            <a:off x="9861804" y="3099816"/>
            <a:ext cx="27434" cy="10973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5" name="Connector 114"/>
          <p:cNvSpPr/>
          <p:nvPr/>
        </p:nvSpPr>
        <p:spPr>
          <a:xfrm>
            <a:off x="8503918" y="5486400"/>
            <a:ext cx="822962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Oval 115"/>
          <p:cNvSpPr/>
          <p:nvPr/>
        </p:nvSpPr>
        <p:spPr>
          <a:xfrm>
            <a:off x="8476488" y="5458967"/>
            <a:ext cx="54867" cy="5486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7" name="Oval 116"/>
          <p:cNvSpPr/>
          <p:nvPr/>
        </p:nvSpPr>
        <p:spPr>
          <a:xfrm>
            <a:off x="8887968" y="5458967"/>
            <a:ext cx="54867" cy="5486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8" name="Oval 117"/>
          <p:cNvSpPr/>
          <p:nvPr/>
        </p:nvSpPr>
        <p:spPr>
          <a:xfrm>
            <a:off x="9299447" y="5458967"/>
            <a:ext cx="54867" cy="5486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9" name="TextBox 118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這也要兩個月？！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 txBox="1"/>
          <p:nvPr/>
        </p:nvSpPr>
        <p:spPr>
          <a:xfrm>
            <a:off x="685800" y="640080"/>
            <a:ext cx="10807659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DISCLAIMER</a:t>
            </a:r>
          </a:p>
        </p:txBody>
      </p:sp>
      <p:sp>
        <p:nvSpPr>
          <p:cNvPr id="122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23" name="Connector 3"/>
          <p:cNvSpPr/>
          <p:nvPr/>
        </p:nvSpPr>
        <p:spPr>
          <a:xfrm>
            <a:off x="685795" y="166420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5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6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7" name="Oval 7"/>
          <p:cNvSpPr/>
          <p:nvPr/>
        </p:nvSpPr>
        <p:spPr>
          <a:xfrm>
            <a:off x="685800" y="2121405"/>
            <a:ext cx="310896" cy="31090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" name="TextBox 8"/>
          <p:cNvSpPr txBox="1"/>
          <p:nvPr/>
        </p:nvSpPr>
        <p:spPr>
          <a:xfrm>
            <a:off x="685800" y="2175255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9" name="TextBox 9"/>
          <p:cNvSpPr txBox="1"/>
          <p:nvPr/>
        </p:nvSpPr>
        <p:spPr>
          <a:xfrm>
            <a:off x="1188719" y="2130549"/>
            <a:ext cx="10304741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以下介紹之專案（WbsScaff、Spring-WbsScaff、Spring-TaskFlow、Spring-MissionBoard），均為個人興趣開發，非公司指派或授權之專案</a:t>
            </a:r>
          </a:p>
        </p:txBody>
      </p:sp>
      <p:sp>
        <p:nvSpPr>
          <p:cNvPr id="130" name="Oval 10"/>
          <p:cNvSpPr/>
          <p:nvPr/>
        </p:nvSpPr>
        <p:spPr>
          <a:xfrm>
            <a:off x="685800" y="2834638"/>
            <a:ext cx="310896" cy="31090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1" name="TextBox 11"/>
          <p:cNvSpPr txBox="1"/>
          <p:nvPr/>
        </p:nvSpPr>
        <p:spPr>
          <a:xfrm>
            <a:off x="685800" y="2888487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2" name="TextBox 12"/>
          <p:cNvSpPr txBox="1"/>
          <p:nvPr/>
        </p:nvSpPr>
        <p:spPr>
          <a:xfrm>
            <a:off x="1188719" y="2843783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使用之時間與設備均屬個人所有，與現職工作內容無關，亦不代表任何官方立場或部門決策</a:t>
            </a:r>
          </a:p>
        </p:txBody>
      </p:sp>
      <p:sp>
        <p:nvSpPr>
          <p:cNvPr id="133" name="Oval 13"/>
          <p:cNvSpPr/>
          <p:nvPr/>
        </p:nvSpPr>
        <p:spPr>
          <a:xfrm>
            <a:off x="685800" y="3547871"/>
            <a:ext cx="310896" cy="31090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4" name="TextBox 14"/>
          <p:cNvSpPr txBox="1"/>
          <p:nvPr/>
        </p:nvSpPr>
        <p:spPr>
          <a:xfrm>
            <a:off x="685800" y="3601718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5" name="TextBox 15"/>
          <p:cNvSpPr txBox="1"/>
          <p:nvPr/>
        </p:nvSpPr>
        <p:spPr>
          <a:xfrm>
            <a:off x="1188719" y="3557015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目前均為個人技術驗證，未經正式上線審查，畫面所示資安、權限設計均為模擬情境，非真實系統</a:t>
            </a:r>
          </a:p>
        </p:txBody>
      </p:sp>
      <p:sp>
        <p:nvSpPr>
          <p:cNvPr id="136" name="Oval 16"/>
          <p:cNvSpPr/>
          <p:nvPr/>
        </p:nvSpPr>
        <p:spPr>
          <a:xfrm>
            <a:off x="685800" y="4261103"/>
            <a:ext cx="310896" cy="31090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7" name="TextBox 17"/>
          <p:cNvSpPr txBox="1"/>
          <p:nvPr/>
        </p:nvSpPr>
        <p:spPr>
          <a:xfrm>
            <a:off x="685800" y="4314950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8" name="TextBox 18"/>
          <p:cNvSpPr txBox="1"/>
          <p:nvPr/>
        </p:nvSpPr>
        <p:spPr>
          <a:xfrm>
            <a:off x="1188719" y="4270247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本次僅為開發心得分享交流，非提案亦非報告</a:t>
            </a:r>
          </a:p>
        </p:txBody>
      </p:sp>
      <p:sp>
        <p:nvSpPr>
          <p:cNvPr id="139" name="Oval 19"/>
          <p:cNvSpPr/>
          <p:nvPr/>
        </p:nvSpPr>
        <p:spPr>
          <a:xfrm>
            <a:off x="685800" y="4974335"/>
            <a:ext cx="310896" cy="31090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0" name="TextBox 20"/>
          <p:cNvSpPr txBox="1"/>
          <p:nvPr/>
        </p:nvSpPr>
        <p:spPr>
          <a:xfrm>
            <a:off x="685800" y="5028183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1" name="TextBox 21"/>
          <p:cNvSpPr txBox="1"/>
          <p:nvPr/>
        </p:nvSpPr>
        <p:spPr>
          <a:xfrm>
            <a:off x="1188719" y="4983479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若因本簡報內容引發贊助衝動，歡迎抖內支持一位假日還在寫 code 的 AP 工程師</a:t>
            </a:r>
          </a:p>
        </p:txBody>
      </p:sp>
      <p:sp>
        <p:nvSpPr>
          <p:cNvPr id="142" name="Hexagon 140"/>
          <p:cNvSpPr/>
          <p:nvPr/>
        </p:nvSpPr>
        <p:spPr>
          <a:xfrm>
            <a:off x="9098280" y="5349240"/>
            <a:ext cx="1005840" cy="10058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5400" y="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ln w="2222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Moon 141"/>
          <p:cNvSpPr/>
          <p:nvPr/>
        </p:nvSpPr>
        <p:spPr>
          <a:xfrm>
            <a:off x="9381743" y="5614415"/>
            <a:ext cx="438913" cy="4389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16765"/>
                  <a:pt x="0" y="10800"/>
                </a:cubicBezTo>
                <a:cubicBezTo>
                  <a:pt x="0" y="4835"/>
                  <a:pt x="9671" y="0"/>
                  <a:pt x="21600" y="0"/>
                </a:cubicBezTo>
                <a:cubicBezTo>
                  <a:pt x="9671" y="4474"/>
                  <a:pt x="7253" y="12935"/>
                  <a:pt x="16200" y="18900"/>
                </a:cubicBezTo>
                <a:cubicBezTo>
                  <a:pt x="17735" y="19923"/>
                  <a:pt x="19553" y="20832"/>
                  <a:pt x="21600" y="21600"/>
                </a:cubicBezTo>
                <a:close/>
              </a:path>
            </a:pathLst>
          </a:cu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Connector 142"/>
          <p:cNvSpPr/>
          <p:nvPr/>
        </p:nvSpPr>
        <p:spPr>
          <a:xfrm>
            <a:off x="9052559" y="6464808"/>
            <a:ext cx="1097281" cy="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" name="Oval 143"/>
          <p:cNvSpPr/>
          <p:nvPr/>
        </p:nvSpPr>
        <p:spPr>
          <a:xfrm>
            <a:off x="9025128" y="64373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Oval 144"/>
          <p:cNvSpPr/>
          <p:nvPr/>
        </p:nvSpPr>
        <p:spPr>
          <a:xfrm>
            <a:off x="10122407" y="6437376"/>
            <a:ext cx="54865" cy="5486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49" name="Rounded Rectangle 145"/>
          <p:cNvGrpSpPr/>
          <p:nvPr/>
        </p:nvGrpSpPr>
        <p:grpSpPr>
          <a:xfrm>
            <a:off x="8412480" y="6647688"/>
            <a:ext cx="2468881" cy="274321"/>
            <a:chOff x="0" y="0"/>
            <a:chExt cx="2468879" cy="274320"/>
          </a:xfrm>
        </p:grpSpPr>
        <p:sp>
          <p:nvSpPr>
            <p:cNvPr id="147" name="圓角矩形"/>
            <p:cNvSpPr/>
            <p:nvPr/>
          </p:nvSpPr>
          <p:spPr>
            <a:xfrm>
              <a:off x="0" y="0"/>
              <a:ext cx="2468880" cy="27432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OFF DUTY · PERSONAL"/>
            <p:cNvSpPr txBox="1"/>
            <p:nvPr/>
          </p:nvSpPr>
          <p:spPr>
            <a:xfrm>
              <a:off x="501715" y="67310"/>
              <a:ext cx="1465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OFF DUTY · PERSONAL</a:t>
              </a:r>
            </a:p>
          </p:txBody>
        </p:sp>
      </p:grpSp>
      <p:sp>
        <p:nvSpPr>
          <p:cNvPr id="150" name="TextBox 146"/>
          <p:cNvSpPr txBox="1"/>
          <p:nvPr/>
        </p:nvSpPr>
        <p:spPr>
          <a:xfrm>
            <a:off x="685800" y="6355079"/>
            <a:ext cx="50292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認真的免責聲明，笑死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53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54" name="Connector 3"/>
          <p:cNvSpPr/>
          <p:nvPr/>
        </p:nvSpPr>
        <p:spPr>
          <a:xfrm>
            <a:off x="685798" y="1664205"/>
            <a:ext cx="822963" cy="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5" name="Oval 4"/>
          <p:cNvSpPr/>
          <p:nvPr/>
        </p:nvSpPr>
        <p:spPr>
          <a:xfrm>
            <a:off x="658368" y="1636776"/>
            <a:ext cx="54864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6" name="Oval 5"/>
          <p:cNvSpPr/>
          <p:nvPr/>
        </p:nvSpPr>
        <p:spPr>
          <a:xfrm>
            <a:off x="1069847" y="1636776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7" name="Oval 6"/>
          <p:cNvSpPr/>
          <p:nvPr/>
        </p:nvSpPr>
        <p:spPr>
          <a:xfrm>
            <a:off x="1481327" y="1636776"/>
            <a:ext cx="54869" cy="5486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8" name="Rectangle 7"/>
          <p:cNvSpPr/>
          <p:nvPr/>
        </p:nvSpPr>
        <p:spPr>
          <a:xfrm>
            <a:off x="685798" y="2212848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9" name="TextBox 8"/>
          <p:cNvSpPr txBox="1"/>
          <p:nvPr/>
        </p:nvSpPr>
        <p:spPr>
          <a:xfrm>
            <a:off x="978405" y="212140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身為一個 AP，開發本身不是最花時間的，最花時間的是每次開會都要重新對一次文件，格式不對齊、資訊分散</a:t>
            </a:r>
          </a:p>
        </p:txBody>
      </p:sp>
      <p:sp>
        <p:nvSpPr>
          <p:cNvPr id="160" name="Rectangle 9"/>
          <p:cNvSpPr/>
          <p:nvPr/>
        </p:nvSpPr>
        <p:spPr>
          <a:xfrm>
            <a:off x="685798" y="2638679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1" name="TextBox 10"/>
          <p:cNvSpPr txBox="1"/>
          <p:nvPr/>
        </p:nvSpPr>
        <p:spPr>
          <a:xfrm>
            <a:off x="978405" y="2547239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換算一下：每週簡報，一人約 2MB，500 人一週約 1,000MB；一年 52 週下來，約 52,000MB（≈52GB）在四處流通、重複對稿</a:t>
            </a:r>
          </a:p>
        </p:txBody>
      </p:sp>
      <p:sp>
        <p:nvSpPr>
          <p:cNvPr id="162" name="Rectangle 11"/>
          <p:cNvSpPr/>
          <p:nvPr/>
        </p:nvSpPr>
        <p:spPr>
          <a:xfrm>
            <a:off x="685798" y="3344035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3" name="TextBox 12"/>
          <p:cNvSpPr txBox="1"/>
          <p:nvPr/>
        </p:nvSpPr>
        <p:spPr>
          <a:xfrm>
            <a:off x="978405" y="325259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其實心裡一直有個嚮往：想親手做出一套真正跑在雲端、大家連上去就能一起用的 SaaS 系統，不只是寫寫離線小工具</a:t>
            </a:r>
          </a:p>
        </p:txBody>
      </p:sp>
      <p:sp>
        <p:nvSpPr>
          <p:cNvPr id="164" name="Rectangle 13"/>
          <p:cNvSpPr/>
          <p:nvPr/>
        </p:nvSpPr>
        <p:spPr>
          <a:xfrm>
            <a:off x="685798" y="4049393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5" name="TextBox 14"/>
          <p:cNvSpPr txBox="1"/>
          <p:nvPr/>
        </p:nvSpPr>
        <p:spPr>
          <a:xfrm>
            <a:off x="978405" y="3957954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想法很單純：能不能用 AI 幫忙，把「做文件、對文件」這件事變輕鬆一點？</a:t>
            </a:r>
          </a:p>
        </p:txBody>
      </p:sp>
      <p:sp>
        <p:nvSpPr>
          <p:cNvPr id="166" name="Rectangle 15"/>
          <p:cNvSpPr/>
          <p:nvPr/>
        </p:nvSpPr>
        <p:spPr>
          <a:xfrm>
            <a:off x="685798" y="4475224"/>
            <a:ext cx="100588" cy="10058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7" name="TextBox 16"/>
          <p:cNvSpPr txBox="1"/>
          <p:nvPr/>
        </p:nvSpPr>
        <p:spPr>
          <a:xfrm>
            <a:off x="978405" y="438378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所以就動手做了 Spring-MissionBoard</a:t>
            </a:r>
          </a:p>
        </p:txBody>
      </p:sp>
      <p:sp>
        <p:nvSpPr>
          <p:cNvPr id="168" name="Rounded Rectangle 146"/>
          <p:cNvSpPr/>
          <p:nvPr/>
        </p:nvSpPr>
        <p:spPr>
          <a:xfrm rot="21120000">
            <a:off x="822960" y="5303520"/>
            <a:ext cx="566930" cy="73152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9" name="Rectangle 147"/>
          <p:cNvSpPr/>
          <p:nvPr/>
        </p:nvSpPr>
        <p:spPr>
          <a:xfrm>
            <a:off x="914400" y="5449823"/>
            <a:ext cx="384048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0" name="Rectangle 148"/>
          <p:cNvSpPr/>
          <p:nvPr/>
        </p:nvSpPr>
        <p:spPr>
          <a:xfrm>
            <a:off x="914400" y="5596128"/>
            <a:ext cx="384048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1" name="Rectangle 149"/>
          <p:cNvSpPr/>
          <p:nvPr/>
        </p:nvSpPr>
        <p:spPr>
          <a:xfrm>
            <a:off x="914400" y="5742432"/>
            <a:ext cx="384048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2" name="Rounded Rectangle 150"/>
          <p:cNvSpPr/>
          <p:nvPr/>
        </p:nvSpPr>
        <p:spPr>
          <a:xfrm rot="300000">
            <a:off x="1600200" y="5120640"/>
            <a:ext cx="566928" cy="73152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3" name="Rectangle 151"/>
          <p:cNvSpPr/>
          <p:nvPr/>
        </p:nvSpPr>
        <p:spPr>
          <a:xfrm>
            <a:off x="1691638" y="5266944"/>
            <a:ext cx="384050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4" name="Rectangle 152"/>
          <p:cNvSpPr/>
          <p:nvPr/>
        </p:nvSpPr>
        <p:spPr>
          <a:xfrm>
            <a:off x="1691638" y="5413247"/>
            <a:ext cx="384050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5" name="Rectangle 153"/>
          <p:cNvSpPr/>
          <p:nvPr/>
        </p:nvSpPr>
        <p:spPr>
          <a:xfrm>
            <a:off x="1691638" y="5559552"/>
            <a:ext cx="384050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6" name="Rounded Rectangle 154"/>
          <p:cNvSpPr/>
          <p:nvPr/>
        </p:nvSpPr>
        <p:spPr>
          <a:xfrm rot="21360000">
            <a:off x="2331720" y="5349240"/>
            <a:ext cx="566930" cy="73152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7" name="Rectangle 155"/>
          <p:cNvSpPr/>
          <p:nvPr/>
        </p:nvSpPr>
        <p:spPr>
          <a:xfrm>
            <a:off x="2423160" y="5495544"/>
            <a:ext cx="384050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8" name="Rectangle 156"/>
          <p:cNvSpPr/>
          <p:nvPr/>
        </p:nvSpPr>
        <p:spPr>
          <a:xfrm>
            <a:off x="2423160" y="5641847"/>
            <a:ext cx="384050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9" name="Rectangle 157"/>
          <p:cNvSpPr/>
          <p:nvPr/>
        </p:nvSpPr>
        <p:spPr>
          <a:xfrm>
            <a:off x="2423160" y="5788152"/>
            <a:ext cx="384050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0" name="Rounded Rectangle 158"/>
          <p:cNvSpPr/>
          <p:nvPr/>
        </p:nvSpPr>
        <p:spPr>
          <a:xfrm rot="420000">
            <a:off x="3108960" y="5074920"/>
            <a:ext cx="566930" cy="731522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1" name="Rectangle 159"/>
          <p:cNvSpPr/>
          <p:nvPr/>
        </p:nvSpPr>
        <p:spPr>
          <a:xfrm>
            <a:off x="3200400" y="5221223"/>
            <a:ext cx="384048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2" name="Rectangle 160"/>
          <p:cNvSpPr/>
          <p:nvPr/>
        </p:nvSpPr>
        <p:spPr>
          <a:xfrm>
            <a:off x="3200400" y="5367528"/>
            <a:ext cx="384048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3" name="Rectangle 161"/>
          <p:cNvSpPr/>
          <p:nvPr/>
        </p:nvSpPr>
        <p:spPr>
          <a:xfrm>
            <a:off x="3200400" y="5513832"/>
            <a:ext cx="384048" cy="4115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4" name="Chevron 162"/>
          <p:cNvSpPr/>
          <p:nvPr/>
        </p:nvSpPr>
        <p:spPr>
          <a:xfrm>
            <a:off x="4206240" y="5349240"/>
            <a:ext cx="502922" cy="365762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" name="Chevron 163"/>
          <p:cNvSpPr/>
          <p:nvPr/>
        </p:nvSpPr>
        <p:spPr>
          <a:xfrm>
            <a:off x="4892040" y="5349240"/>
            <a:ext cx="502922" cy="365762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6" name="Chevron 164"/>
          <p:cNvSpPr/>
          <p:nvPr/>
        </p:nvSpPr>
        <p:spPr>
          <a:xfrm>
            <a:off x="5577840" y="5349240"/>
            <a:ext cx="502922" cy="365762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89" name="Cloud 165"/>
          <p:cNvGrpSpPr/>
          <p:nvPr/>
        </p:nvGrpSpPr>
        <p:grpSpPr>
          <a:xfrm>
            <a:off x="6398834" y="5033615"/>
            <a:ext cx="2380639" cy="1374294"/>
            <a:chOff x="50" y="-14"/>
            <a:chExt cx="2380638" cy="1374293"/>
          </a:xfrm>
        </p:grpSpPr>
        <p:sp>
          <p:nvSpPr>
            <p:cNvPr id="187" name="形狀"/>
            <p:cNvSpPr/>
            <p:nvPr/>
          </p:nvSpPr>
          <p:spPr>
            <a:xfrm>
              <a:off x="50" y="-15"/>
              <a:ext cx="2380640" cy="13742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fill="norm" stroke="1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88" name="形狀"/>
            <p:cNvSpPr/>
            <p:nvPr/>
          </p:nvSpPr>
          <p:spPr>
            <a:xfrm>
              <a:off x="120881" y="69880"/>
              <a:ext cx="2181420" cy="11668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</p:grpSp>
      <p:sp>
        <p:nvSpPr>
          <p:cNvPr id="190" name="Oval 166"/>
          <p:cNvSpPr/>
          <p:nvPr/>
        </p:nvSpPr>
        <p:spPr>
          <a:xfrm>
            <a:off x="7525511" y="5650991"/>
            <a:ext cx="128019" cy="12801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1" name="TextBox 167"/>
          <p:cNvSpPr txBox="1"/>
          <p:nvPr/>
        </p:nvSpPr>
        <p:spPr>
          <a:xfrm>
            <a:off x="6400800" y="6473952"/>
            <a:ext cx="237744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SaaS</a:t>
            </a:r>
          </a:p>
        </p:txBody>
      </p:sp>
      <p:sp>
        <p:nvSpPr>
          <p:cNvPr id="192" name="TextBox 189"/>
          <p:cNvSpPr txBox="1"/>
          <p:nvPr/>
        </p:nvSpPr>
        <p:spPr>
          <a:xfrm>
            <a:off x="8961119" y="6428232"/>
            <a:ext cx="2514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52GB 真的不是我瞎掰的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先講一下 SAAS</a:t>
            </a:r>
          </a:p>
        </p:txBody>
      </p:sp>
      <p:sp>
        <p:nvSpPr>
          <p:cNvPr id="19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9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東西放在同一個地方，大家連上去看到的都是同一份、也都是最新的</a:t>
            </a:r>
          </a:p>
        </p:txBody>
      </p:sp>
      <p:sp>
        <p:nvSpPr>
          <p:cNvPr id="197" name="Connector 4"/>
          <p:cNvSpPr/>
          <p:nvPr/>
        </p:nvSpPr>
        <p:spPr>
          <a:xfrm>
            <a:off x="685795" y="1911094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8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9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0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1" name="Rectangle 8"/>
          <p:cNvSpPr/>
          <p:nvPr/>
        </p:nvSpPr>
        <p:spPr>
          <a:xfrm>
            <a:off x="685798" y="2414016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2" name="TextBox 9"/>
          <p:cNvSpPr txBox="1"/>
          <p:nvPr/>
        </p:nvSpPr>
        <p:spPr>
          <a:xfrm>
            <a:off x="978405" y="232257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開會前要人工合併，常常對到不一樣的版本　→　不用互傳檔案，也不用問「哪一份才是最新的」</a:t>
            </a:r>
          </a:p>
        </p:txBody>
      </p:sp>
      <p:sp>
        <p:nvSpPr>
          <p:cNvPr id="203" name="Rectangle 10"/>
          <p:cNvSpPr/>
          <p:nvPr/>
        </p:nvSpPr>
        <p:spPr>
          <a:xfrm>
            <a:off x="685794" y="2848989"/>
            <a:ext cx="4946641" cy="359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4" name="Rectangle 11"/>
          <p:cNvSpPr/>
          <p:nvPr/>
        </p:nvSpPr>
        <p:spPr>
          <a:xfrm>
            <a:off x="685794" y="2848991"/>
            <a:ext cx="4946641" cy="384055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5" name="TextBox 12"/>
          <p:cNvSpPr txBox="1"/>
          <p:nvPr/>
        </p:nvSpPr>
        <p:spPr>
          <a:xfrm>
            <a:off x="685794" y="2926713"/>
            <a:ext cx="49466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以前 · 各自一份檔案</a:t>
            </a:r>
          </a:p>
        </p:txBody>
      </p:sp>
      <p:sp>
        <p:nvSpPr>
          <p:cNvPr id="206" name="Rectangle 13"/>
          <p:cNvSpPr/>
          <p:nvPr/>
        </p:nvSpPr>
        <p:spPr>
          <a:xfrm>
            <a:off x="6546828" y="2848989"/>
            <a:ext cx="4946637" cy="3597536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7" name="Rectangle 14"/>
          <p:cNvSpPr/>
          <p:nvPr/>
        </p:nvSpPr>
        <p:spPr>
          <a:xfrm>
            <a:off x="6546828" y="2848991"/>
            <a:ext cx="4946637" cy="38405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8" name="TextBox 15"/>
          <p:cNvSpPr txBox="1"/>
          <p:nvPr/>
        </p:nvSpPr>
        <p:spPr>
          <a:xfrm>
            <a:off x="6546828" y="2926713"/>
            <a:ext cx="494663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連到同一個地方</a:t>
            </a:r>
          </a:p>
        </p:txBody>
      </p:sp>
      <p:sp>
        <p:nvSpPr>
          <p:cNvPr id="209" name="Connector 16"/>
          <p:cNvSpPr/>
          <p:nvPr/>
        </p:nvSpPr>
        <p:spPr>
          <a:xfrm>
            <a:off x="5742156" y="4647755"/>
            <a:ext cx="694951" cy="7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Isosceles Triangle 17"/>
          <p:cNvSpPr/>
          <p:nvPr/>
        </p:nvSpPr>
        <p:spPr>
          <a:xfrm rot="5400000">
            <a:off x="6290792" y="4556314"/>
            <a:ext cx="182891" cy="182886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1" name="TextBox 207"/>
          <p:cNvSpPr txBox="1"/>
          <p:nvPr/>
        </p:nvSpPr>
        <p:spPr>
          <a:xfrm>
            <a:off x="6675119" y="6537959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終於要進入正題了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214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215" name="Connector 3"/>
          <p:cNvSpPr/>
          <p:nvPr/>
        </p:nvSpPr>
        <p:spPr>
          <a:xfrm>
            <a:off x="685795" y="166420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6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7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8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9" name="Rectangle 7"/>
          <p:cNvSpPr/>
          <p:nvPr/>
        </p:nvSpPr>
        <p:spPr>
          <a:xfrm>
            <a:off x="685798" y="221284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0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先從一支單一 HTML 檔開始，一個人就能做完，快速驗證想法可不可行，不做過度設計</a:t>
            </a:r>
          </a:p>
        </p:txBody>
      </p:sp>
      <p:sp>
        <p:nvSpPr>
          <p:cNvPr id="221" name="Rectangle 9"/>
          <p:cNvSpPr/>
          <p:nvPr/>
        </p:nvSpPr>
        <p:spPr>
          <a:xfrm>
            <a:off x="685798" y="2665727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2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確定方向對了，才往剛剛講的那種「大家連同一個地方」的系統走</a:t>
            </a:r>
          </a:p>
        </p:txBody>
      </p:sp>
      <p:sp>
        <p:nvSpPr>
          <p:cNvPr id="223" name="Rectangle 11"/>
          <p:cNvSpPr/>
          <p:nvPr/>
        </p:nvSpPr>
        <p:spPr>
          <a:xfrm>
            <a:off x="685798" y="3118610"/>
            <a:ext cx="100592" cy="10059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4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過程就是做出來、自己用用看，好用的留下、不好用的直接砍掉</a:t>
            </a:r>
          </a:p>
        </p:txBody>
      </p:sp>
      <p:sp>
        <p:nvSpPr>
          <p:cNvPr id="225" name="TextBox 220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聽起來很有計畫，其實邊做邊砍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228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現在的 Spring-MissionBoard</a:t>
            </a:r>
          </a:p>
        </p:txBody>
      </p:sp>
      <p:sp>
        <p:nvSpPr>
          <p:cNvPr id="229" name="Connector 3"/>
          <p:cNvSpPr/>
          <p:nvPr/>
        </p:nvSpPr>
        <p:spPr>
          <a:xfrm>
            <a:off x="685795" y="1572766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0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1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2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3" name="Rectangle 7"/>
          <p:cNvSpPr/>
          <p:nvPr/>
        </p:nvSpPr>
        <p:spPr>
          <a:xfrm>
            <a:off x="630936" y="1975103"/>
            <a:ext cx="5330677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34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50" cy="3263097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Rectangle 9"/>
          <p:cNvSpPr/>
          <p:nvPr/>
        </p:nvSpPr>
        <p:spPr>
          <a:xfrm>
            <a:off x="630934" y="1975103"/>
            <a:ext cx="310904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6" name="Rectangle 10"/>
          <p:cNvSpPr/>
          <p:nvPr/>
        </p:nvSpPr>
        <p:spPr>
          <a:xfrm>
            <a:off x="630936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239" name="Rounded Rectangle 11"/>
          <p:cNvGrpSpPr/>
          <p:nvPr/>
        </p:nvGrpSpPr>
        <p:grpSpPr>
          <a:xfrm>
            <a:off x="685795" y="5457646"/>
            <a:ext cx="1024139" cy="310912"/>
            <a:chOff x="-1" y="0"/>
            <a:chExt cx="1024137" cy="310910"/>
          </a:xfrm>
        </p:grpSpPr>
        <p:sp>
          <p:nvSpPr>
            <p:cNvPr id="237" name="圓角矩形"/>
            <p:cNvSpPr/>
            <p:nvPr/>
          </p:nvSpPr>
          <p:spPr>
            <a:xfrm>
              <a:off x="-2" y="-1"/>
              <a:ext cx="1024139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38" name="分類管理"/>
            <p:cNvSpPr txBox="1"/>
            <p:nvPr/>
          </p:nvSpPr>
          <p:spPr>
            <a:xfrm>
              <a:off x="200914" y="47498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分類管理</a:t>
              </a:r>
            </a:p>
          </p:txBody>
        </p:sp>
      </p:grpSp>
      <p:sp>
        <p:nvSpPr>
          <p:cNvPr id="240" name="Rectangle 12"/>
          <p:cNvSpPr/>
          <p:nvPr/>
        </p:nvSpPr>
        <p:spPr>
          <a:xfrm>
            <a:off x="6217644" y="1975103"/>
            <a:ext cx="5330681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41" name="Picture 13" descr="Picture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7" y="2029966"/>
            <a:ext cx="5220952" cy="3263097"/>
          </a:xfrm>
          <a:prstGeom prst="rect">
            <a:avLst/>
          </a:prstGeom>
          <a:ln w="12700">
            <a:miter lim="400000"/>
          </a:ln>
        </p:spPr>
      </p:pic>
      <p:sp>
        <p:nvSpPr>
          <p:cNvPr id="242" name="Rectangle 14"/>
          <p:cNvSpPr/>
          <p:nvPr/>
        </p:nvSpPr>
        <p:spPr>
          <a:xfrm>
            <a:off x="6217644" y="1975103"/>
            <a:ext cx="31090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3" name="Rectangle 15"/>
          <p:cNvSpPr/>
          <p:nvPr/>
        </p:nvSpPr>
        <p:spPr>
          <a:xfrm>
            <a:off x="6217644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246" name="Rounded Rectangle 16"/>
          <p:cNvGrpSpPr/>
          <p:nvPr/>
        </p:nvGrpSpPr>
        <p:grpSpPr>
          <a:xfrm>
            <a:off x="6272499" y="5457646"/>
            <a:ext cx="1024141" cy="310912"/>
            <a:chOff x="-1" y="0"/>
            <a:chExt cx="1024140" cy="310910"/>
          </a:xfrm>
        </p:grpSpPr>
        <p:sp>
          <p:nvSpPr>
            <p:cNvPr id="244" name="圓角矩形"/>
            <p:cNvSpPr/>
            <p:nvPr/>
          </p:nvSpPr>
          <p:spPr>
            <a:xfrm>
              <a:off x="-2" y="-1"/>
              <a:ext cx="1024142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45" name="任務看板"/>
            <p:cNvSpPr txBox="1"/>
            <p:nvPr/>
          </p:nvSpPr>
          <p:spPr>
            <a:xfrm>
              <a:off x="200915" y="47498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任務看板</a:t>
              </a:r>
            </a:p>
          </p:txBody>
        </p:sp>
      </p:grpSp>
      <p:sp>
        <p:nvSpPr>
          <p:cNvPr id="247" name="TextBox 241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先看圖，比較不無聊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250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251" name="Connector 3"/>
          <p:cNvSpPr/>
          <p:nvPr/>
        </p:nvSpPr>
        <p:spPr>
          <a:xfrm>
            <a:off x="685795" y="1527047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Oval 4"/>
          <p:cNvSpPr/>
          <p:nvPr/>
        </p:nvSpPr>
        <p:spPr>
          <a:xfrm>
            <a:off x="658368" y="149961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3" name="Oval 5"/>
          <p:cNvSpPr/>
          <p:nvPr/>
        </p:nvSpPr>
        <p:spPr>
          <a:xfrm>
            <a:off x="106984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4" name="Oval 6"/>
          <p:cNvSpPr/>
          <p:nvPr/>
        </p:nvSpPr>
        <p:spPr>
          <a:xfrm>
            <a:off x="148132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5" name="Connector 7"/>
          <p:cNvSpPr/>
          <p:nvPr/>
        </p:nvSpPr>
        <p:spPr>
          <a:xfrm>
            <a:off x="685796" y="2606038"/>
            <a:ext cx="10807668" cy="7"/>
          </a:xfrm>
          <a:prstGeom prst="line">
            <a:avLst/>
          </a:prstGeom>
          <a:ln w="254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6" name="Oval 8"/>
          <p:cNvSpPr/>
          <p:nvPr/>
        </p:nvSpPr>
        <p:spPr>
          <a:xfrm>
            <a:off x="1954458" y="2523744"/>
            <a:ext cx="164605" cy="16460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7" name="TextBox 9"/>
          <p:cNvSpPr txBox="1"/>
          <p:nvPr/>
        </p:nvSpPr>
        <p:spPr>
          <a:xfrm>
            <a:off x="685800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258" name="Rectangle 10"/>
          <p:cNvSpPr/>
          <p:nvPr/>
        </p:nvSpPr>
        <p:spPr>
          <a:xfrm>
            <a:off x="795528" y="2926075"/>
            <a:ext cx="2482458" cy="32004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9" name="Rectangle 11"/>
          <p:cNvSpPr/>
          <p:nvPr/>
        </p:nvSpPr>
        <p:spPr>
          <a:xfrm>
            <a:off x="795528" y="2926077"/>
            <a:ext cx="2482458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0" name="TextBox 12"/>
          <p:cNvSpPr txBox="1"/>
          <p:nvPr/>
        </p:nvSpPr>
        <p:spPr>
          <a:xfrm>
            <a:off x="941832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</a:t>
            </a:r>
          </a:p>
        </p:txBody>
      </p:sp>
      <p:sp>
        <p:nvSpPr>
          <p:cNvPr id="261" name="TextBox 13"/>
          <p:cNvSpPr txBox="1"/>
          <p:nvPr/>
        </p:nvSpPr>
        <p:spPr>
          <a:xfrm>
            <a:off x="941832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單檔 HTML WBS 工具，氣隙環境，無伺服器</a:t>
            </a:r>
          </a:p>
        </p:txBody>
      </p:sp>
      <p:sp>
        <p:nvSpPr>
          <p:cNvPr id="262" name="TextBox 14"/>
          <p:cNvSpPr txBox="1"/>
          <p:nvPr/>
        </p:nvSpPr>
        <p:spPr>
          <a:xfrm>
            <a:off x="941832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38 commits · 6 檔 · 0.9MB</a:t>
            </a:r>
          </a:p>
        </p:txBody>
      </p:sp>
      <p:grpSp>
        <p:nvGrpSpPr>
          <p:cNvPr id="265" name="Rounded Rectangle 15"/>
          <p:cNvGrpSpPr/>
          <p:nvPr/>
        </p:nvGrpSpPr>
        <p:grpSpPr>
          <a:xfrm>
            <a:off x="941826" y="5705848"/>
            <a:ext cx="1517922" cy="310912"/>
            <a:chOff x="-1" y="0"/>
            <a:chExt cx="1517920" cy="310910"/>
          </a:xfrm>
        </p:grpSpPr>
        <p:sp>
          <p:nvSpPr>
            <p:cNvPr id="263" name="圓角矩形"/>
            <p:cNvSpPr/>
            <p:nvPr/>
          </p:nvSpPr>
          <p:spPr>
            <a:xfrm>
              <a:off x="-2" y="-1"/>
              <a:ext cx="1517922" cy="310911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64" name="耗時 11 天"/>
            <p:cNvSpPr txBox="1"/>
            <p:nvPr/>
          </p:nvSpPr>
          <p:spPr>
            <a:xfrm>
              <a:off x="409184" y="66549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11 天</a:t>
              </a:r>
            </a:p>
          </p:txBody>
        </p:sp>
      </p:grpSp>
      <p:sp>
        <p:nvSpPr>
          <p:cNvPr id="266" name="Oval 16"/>
          <p:cNvSpPr/>
          <p:nvPr/>
        </p:nvSpPr>
        <p:spPr>
          <a:xfrm>
            <a:off x="4656375" y="2523744"/>
            <a:ext cx="164605" cy="16460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7" name="TextBox 17"/>
          <p:cNvSpPr txBox="1"/>
          <p:nvPr/>
        </p:nvSpPr>
        <p:spPr>
          <a:xfrm>
            <a:off x="3387714" y="2103120"/>
            <a:ext cx="270192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268" name="Rectangle 18"/>
          <p:cNvSpPr/>
          <p:nvPr/>
        </p:nvSpPr>
        <p:spPr>
          <a:xfrm>
            <a:off x="3497441" y="2926075"/>
            <a:ext cx="2482465" cy="32004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9" name="Rectangle 19"/>
          <p:cNvSpPr/>
          <p:nvPr/>
        </p:nvSpPr>
        <p:spPr>
          <a:xfrm>
            <a:off x="3497441" y="2926077"/>
            <a:ext cx="2482465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0" name="TextBox 20"/>
          <p:cNvSpPr txBox="1"/>
          <p:nvPr/>
        </p:nvSpPr>
        <p:spPr>
          <a:xfrm>
            <a:off x="3643745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</a:t>
            </a:r>
          </a:p>
        </p:txBody>
      </p:sp>
      <p:sp>
        <p:nvSpPr>
          <p:cNvPr id="271" name="TextBox 21"/>
          <p:cNvSpPr txBox="1"/>
          <p:nvPr/>
        </p:nvSpPr>
        <p:spPr>
          <a:xfrm>
            <a:off x="3643745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搬上 Web，多人即時協作、部門權限</a:t>
            </a:r>
          </a:p>
        </p:txBody>
      </p:sp>
      <p:sp>
        <p:nvSpPr>
          <p:cNvPr id="272" name="TextBox 22"/>
          <p:cNvSpPr txBox="1"/>
          <p:nvPr/>
        </p:nvSpPr>
        <p:spPr>
          <a:xfrm>
            <a:off x="3643745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97 commits · 152 檔 · 6.9MB</a:t>
            </a:r>
          </a:p>
        </p:txBody>
      </p:sp>
      <p:grpSp>
        <p:nvGrpSpPr>
          <p:cNvPr id="275" name="Rounded Rectangle 23"/>
          <p:cNvGrpSpPr/>
          <p:nvPr/>
        </p:nvGrpSpPr>
        <p:grpSpPr>
          <a:xfrm>
            <a:off x="3643738" y="5705848"/>
            <a:ext cx="1517922" cy="310912"/>
            <a:chOff x="-1" y="0"/>
            <a:chExt cx="1517920" cy="310910"/>
          </a:xfrm>
        </p:grpSpPr>
        <p:sp>
          <p:nvSpPr>
            <p:cNvPr id="273" name="圓角矩形"/>
            <p:cNvSpPr/>
            <p:nvPr/>
          </p:nvSpPr>
          <p:spPr>
            <a:xfrm>
              <a:off x="-2" y="-1"/>
              <a:ext cx="1517922" cy="310911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74" name="耗時 14 天"/>
            <p:cNvSpPr txBox="1"/>
            <p:nvPr/>
          </p:nvSpPr>
          <p:spPr>
            <a:xfrm>
              <a:off x="409184" y="66549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14 天</a:t>
              </a:r>
            </a:p>
          </p:txBody>
        </p:sp>
      </p:grpSp>
      <p:sp>
        <p:nvSpPr>
          <p:cNvPr id="276" name="Oval 24"/>
          <p:cNvSpPr/>
          <p:nvPr/>
        </p:nvSpPr>
        <p:spPr>
          <a:xfrm>
            <a:off x="7358288" y="2523744"/>
            <a:ext cx="164605" cy="16460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7" name="TextBox 25"/>
          <p:cNvSpPr txBox="1"/>
          <p:nvPr/>
        </p:nvSpPr>
        <p:spPr>
          <a:xfrm>
            <a:off x="6089629" y="2103120"/>
            <a:ext cx="270192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278" name="Rectangle 26"/>
          <p:cNvSpPr/>
          <p:nvPr/>
        </p:nvSpPr>
        <p:spPr>
          <a:xfrm>
            <a:off x="6199356" y="2926075"/>
            <a:ext cx="2482460" cy="32004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9" name="Rectangle 27"/>
          <p:cNvSpPr/>
          <p:nvPr/>
        </p:nvSpPr>
        <p:spPr>
          <a:xfrm>
            <a:off x="6199356" y="2926077"/>
            <a:ext cx="248246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0" name="TextBox 28"/>
          <p:cNvSpPr txBox="1"/>
          <p:nvPr/>
        </p:nvSpPr>
        <p:spPr>
          <a:xfrm>
            <a:off x="6345661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</a:t>
            </a:r>
          </a:p>
        </p:txBody>
      </p:sp>
      <p:sp>
        <p:nvSpPr>
          <p:cNvPr id="281" name="TextBox 29"/>
          <p:cNvSpPr txBox="1"/>
          <p:nvPr/>
        </p:nvSpPr>
        <p:spPr>
          <a:xfrm>
            <a:off x="6345661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拆出獨立看板系統，核心從樹狀改拖曳卡片</a:t>
            </a:r>
          </a:p>
        </p:txBody>
      </p:sp>
      <p:sp>
        <p:nvSpPr>
          <p:cNvPr id="282" name="TextBox 30"/>
          <p:cNvSpPr txBox="1"/>
          <p:nvPr/>
        </p:nvSpPr>
        <p:spPr>
          <a:xfrm>
            <a:off x="6345661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32 commits · 115 檔 · 2.0MB</a:t>
            </a:r>
          </a:p>
        </p:txBody>
      </p:sp>
      <p:grpSp>
        <p:nvGrpSpPr>
          <p:cNvPr id="285" name="Rounded Rectangle 31"/>
          <p:cNvGrpSpPr/>
          <p:nvPr/>
        </p:nvGrpSpPr>
        <p:grpSpPr>
          <a:xfrm>
            <a:off x="6345655" y="5705848"/>
            <a:ext cx="1353330" cy="310912"/>
            <a:chOff x="-1" y="0"/>
            <a:chExt cx="1353329" cy="310910"/>
          </a:xfrm>
        </p:grpSpPr>
        <p:sp>
          <p:nvSpPr>
            <p:cNvPr id="283" name="圓角矩形"/>
            <p:cNvSpPr/>
            <p:nvPr/>
          </p:nvSpPr>
          <p:spPr>
            <a:xfrm>
              <a:off x="-2" y="-1"/>
              <a:ext cx="1353331" cy="310911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84" name="耗時 5 天"/>
            <p:cNvSpPr txBox="1"/>
            <p:nvPr/>
          </p:nvSpPr>
          <p:spPr>
            <a:xfrm>
              <a:off x="365118" y="66549"/>
              <a:ext cx="62308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5 天</a:t>
              </a:r>
            </a:p>
          </p:txBody>
        </p:sp>
      </p:grpSp>
      <p:sp>
        <p:nvSpPr>
          <p:cNvPr id="286" name="Oval 32"/>
          <p:cNvSpPr/>
          <p:nvPr/>
        </p:nvSpPr>
        <p:spPr>
          <a:xfrm>
            <a:off x="10060205" y="2523744"/>
            <a:ext cx="164605" cy="16460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7" name="TextBox 33"/>
          <p:cNvSpPr txBox="1"/>
          <p:nvPr/>
        </p:nvSpPr>
        <p:spPr>
          <a:xfrm>
            <a:off x="8791544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288" name="Rectangle 34"/>
          <p:cNvSpPr/>
          <p:nvPr/>
        </p:nvSpPr>
        <p:spPr>
          <a:xfrm>
            <a:off x="8901272" y="2926075"/>
            <a:ext cx="2482465" cy="32004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9" name="Rectangle 35"/>
          <p:cNvSpPr/>
          <p:nvPr/>
        </p:nvSpPr>
        <p:spPr>
          <a:xfrm>
            <a:off x="8901272" y="2926077"/>
            <a:ext cx="2482465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0" name="TextBox 36"/>
          <p:cNvSpPr txBox="1"/>
          <p:nvPr/>
        </p:nvSpPr>
        <p:spPr>
          <a:xfrm>
            <a:off x="9047574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MissionBoard</a:t>
            </a:r>
          </a:p>
        </p:txBody>
      </p:sp>
      <p:sp>
        <p:nvSpPr>
          <p:cNvPr id="291" name="TextBox 37"/>
          <p:cNvSpPr txBox="1"/>
          <p:nvPr/>
        </p:nvSpPr>
        <p:spPr>
          <a:xfrm>
            <a:off x="9047574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全新 repo 合併兩者，拆掉節點模型改用任務導向</a:t>
            </a:r>
          </a:p>
        </p:txBody>
      </p:sp>
      <p:sp>
        <p:nvSpPr>
          <p:cNvPr id="292" name="TextBox 38"/>
          <p:cNvSpPr txBox="1"/>
          <p:nvPr/>
        </p:nvSpPr>
        <p:spPr>
          <a:xfrm>
            <a:off x="9047574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73 commits · 83 檔 · 0.49MB</a:t>
            </a:r>
          </a:p>
        </p:txBody>
      </p:sp>
      <p:grpSp>
        <p:nvGrpSpPr>
          <p:cNvPr id="295" name="Rounded Rectangle 39"/>
          <p:cNvGrpSpPr/>
          <p:nvPr/>
        </p:nvGrpSpPr>
        <p:grpSpPr>
          <a:xfrm>
            <a:off x="9047569" y="5705848"/>
            <a:ext cx="1517921" cy="310912"/>
            <a:chOff x="-1" y="0"/>
            <a:chExt cx="1517920" cy="310910"/>
          </a:xfrm>
        </p:grpSpPr>
        <p:sp>
          <p:nvSpPr>
            <p:cNvPr id="293" name="圓角矩形"/>
            <p:cNvSpPr/>
            <p:nvPr/>
          </p:nvSpPr>
          <p:spPr>
            <a:xfrm>
              <a:off x="-2" y="-1"/>
              <a:ext cx="1517922" cy="310911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94" name="耗時 24 天"/>
            <p:cNvSpPr txBox="1"/>
            <p:nvPr/>
          </p:nvSpPr>
          <p:spPr>
            <a:xfrm>
              <a:off x="409184" y="66549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24 天</a:t>
              </a:r>
            </a:p>
          </p:txBody>
        </p:sp>
      </p:grpSp>
      <p:sp>
        <p:nvSpPr>
          <p:cNvPr id="296" name="TextBox 289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兩個月排出四條命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299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300" name="Connector 3"/>
          <p:cNvSpPr/>
          <p:nvPr/>
        </p:nvSpPr>
        <p:spPr>
          <a:xfrm>
            <a:off x="685795" y="166420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1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2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3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4" name="Rectangle 7"/>
          <p:cNvSpPr/>
          <p:nvPr/>
        </p:nvSpPr>
        <p:spPr>
          <a:xfrm>
            <a:off x="685798" y="221284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5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→ Spring-WbsScaff：從一支單機 HTML，變成大家連得上、資料存得住的系統</a:t>
            </a:r>
          </a:p>
        </p:txBody>
      </p:sp>
      <p:sp>
        <p:nvSpPr>
          <p:cNvPr id="306" name="Rectangle 9"/>
          <p:cNvSpPr/>
          <p:nvPr/>
        </p:nvSpPr>
        <p:spPr>
          <a:xfrm>
            <a:off x="685798" y="2972305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7" name="TextBox 10"/>
          <p:cNvSpPr txBox="1"/>
          <p:nvPr/>
        </p:nvSpPr>
        <p:spPr>
          <a:xfrm>
            <a:off x="978405" y="2880866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Spring-TaskFlow：把看板做起來，也把開發流程順出來，後面要長新東西就快很多</a:t>
            </a:r>
          </a:p>
        </p:txBody>
      </p:sp>
      <p:sp>
        <p:nvSpPr>
          <p:cNvPr id="308" name="Rectangle 11"/>
          <p:cNvSpPr/>
          <p:nvPr/>
        </p:nvSpPr>
        <p:spPr>
          <a:xfrm>
            <a:off x="685798" y="3425190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9" name="TextBox 12"/>
          <p:cNvSpPr txBox="1"/>
          <p:nvPr/>
        </p:nvSpPr>
        <p:spPr>
          <a:xfrm>
            <a:off x="978405" y="3333748"/>
            <a:ext cx="10515057" cy="664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WbsFlow → MissionBoard：想把兩套的特色合在一起時卡住了，目標互相打架，乾脆重新確立方向——任務導向</a:t>
            </a:r>
          </a:p>
        </p:txBody>
      </p:sp>
      <p:sp>
        <p:nvSpPr>
          <p:cNvPr id="310" name="TextBox 302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講得雲淡風輕，其實每次都拆掉重蓋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WBSSCAFF</a:t>
            </a:r>
          </a:p>
        </p:txBody>
      </p:sp>
      <p:sp>
        <p:nvSpPr>
          <p:cNvPr id="313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一支打開就能用的 HTML 檔</a:t>
            </a:r>
          </a:p>
        </p:txBody>
      </p:sp>
      <p:sp>
        <p:nvSpPr>
          <p:cNvPr id="314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315" name="Connector 4"/>
          <p:cNvSpPr/>
          <p:nvPr/>
        </p:nvSpPr>
        <p:spPr>
          <a:xfrm>
            <a:off x="685795" y="1911094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6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7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8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9" name="Rectangle 8"/>
          <p:cNvSpPr/>
          <p:nvPr/>
        </p:nvSpPr>
        <p:spPr>
          <a:xfrm>
            <a:off x="685798" y="2414016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0" name="TextBox 9"/>
          <p:cNvSpPr txBox="1"/>
          <p:nvPr/>
        </p:nvSpPr>
        <p:spPr>
          <a:xfrm>
            <a:off x="978405" y="2322576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不用安裝、不用連網路，檔案傳給誰都能直接打開來用</a:t>
            </a:r>
          </a:p>
        </p:txBody>
      </p:sp>
      <p:sp>
        <p:nvSpPr>
          <p:cNvPr id="321" name="Rectangle 10"/>
          <p:cNvSpPr/>
          <p:nvPr/>
        </p:nvSpPr>
        <p:spPr>
          <a:xfrm>
            <a:off x="685798" y="2848864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2" name="TextBox 11"/>
          <p:cNvSpPr txBox="1"/>
          <p:nvPr/>
        </p:nvSpPr>
        <p:spPr>
          <a:xfrm>
            <a:off x="978405" y="275742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用樹狀結構把工作拆項目，最多五層，雙擊就能改標題，也能直接拖曳搬位置</a:t>
            </a:r>
          </a:p>
        </p:txBody>
      </p:sp>
      <p:sp>
        <p:nvSpPr>
          <p:cNvPr id="323" name="Rectangle 12"/>
          <p:cNvSpPr/>
          <p:nvPr/>
        </p:nvSpPr>
        <p:spPr>
          <a:xfrm>
            <a:off x="685798" y="3283710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4" name="TextBox 13"/>
          <p:cNvSpPr txBox="1"/>
          <p:nvPr/>
        </p:nvSpPr>
        <p:spPr>
          <a:xfrm>
            <a:off x="978405" y="3192271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上層的完成狀態由下層自動算出來，不能手動亂填——這個設計後來每一代都留著</a:t>
            </a:r>
          </a:p>
        </p:txBody>
      </p:sp>
      <p:sp>
        <p:nvSpPr>
          <p:cNvPr id="325" name="Rectangle 14"/>
          <p:cNvSpPr/>
          <p:nvPr/>
        </p:nvSpPr>
        <p:spPr>
          <a:xfrm>
            <a:off x="685798" y="3718559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6" name="TextBox 15"/>
          <p:cNvSpPr txBox="1"/>
          <p:nvPr/>
        </p:nvSpPr>
        <p:spPr>
          <a:xfrm>
            <a:off x="978405" y="362711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可以匯出入 Excel／CSV，銜接大家原本就在用的檔案流程</a:t>
            </a:r>
          </a:p>
        </p:txBody>
      </p:sp>
      <p:sp>
        <p:nvSpPr>
          <p:cNvPr id="327" name="Rectangle 16"/>
          <p:cNvSpPr/>
          <p:nvPr/>
        </p:nvSpPr>
        <p:spPr>
          <a:xfrm>
            <a:off x="685800" y="4153406"/>
            <a:ext cx="10807659" cy="640087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8" name="TextBox 17"/>
          <p:cNvSpPr txBox="1"/>
          <p:nvPr/>
        </p:nvSpPr>
        <p:spPr>
          <a:xfrm>
            <a:off x="914397" y="4226559"/>
            <a:ext cx="2926089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這一代還留著，可以直接玩：</a:t>
            </a:r>
          </a:p>
        </p:txBody>
      </p:sp>
      <p:sp>
        <p:nvSpPr>
          <p:cNvPr id="329" name="TextBox 18"/>
          <p:cNvSpPr txBox="1"/>
          <p:nvPr/>
        </p:nvSpPr>
        <p:spPr>
          <a:xfrm>
            <a:off x="3886198" y="4226559"/>
            <a:ext cx="742438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https://lingaoscar.github.io/WbsScaff/</a:t>
            </a:r>
          </a:p>
        </p:txBody>
      </p:sp>
      <p:sp>
        <p:nvSpPr>
          <p:cNvPr id="330" name="TextBox 321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從一支 HTML 開始，敢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畫面</a:t>
            </a:r>
          </a:p>
        </p:txBody>
      </p:sp>
      <p:sp>
        <p:nvSpPr>
          <p:cNvPr id="33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WbsScaff：離線 WBS 樹狀編輯器</a:t>
            </a:r>
          </a:p>
        </p:txBody>
      </p:sp>
      <p:sp>
        <p:nvSpPr>
          <p:cNvPr id="334" name="Connector 3"/>
          <p:cNvSpPr/>
          <p:nvPr/>
        </p:nvSpPr>
        <p:spPr>
          <a:xfrm>
            <a:off x="685795" y="1572766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5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6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7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8" name="Rectangle 7"/>
          <p:cNvSpPr/>
          <p:nvPr/>
        </p:nvSpPr>
        <p:spPr>
          <a:xfrm>
            <a:off x="2889223" y="1975103"/>
            <a:ext cx="6400812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39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092" y="2029966"/>
            <a:ext cx="6291073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Rectangle 9"/>
          <p:cNvSpPr/>
          <p:nvPr/>
        </p:nvSpPr>
        <p:spPr>
          <a:xfrm>
            <a:off x="2889229" y="1975103"/>
            <a:ext cx="31090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1" name="Rectangle 10"/>
          <p:cNvSpPr/>
          <p:nvPr/>
        </p:nvSpPr>
        <p:spPr>
          <a:xfrm>
            <a:off x="2889229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344" name="Rounded Rectangle 11"/>
          <p:cNvGrpSpPr/>
          <p:nvPr/>
        </p:nvGrpSpPr>
        <p:grpSpPr>
          <a:xfrm>
            <a:off x="2944083" y="6126473"/>
            <a:ext cx="3986801" cy="310912"/>
            <a:chOff x="-1" y="0"/>
            <a:chExt cx="3986799" cy="310910"/>
          </a:xfrm>
        </p:grpSpPr>
        <p:sp>
          <p:nvSpPr>
            <p:cNvPr id="342" name="圓角矩形"/>
            <p:cNvSpPr/>
            <p:nvPr/>
          </p:nvSpPr>
          <p:spPr>
            <a:xfrm>
              <a:off x="-2" y="-1"/>
              <a:ext cx="3986801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43" name="打開瀏覽器就是一支完整的工具，不用裝任何東西"/>
            <p:cNvSpPr txBox="1"/>
            <p:nvPr/>
          </p:nvSpPr>
          <p:spPr>
            <a:xfrm>
              <a:off x="310641" y="47498"/>
              <a:ext cx="3365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打開瀏覽器就是一支完整的工具，不用裝任何東西</a:t>
              </a:r>
            </a:p>
          </p:txBody>
        </p:sp>
      </p:grpSp>
      <p:sp>
        <p:nvSpPr>
          <p:cNvPr id="345" name="TextBox 335"/>
          <p:cNvSpPr txBox="1"/>
          <p:nvPr/>
        </p:nvSpPr>
        <p:spPr>
          <a:xfrm>
            <a:off x="6675119" y="6537959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陽春歸陽春，能跑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SPRING-WBSSCAFF</a:t>
            </a:r>
          </a:p>
        </p:txBody>
      </p:sp>
      <p:sp>
        <p:nvSpPr>
          <p:cNvPr id="348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349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350" name="Connector 4"/>
          <p:cNvSpPr/>
          <p:nvPr/>
        </p:nvSpPr>
        <p:spPr>
          <a:xfrm>
            <a:off x="685795" y="204825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1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2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3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4" name="Rectangle 8"/>
          <p:cNvSpPr/>
          <p:nvPr/>
        </p:nvSpPr>
        <p:spPr>
          <a:xfrm>
            <a:off x="685798" y="2596894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5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從「自己電腦上的小工具」變成「打開瀏覽器就能用、資料存在同一個地方」</a:t>
            </a:r>
          </a:p>
        </p:txBody>
      </p:sp>
      <p:sp>
        <p:nvSpPr>
          <p:cNvPr id="356" name="Rectangle 10"/>
          <p:cNvSpPr/>
          <p:nvPr/>
        </p:nvSpPr>
        <p:spPr>
          <a:xfrm>
            <a:off x="685798" y="3049777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7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加了登入，也把部門的界線做進去：不同科別看到的東西不一樣</a:t>
            </a:r>
          </a:p>
        </p:txBody>
      </p:sp>
      <p:sp>
        <p:nvSpPr>
          <p:cNvPr id="358" name="Rectangle 12"/>
          <p:cNvSpPr/>
          <p:nvPr/>
        </p:nvSpPr>
        <p:spPr>
          <a:xfrm>
            <a:off x="685798" y="3502659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9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多人同時編輯同一張表，別人改了什麼，畫面會即時跟著動</a:t>
            </a:r>
          </a:p>
        </p:txBody>
      </p:sp>
      <p:sp>
        <p:nvSpPr>
          <p:cNvPr id="360" name="Rectangle 14"/>
          <p:cNvSpPr/>
          <p:nvPr/>
        </p:nvSpPr>
        <p:spPr>
          <a:xfrm>
            <a:off x="685798" y="3955541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1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這一步是整條路上第一次真正的升級：從單機檔案變成有帳號、有資料庫的正式系統</a:t>
            </a:r>
          </a:p>
        </p:txBody>
      </p:sp>
      <p:sp>
        <p:nvSpPr>
          <p:cNvPr id="362" name="TextBox 351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多人共編，恭喜開始會壞掉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畫面</a:t>
            </a:r>
          </a:p>
        </p:txBody>
      </p:sp>
      <p:sp>
        <p:nvSpPr>
          <p:cNvPr id="365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Spring-WbsScaff：多人版 WBS 樹狀畫面</a:t>
            </a:r>
          </a:p>
        </p:txBody>
      </p:sp>
      <p:sp>
        <p:nvSpPr>
          <p:cNvPr id="366" name="Connector 3"/>
          <p:cNvSpPr/>
          <p:nvPr/>
        </p:nvSpPr>
        <p:spPr>
          <a:xfrm>
            <a:off x="685795" y="1572766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7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8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9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0" name="Rectangle 7"/>
          <p:cNvSpPr/>
          <p:nvPr/>
        </p:nvSpPr>
        <p:spPr>
          <a:xfrm>
            <a:off x="4899228" y="1975103"/>
            <a:ext cx="2380808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71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54092" y="2029966"/>
            <a:ext cx="2271080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72" name="Rectangle 9"/>
          <p:cNvSpPr/>
          <p:nvPr/>
        </p:nvSpPr>
        <p:spPr>
          <a:xfrm>
            <a:off x="4899228" y="1975103"/>
            <a:ext cx="31090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3" name="Rectangle 10"/>
          <p:cNvSpPr/>
          <p:nvPr/>
        </p:nvSpPr>
        <p:spPr>
          <a:xfrm>
            <a:off x="4899228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376" name="Rounded Rectangle 11"/>
          <p:cNvGrpSpPr/>
          <p:nvPr/>
        </p:nvGrpSpPr>
        <p:grpSpPr>
          <a:xfrm>
            <a:off x="4954086" y="6126473"/>
            <a:ext cx="4809761" cy="310912"/>
            <a:chOff x="0" y="0"/>
            <a:chExt cx="4809759" cy="310910"/>
          </a:xfrm>
        </p:grpSpPr>
        <p:sp>
          <p:nvSpPr>
            <p:cNvPr id="374" name="圓角矩形"/>
            <p:cNvSpPr/>
            <p:nvPr/>
          </p:nvSpPr>
          <p:spPr>
            <a:xfrm>
              <a:off x="-1" y="-1"/>
              <a:ext cx="4809760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375" name="節點內容更貼近真實場景：主機申請、防火牆開通、資安檢核"/>
            <p:cNvSpPr txBox="1"/>
            <p:nvPr/>
          </p:nvSpPr>
          <p:spPr>
            <a:xfrm>
              <a:off x="341120" y="47498"/>
              <a:ext cx="4127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節點內容更貼近真實場景：主機申請、防火牆開通、資安檢核</a:t>
              </a:r>
            </a:p>
          </p:txBody>
        </p:sp>
      </p:grpSp>
      <p:sp>
        <p:nvSpPr>
          <p:cNvPr id="377" name="TextBox 365"/>
          <p:cNvSpPr txBox="1"/>
          <p:nvPr/>
        </p:nvSpPr>
        <p:spPr>
          <a:xfrm>
            <a:off x="6675119" y="6537959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看起來正常，其實後台在燒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SPRING-TASKFLOW</a:t>
            </a:r>
          </a:p>
        </p:txBody>
      </p:sp>
      <p:sp>
        <p:nvSpPr>
          <p:cNvPr id="380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381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382" name="Connector 4"/>
          <p:cNvSpPr/>
          <p:nvPr/>
        </p:nvSpPr>
        <p:spPr>
          <a:xfrm>
            <a:off x="685795" y="204825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83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4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5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6" name="Rectangle 8"/>
          <p:cNvSpPr/>
          <p:nvPr/>
        </p:nvSpPr>
        <p:spPr>
          <a:xfrm>
            <a:off x="685798" y="2596894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7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畫面換成待辦／進行中／完成三欄，工作變成一張張卡片，用拖的改狀態</a:t>
            </a:r>
          </a:p>
        </p:txBody>
      </p:sp>
      <p:sp>
        <p:nvSpPr>
          <p:cNvPr id="388" name="Rectangle 10"/>
          <p:cNvSpPr/>
          <p:nvPr/>
        </p:nvSpPr>
        <p:spPr>
          <a:xfrm>
            <a:off x="685798" y="3049777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89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卡片可以指派給人、設優先度跟日期，一眼看得出誰手上有什麼</a:t>
            </a:r>
          </a:p>
        </p:txBody>
      </p:sp>
      <p:sp>
        <p:nvSpPr>
          <p:cNvPr id="390" name="Rectangle 12"/>
          <p:cNvSpPr/>
          <p:nvPr/>
        </p:nvSpPr>
        <p:spPr>
          <a:xfrm>
            <a:off x="685798" y="3502659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1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登入、部門權限、頁面外框直接沿用上一代，省下重新驗證的時間</a:t>
            </a:r>
          </a:p>
        </p:txBody>
      </p:sp>
      <p:sp>
        <p:nvSpPr>
          <p:cNvPr id="392" name="Rectangle 14"/>
          <p:cNvSpPr/>
          <p:nvPr/>
        </p:nvSpPr>
        <p:spPr>
          <a:xfrm>
            <a:off x="685798" y="3955541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3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做完這一步，手上同時有「樹」跟「看板」兩套東西——也就是後面想合併的起因</a:t>
            </a:r>
          </a:p>
        </p:txBody>
      </p:sp>
      <p:sp>
        <p:nvSpPr>
          <p:cNvPr id="394" name="TextBox 381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終於學會拖拖樂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畫面</a:t>
            </a:r>
          </a:p>
        </p:txBody>
      </p:sp>
      <p:sp>
        <p:nvSpPr>
          <p:cNvPr id="397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Spring-TaskFlow：待辦／進行中／完成三欄看板</a:t>
            </a:r>
          </a:p>
        </p:txBody>
      </p:sp>
      <p:sp>
        <p:nvSpPr>
          <p:cNvPr id="398" name="Connector 3"/>
          <p:cNvSpPr/>
          <p:nvPr/>
        </p:nvSpPr>
        <p:spPr>
          <a:xfrm>
            <a:off x="685795" y="1572766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9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0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1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2" name="Rectangle 7"/>
          <p:cNvSpPr/>
          <p:nvPr/>
        </p:nvSpPr>
        <p:spPr>
          <a:xfrm>
            <a:off x="3176538" y="1975103"/>
            <a:ext cx="5826181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03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31406" y="2029966"/>
            <a:ext cx="5716445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404" name="Rectangle 9"/>
          <p:cNvSpPr/>
          <p:nvPr/>
        </p:nvSpPr>
        <p:spPr>
          <a:xfrm>
            <a:off x="3176540" y="1975103"/>
            <a:ext cx="31090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5" name="Rectangle 10"/>
          <p:cNvSpPr/>
          <p:nvPr/>
        </p:nvSpPr>
        <p:spPr>
          <a:xfrm>
            <a:off x="3176540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408" name="Rounded Rectangle 11"/>
          <p:cNvGrpSpPr/>
          <p:nvPr/>
        </p:nvGrpSpPr>
        <p:grpSpPr>
          <a:xfrm>
            <a:off x="3231398" y="6126473"/>
            <a:ext cx="5138945" cy="310912"/>
            <a:chOff x="0" y="0"/>
            <a:chExt cx="5138944" cy="310910"/>
          </a:xfrm>
        </p:grpSpPr>
        <p:sp>
          <p:nvSpPr>
            <p:cNvPr id="406" name="圓角矩形"/>
            <p:cNvSpPr/>
            <p:nvPr/>
          </p:nvSpPr>
          <p:spPr>
            <a:xfrm>
              <a:off x="-1" y="-1"/>
              <a:ext cx="5138945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407" name="從「一棵樹」變成「三個欄位＋卡片」，成為最終系統的核心體驗"/>
            <p:cNvSpPr txBox="1"/>
            <p:nvPr/>
          </p:nvSpPr>
          <p:spPr>
            <a:xfrm>
              <a:off x="353314" y="47498"/>
              <a:ext cx="443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從「一棵樹」變成「三個欄位＋卡片」，成為最終系統的核心體驗</a:t>
              </a:r>
            </a:p>
          </p:txBody>
        </p:sp>
      </p:grpSp>
      <p:sp>
        <p:nvSpPr>
          <p:cNvPr id="409" name="TextBox 395"/>
          <p:cNvSpPr txBox="1"/>
          <p:nvPr/>
        </p:nvSpPr>
        <p:spPr>
          <a:xfrm>
            <a:off x="6675119" y="6537959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三欄看板，療癒系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412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413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414" name="Connector 4"/>
          <p:cNvSpPr/>
          <p:nvPr/>
        </p:nvSpPr>
        <p:spPr>
          <a:xfrm>
            <a:off x="685795" y="1911094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15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16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17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18" name="Rectangle 8"/>
          <p:cNvSpPr/>
          <p:nvPr/>
        </p:nvSpPr>
        <p:spPr>
          <a:xfrm>
            <a:off x="685798" y="2414016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19" name="TextBox 9"/>
          <p:cNvSpPr txBox="1"/>
          <p:nvPr/>
        </p:nvSpPr>
        <p:spPr>
          <a:xfrm>
            <a:off x="978405" y="2322576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做得好的是樹狀規劃；Spring-TaskFlow 做得好的是看板指派——WbsFlow 把兩者硬合併，結果要先搭骨架才能建任務；使用者實際要的是先建任務、事後再歸類，所以拆掉樹狀階層，任務改成天生獨立</a:t>
            </a:r>
          </a:p>
        </p:txBody>
      </p:sp>
      <p:sp>
        <p:nvSpPr>
          <p:cNvPr id="420" name="Rectangle 10"/>
          <p:cNvSpPr/>
          <p:nvPr/>
        </p:nvSpPr>
        <p:spPr>
          <a:xfrm>
            <a:off x="685794" y="3408045"/>
            <a:ext cx="4946641" cy="30384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1" name="Rectangle 11"/>
          <p:cNvSpPr/>
          <p:nvPr/>
        </p:nvSpPr>
        <p:spPr>
          <a:xfrm>
            <a:off x="685794" y="3408045"/>
            <a:ext cx="4946641" cy="384055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2" name="TextBox 12"/>
          <p:cNvSpPr txBox="1"/>
          <p:nvPr/>
        </p:nvSpPr>
        <p:spPr>
          <a:xfrm>
            <a:off x="685794" y="3485769"/>
            <a:ext cx="49466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之前 · WBS 樹狀規劃</a:t>
            </a:r>
          </a:p>
        </p:txBody>
      </p:sp>
      <p:sp>
        <p:nvSpPr>
          <p:cNvPr id="423" name="Rectangle 13"/>
          <p:cNvSpPr/>
          <p:nvPr/>
        </p:nvSpPr>
        <p:spPr>
          <a:xfrm>
            <a:off x="6546828" y="3408045"/>
            <a:ext cx="4946637" cy="3038482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4" name="Rectangle 14"/>
          <p:cNvSpPr/>
          <p:nvPr/>
        </p:nvSpPr>
        <p:spPr>
          <a:xfrm>
            <a:off x="6546828" y="3408045"/>
            <a:ext cx="4946637" cy="384055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5" name="TextBox 15"/>
          <p:cNvSpPr txBox="1"/>
          <p:nvPr/>
        </p:nvSpPr>
        <p:spPr>
          <a:xfrm>
            <a:off x="6546828" y="3485769"/>
            <a:ext cx="494663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任務導向看板</a:t>
            </a:r>
          </a:p>
        </p:txBody>
      </p:sp>
      <p:sp>
        <p:nvSpPr>
          <p:cNvPr id="426" name="Connector 16"/>
          <p:cNvSpPr/>
          <p:nvPr/>
        </p:nvSpPr>
        <p:spPr>
          <a:xfrm>
            <a:off x="5742156" y="4927282"/>
            <a:ext cx="694951" cy="7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7" name="Isosceles Triangle 17"/>
          <p:cNvSpPr/>
          <p:nvPr/>
        </p:nvSpPr>
        <p:spPr>
          <a:xfrm rot="5400000">
            <a:off x="6290794" y="4835839"/>
            <a:ext cx="182888" cy="182887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28" name="Picture 18" descr="Picture 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19272" y="3956684"/>
            <a:ext cx="1279685" cy="221551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9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47732" y="3956684"/>
            <a:ext cx="3544824" cy="2215516"/>
          </a:xfrm>
          <a:prstGeom prst="rect">
            <a:avLst/>
          </a:prstGeom>
          <a:ln w="12700">
            <a:miter lim="400000"/>
          </a:ln>
        </p:spPr>
      </p:pic>
      <p:sp>
        <p:nvSpPr>
          <p:cNvPr id="430" name="TextBox 415"/>
          <p:cNvSpPr txBox="1"/>
          <p:nvPr/>
        </p:nvSpPr>
        <p:spPr>
          <a:xfrm>
            <a:off x="6675119" y="6537959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兩個都好，合起來就崩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我怎麼用 AI</a:t>
            </a:r>
          </a:p>
        </p:txBody>
      </p:sp>
      <p:sp>
        <p:nvSpPr>
          <p:cNvPr id="43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434" name="Connector 3"/>
          <p:cNvSpPr/>
          <p:nvPr/>
        </p:nvSpPr>
        <p:spPr>
          <a:xfrm>
            <a:off x="685795" y="1572766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5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6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7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8" name="Rectangle 7"/>
          <p:cNvSpPr/>
          <p:nvPr/>
        </p:nvSpPr>
        <p:spPr>
          <a:xfrm>
            <a:off x="685798" y="207568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9" name="TextBox 8"/>
          <p:cNvSpPr txBox="1"/>
          <p:nvPr/>
        </p:nvSpPr>
        <p:spPr>
          <a:xfrm>
            <a:off x="978405" y="1984248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動手前，我會先讓 AI 把舊專案的程式碼讀過一遍，比我自己憑印象猜準很多</a:t>
            </a:r>
          </a:p>
        </p:txBody>
      </p:sp>
      <p:sp>
        <p:nvSpPr>
          <p:cNvPr id="440" name="Rectangle 9"/>
          <p:cNvSpPr/>
          <p:nvPr/>
        </p:nvSpPr>
        <p:spPr>
          <a:xfrm>
            <a:off x="685798" y="2428619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1" name="TextBox 10"/>
          <p:cNvSpPr txBox="1"/>
          <p:nvPr/>
        </p:nvSpPr>
        <p:spPr>
          <a:xfrm>
            <a:off x="978405" y="2337180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一個任務開一個新對話，不讓前面累積的雜訊影響判斷</a:t>
            </a:r>
          </a:p>
        </p:txBody>
      </p:sp>
      <p:sp>
        <p:nvSpPr>
          <p:cNvPr id="442" name="Rectangle 11"/>
          <p:cNvSpPr/>
          <p:nvPr/>
        </p:nvSpPr>
        <p:spPr>
          <a:xfrm>
            <a:off x="685798" y="2781554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3" name="TextBox 12"/>
          <p:cNvSpPr txBox="1"/>
          <p:nvPr/>
        </p:nvSpPr>
        <p:spPr>
          <a:xfrm>
            <a:off x="978405" y="2690114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寫的跟審的分開：同一段東西，我另外開一個 AI 來挑毛病，不讓它自己審自己</a:t>
            </a:r>
          </a:p>
        </p:txBody>
      </p:sp>
      <p:sp>
        <p:nvSpPr>
          <p:cNvPr id="444" name="Rectangle 13"/>
          <p:cNvSpPr/>
          <p:nvPr/>
        </p:nvSpPr>
        <p:spPr>
          <a:xfrm>
            <a:off x="685798" y="3134485"/>
            <a:ext cx="100592" cy="10059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5" name="TextBox 14"/>
          <p:cNvSpPr txBox="1"/>
          <p:nvPr/>
        </p:nvSpPr>
        <p:spPr>
          <a:xfrm>
            <a:off x="978405" y="3043046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簡單的抄寫用便宜快的，需要判斷的才換強的，額度留給真的難的地方</a:t>
            </a:r>
          </a:p>
        </p:txBody>
      </p:sp>
      <p:sp>
        <p:nvSpPr>
          <p:cNvPr id="446" name="Rectangle 15"/>
          <p:cNvSpPr/>
          <p:nvPr/>
        </p:nvSpPr>
        <p:spPr>
          <a:xfrm>
            <a:off x="685798" y="3487420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7" name="TextBox 16"/>
          <p:cNvSpPr txBox="1"/>
          <p:nvPr/>
        </p:nvSpPr>
        <p:spPr>
          <a:xfrm>
            <a:off x="978405" y="3395979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進度另外記一份檔案，對話斷掉重開，看記錄就能接著做</a:t>
            </a:r>
          </a:p>
        </p:txBody>
      </p:sp>
      <p:sp>
        <p:nvSpPr>
          <p:cNvPr id="448" name="Rectangle 17"/>
          <p:cNvSpPr/>
          <p:nvPr/>
        </p:nvSpPr>
        <p:spPr>
          <a:xfrm>
            <a:off x="685800" y="3794633"/>
            <a:ext cx="10807659" cy="566935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9" name="Rectangle 18"/>
          <p:cNvSpPr/>
          <p:nvPr/>
        </p:nvSpPr>
        <p:spPr>
          <a:xfrm>
            <a:off x="685798" y="3794633"/>
            <a:ext cx="73160" cy="56693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0" name="TextBox 19"/>
          <p:cNvSpPr txBox="1"/>
          <p:nvPr/>
        </p:nvSpPr>
        <p:spPr>
          <a:xfrm>
            <a:off x="941830" y="3963796"/>
            <a:ext cx="103504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  <p:sp>
        <p:nvSpPr>
          <p:cNvPr id="451" name="TextBox 435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認真臉講幹話的時間到了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454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455" name="Connector 3"/>
          <p:cNvSpPr/>
          <p:nvPr/>
        </p:nvSpPr>
        <p:spPr>
          <a:xfrm>
            <a:off x="685795" y="166420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6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7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8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9" name="Rectangle 7"/>
          <p:cNvSpPr/>
          <p:nvPr/>
        </p:nvSpPr>
        <p:spPr>
          <a:xfrm>
            <a:off x="685798" y="221284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0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後來養成習慣：可疑的結論不聽解釋，直接要求重現一次給我看</a:t>
            </a:r>
          </a:p>
        </p:txBody>
      </p:sp>
      <p:sp>
        <p:nvSpPr>
          <p:cNvPr id="461" name="Rectangle 9"/>
          <p:cNvSpPr/>
          <p:nvPr/>
        </p:nvSpPr>
        <p:spPr>
          <a:xfrm>
            <a:off x="685798" y="2665727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2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兩個印象比較深的例子：</a:t>
            </a:r>
          </a:p>
        </p:txBody>
      </p:sp>
      <p:sp>
        <p:nvSpPr>
          <p:cNvPr id="463" name="TextBox 446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它嘴很硬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466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467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sp>
        <p:nvSpPr>
          <p:cNvPr id="468" name="Connector 4"/>
          <p:cNvSpPr/>
          <p:nvPr/>
        </p:nvSpPr>
        <p:spPr>
          <a:xfrm>
            <a:off x="685795" y="1911094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9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0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1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2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3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4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75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「請繼續完成系統建制」</a:t>
            </a:r>
          </a:p>
        </p:txBody>
      </p:sp>
      <p:sp>
        <p:nvSpPr>
          <p:cNvPr id="476" name="Rectangle 12"/>
          <p:cNvSpPr/>
          <p:nvPr/>
        </p:nvSpPr>
        <p:spPr>
          <a:xfrm>
            <a:off x="685800" y="3127248"/>
            <a:ext cx="10807659" cy="1645925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7" name="Rectangle 13"/>
          <p:cNvSpPr/>
          <p:nvPr/>
        </p:nvSpPr>
        <p:spPr>
          <a:xfrm>
            <a:off x="685800" y="3127248"/>
            <a:ext cx="54864" cy="164592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8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79" name="TextBox 15"/>
          <p:cNvSpPr txBox="1"/>
          <p:nvPr/>
        </p:nvSpPr>
        <p:spPr>
          <a:xfrm>
            <a:off x="960118" y="3511296"/>
            <a:ext cx="10259023" cy="810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「繼續完成系統建制」指的是哪個方向？兩者路線互斥（重構會移除現有樹編輯器）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① 執行任務導向重構（推薦）— 看板變預設首頁，移除舊三分頁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② 在現有 WBS 樹模型上補完 — 樹狀模型不變，把佔位符分頁做出來</a:t>
            </a:r>
          </a:p>
        </p:txBody>
      </p:sp>
      <p:sp>
        <p:nvSpPr>
          <p:cNvPr id="480" name="Rectangle 16"/>
          <p:cNvSpPr/>
          <p:nvPr/>
        </p:nvSpPr>
        <p:spPr>
          <a:xfrm>
            <a:off x="685800" y="4983479"/>
            <a:ext cx="10807659" cy="594367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1" name="TextBox 17"/>
          <p:cNvSpPr txBox="1"/>
          <p:nvPr/>
        </p:nvSpPr>
        <p:spPr>
          <a:xfrm>
            <a:off x="914400" y="5172709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82" name="TextBox 18"/>
          <p:cNvSpPr txBox="1"/>
          <p:nvPr/>
        </p:nvSpPr>
        <p:spPr>
          <a:xfrm>
            <a:off x="1737360" y="5172709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選了①，後續做出 11 個任務、73 commits，104/104 測試通過，才有現在的 MissionBoard</a:t>
            </a:r>
          </a:p>
        </p:txBody>
      </p:sp>
      <p:sp>
        <p:nvSpPr>
          <p:cNvPr id="483" name="TextBox 465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一句話拆出兩條路，血條 -1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486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487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sp>
        <p:nvSpPr>
          <p:cNvPr id="488" name="Connector 4"/>
          <p:cNvSpPr/>
          <p:nvPr/>
        </p:nvSpPr>
        <p:spPr>
          <a:xfrm>
            <a:off x="685795" y="1911094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9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0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1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2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3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4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95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（11 個任務全數完成、各自審查通過後，啟動最終總體檢查）</a:t>
            </a:r>
          </a:p>
        </p:txBody>
      </p:sp>
      <p:sp>
        <p:nvSpPr>
          <p:cNvPr id="496" name="Rectangle 12"/>
          <p:cNvSpPr/>
          <p:nvPr/>
        </p:nvSpPr>
        <p:spPr>
          <a:xfrm>
            <a:off x="685800" y="3127248"/>
            <a:ext cx="10807659" cy="1901952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7" name="Rectangle 13"/>
          <p:cNvSpPr/>
          <p:nvPr/>
        </p:nvSpPr>
        <p:spPr>
          <a:xfrm>
            <a:off x="685800" y="3127248"/>
            <a:ext cx="54864" cy="190195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8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99" name="TextBox 15"/>
          <p:cNvSpPr txBox="1"/>
          <p:nvPr/>
        </p:nvSpPr>
        <p:spPr>
          <a:xfrm>
            <a:off x="960118" y="3511296"/>
            <a:ext cx="10259023" cy="734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Final review: no Critical findings, 3 Important（都是文件／測試缺口）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額外納入修正：project-detail.js 同欄向下拖曳有 off-by-one（插入位置差一格）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派一個統整 fix wave 處理全部發現，不是一個發現派一個 fixer</a:t>
            </a:r>
          </a:p>
        </p:txBody>
      </p:sp>
      <p:sp>
        <p:nvSpPr>
          <p:cNvPr id="500" name="Rectangle 16"/>
          <p:cNvSpPr/>
          <p:nvPr/>
        </p:nvSpPr>
        <p:spPr>
          <a:xfrm>
            <a:off x="685800" y="5239510"/>
            <a:ext cx="10807659" cy="594365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1" name="TextBox 17"/>
          <p:cNvSpPr txBox="1"/>
          <p:nvPr/>
        </p:nvSpPr>
        <p:spPr>
          <a:xfrm>
            <a:off x="914400" y="5428741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502" name="TextBox 18"/>
          <p:cNvSpPr txBox="1"/>
          <p:nvPr/>
        </p:nvSpPr>
        <p:spPr>
          <a:xfrm>
            <a:off x="1737360" y="5428741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8 個發現全部修復，複查乾淨，104/104 測試通過才 commit</a:t>
            </a:r>
          </a:p>
        </p:txBody>
      </p:sp>
      <p:sp>
        <p:nvSpPr>
          <p:cNvPr id="503" name="TextBox 484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連自己都要找人來抓自己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506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507" name="Connector 3"/>
          <p:cNvSpPr/>
          <p:nvPr/>
        </p:nvSpPr>
        <p:spPr>
          <a:xfrm>
            <a:off x="685795" y="166420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8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9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0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1" name="Rectangle 7"/>
          <p:cNvSpPr/>
          <p:nvPr/>
        </p:nvSpPr>
        <p:spPr>
          <a:xfrm>
            <a:off x="685798" y="221284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2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有畫面的功能，一定要截圖給我看，不接受只說「已完成」</a:t>
            </a:r>
          </a:p>
        </p:txBody>
      </p:sp>
      <p:sp>
        <p:nvSpPr>
          <p:cNvPr id="513" name="Rectangle 9"/>
          <p:cNvSpPr/>
          <p:nvPr/>
        </p:nvSpPr>
        <p:spPr>
          <a:xfrm>
            <a:off x="685798" y="2665727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4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要推上遠端，一律要我親自點頭才行，AI 不能自己決定</a:t>
            </a:r>
          </a:p>
        </p:txBody>
      </p:sp>
      <p:sp>
        <p:nvSpPr>
          <p:cNvPr id="515" name="Rectangle 11"/>
          <p:cNvSpPr/>
          <p:nvPr/>
        </p:nvSpPr>
        <p:spPr>
          <a:xfrm>
            <a:off x="685798" y="3118610"/>
            <a:ext cx="100592" cy="10059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16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測試沒過就是還沒做完，沒有例外</a:t>
            </a:r>
          </a:p>
        </p:txBody>
      </p:sp>
      <p:sp>
        <p:nvSpPr>
          <p:cNvPr id="517" name="TextBox 497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條條都是血淚換來的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520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521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不只寫程式，分析、測試、文件也是流程裡固定要做的一步，不是事後才想到</a:t>
            </a:r>
          </a:p>
        </p:txBody>
      </p:sp>
      <p:sp>
        <p:nvSpPr>
          <p:cNvPr id="522" name="Connector 4"/>
          <p:cNvSpPr/>
          <p:nvPr/>
        </p:nvSpPr>
        <p:spPr>
          <a:xfrm>
            <a:off x="685797" y="1911094"/>
            <a:ext cx="822966" cy="5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3" name="Oval 5"/>
          <p:cNvSpPr/>
          <p:nvPr/>
        </p:nvSpPr>
        <p:spPr>
          <a:xfrm>
            <a:off x="658368" y="1883664"/>
            <a:ext cx="54864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4" name="Oval 6"/>
          <p:cNvSpPr/>
          <p:nvPr/>
        </p:nvSpPr>
        <p:spPr>
          <a:xfrm>
            <a:off x="106984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5" name="Oval 7"/>
          <p:cNvSpPr/>
          <p:nvPr/>
        </p:nvSpPr>
        <p:spPr>
          <a:xfrm>
            <a:off x="1481327" y="1883664"/>
            <a:ext cx="54873" cy="5487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6" name="Rectangle 8"/>
          <p:cNvSpPr/>
          <p:nvPr/>
        </p:nvSpPr>
        <p:spPr>
          <a:xfrm>
            <a:off x="685800" y="2304288"/>
            <a:ext cx="10807659" cy="14173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7" name="Rectangle 9"/>
          <p:cNvSpPr/>
          <p:nvPr/>
        </p:nvSpPr>
        <p:spPr>
          <a:xfrm>
            <a:off x="685798" y="2304288"/>
            <a:ext cx="73158" cy="1417324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30" name="Rounded Rectangle 10"/>
          <p:cNvGrpSpPr/>
          <p:nvPr/>
        </p:nvGrpSpPr>
        <p:grpSpPr>
          <a:xfrm>
            <a:off x="941832" y="2468875"/>
            <a:ext cx="1051569" cy="310907"/>
            <a:chOff x="0" y="0"/>
            <a:chExt cx="1051568" cy="310905"/>
          </a:xfrm>
        </p:grpSpPr>
        <p:sp>
          <p:nvSpPr>
            <p:cNvPr id="528" name="圓角矩形"/>
            <p:cNvSpPr/>
            <p:nvPr/>
          </p:nvSpPr>
          <p:spPr>
            <a:xfrm>
              <a:off x="-1" y="-1"/>
              <a:ext cx="1051570" cy="310907"/>
            </a:xfrm>
            <a:prstGeom prst="roundRect">
              <a:avLst>
                <a:gd name="adj" fmla="val 50000"/>
              </a:avLst>
            </a:prstGeom>
            <a:solidFill>
              <a:srgbClr val="0B11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29" name="cc-new"/>
            <p:cNvSpPr txBox="1"/>
            <p:nvPr/>
          </p:nvSpPr>
          <p:spPr>
            <a:xfrm>
              <a:off x="244172" y="66549"/>
              <a:ext cx="563216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cc-new</a:t>
              </a:r>
            </a:p>
          </p:txBody>
        </p:sp>
      </p:grpSp>
      <p:sp>
        <p:nvSpPr>
          <p:cNvPr id="531" name="TextBox 11"/>
          <p:cNvSpPr txBox="1"/>
          <p:nvPr/>
        </p:nvSpPr>
        <p:spPr>
          <a:xfrm>
            <a:off x="2148839" y="2441448"/>
            <a:ext cx="90703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每次啟動新專案／新迭代的起手式，先跑 brainstorming 定方向，再決定要不要建骨架</a:t>
            </a:r>
          </a:p>
        </p:txBody>
      </p:sp>
      <p:sp>
        <p:nvSpPr>
          <p:cNvPr id="532" name="Rectangle 12"/>
          <p:cNvSpPr/>
          <p:nvPr/>
        </p:nvSpPr>
        <p:spPr>
          <a:xfrm>
            <a:off x="941832" y="2953511"/>
            <a:ext cx="82301" cy="822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3" name="TextBox 13"/>
          <p:cNvSpPr txBox="1"/>
          <p:nvPr/>
        </p:nvSpPr>
        <p:spPr>
          <a:xfrm>
            <a:off x="1106423" y="2871216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一個指令生出三種骨架（github／godot／ios），各自帶最小可跑的範例，不是空資料夾</a:t>
            </a:r>
          </a:p>
        </p:txBody>
      </p:sp>
      <p:sp>
        <p:nvSpPr>
          <p:cNvPr id="534" name="Rectangle 14"/>
          <p:cNvSpPr/>
          <p:nvPr/>
        </p:nvSpPr>
        <p:spPr>
          <a:xfrm>
            <a:off x="941832" y="3227832"/>
            <a:ext cx="82301" cy="823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5" name="TextBox 15"/>
          <p:cNvSpPr txBox="1"/>
          <p:nvPr/>
        </p:nvSpPr>
        <p:spPr>
          <a:xfrm>
            <a:off x="1106423" y="3145533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收工前先驗證：godot 用 headless 開一次、iOS 直接 build 模擬器，骨架跑不起來不算完成</a:t>
            </a:r>
          </a:p>
        </p:txBody>
      </p:sp>
      <p:sp>
        <p:nvSpPr>
          <p:cNvPr id="536" name="Rectangle 16"/>
          <p:cNvSpPr/>
          <p:nvPr/>
        </p:nvSpPr>
        <p:spPr>
          <a:xfrm>
            <a:off x="941832" y="3502152"/>
            <a:ext cx="82301" cy="8230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7" name="TextBox 17"/>
          <p:cNvSpPr txBox="1"/>
          <p:nvPr/>
        </p:nvSpPr>
        <p:spPr>
          <a:xfrm>
            <a:off x="1106423" y="3419854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刻意不推送：本地 commit＋建立空 private repo，推送留給新開的 session 自己決定，順便避開 push gate</a:t>
            </a:r>
          </a:p>
        </p:txBody>
      </p:sp>
      <p:sp>
        <p:nvSpPr>
          <p:cNvPr id="538" name="Oval 18"/>
          <p:cNvSpPr/>
          <p:nvPr/>
        </p:nvSpPr>
        <p:spPr>
          <a:xfrm>
            <a:off x="2729208" y="4041647"/>
            <a:ext cx="1371609" cy="1371609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9" name="TextBox 19"/>
          <p:cNvSpPr txBox="1"/>
          <p:nvPr/>
        </p:nvSpPr>
        <p:spPr>
          <a:xfrm>
            <a:off x="2729207" y="4169664"/>
            <a:ext cx="1371606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540" name="TextBox 20"/>
          <p:cNvSpPr txBox="1"/>
          <p:nvPr/>
        </p:nvSpPr>
        <p:spPr>
          <a:xfrm>
            <a:off x="2729207" y="4575047"/>
            <a:ext cx="1371606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分析</a:t>
            </a:r>
          </a:p>
        </p:txBody>
      </p:sp>
      <p:sp>
        <p:nvSpPr>
          <p:cNvPr id="541" name="Connector 21"/>
          <p:cNvSpPr/>
          <p:nvPr/>
        </p:nvSpPr>
        <p:spPr>
          <a:xfrm>
            <a:off x="4100807" y="4727447"/>
            <a:ext cx="411485" cy="5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2" name="Oval 22"/>
          <p:cNvSpPr/>
          <p:nvPr/>
        </p:nvSpPr>
        <p:spPr>
          <a:xfrm>
            <a:off x="4512288" y="4041647"/>
            <a:ext cx="1371609" cy="137160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3" name="TextBox 23"/>
          <p:cNvSpPr txBox="1"/>
          <p:nvPr/>
        </p:nvSpPr>
        <p:spPr>
          <a:xfrm>
            <a:off x="4512288" y="4169664"/>
            <a:ext cx="137160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544" name="TextBox 24"/>
          <p:cNvSpPr txBox="1"/>
          <p:nvPr/>
        </p:nvSpPr>
        <p:spPr>
          <a:xfrm>
            <a:off x="4512288" y="4575047"/>
            <a:ext cx="1371605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實作</a:t>
            </a:r>
          </a:p>
        </p:txBody>
      </p:sp>
      <p:sp>
        <p:nvSpPr>
          <p:cNvPr id="545" name="Connector 25"/>
          <p:cNvSpPr/>
          <p:nvPr/>
        </p:nvSpPr>
        <p:spPr>
          <a:xfrm>
            <a:off x="5883888" y="4727447"/>
            <a:ext cx="411485" cy="5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6" name="Oval 26"/>
          <p:cNvSpPr/>
          <p:nvPr/>
        </p:nvSpPr>
        <p:spPr>
          <a:xfrm>
            <a:off x="6295368" y="4041647"/>
            <a:ext cx="1371609" cy="1371609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7" name="TextBox 27"/>
          <p:cNvSpPr txBox="1"/>
          <p:nvPr/>
        </p:nvSpPr>
        <p:spPr>
          <a:xfrm>
            <a:off x="6295368" y="4169664"/>
            <a:ext cx="137160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48" name="TextBox 28"/>
          <p:cNvSpPr txBox="1"/>
          <p:nvPr/>
        </p:nvSpPr>
        <p:spPr>
          <a:xfrm>
            <a:off x="6295368" y="4575047"/>
            <a:ext cx="1371605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測試</a:t>
            </a:r>
          </a:p>
        </p:txBody>
      </p:sp>
      <p:sp>
        <p:nvSpPr>
          <p:cNvPr id="549" name="Connector 29"/>
          <p:cNvSpPr/>
          <p:nvPr/>
        </p:nvSpPr>
        <p:spPr>
          <a:xfrm>
            <a:off x="7666969" y="4727447"/>
            <a:ext cx="411485" cy="5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0" name="Oval 30"/>
          <p:cNvSpPr/>
          <p:nvPr/>
        </p:nvSpPr>
        <p:spPr>
          <a:xfrm>
            <a:off x="8078447" y="4041647"/>
            <a:ext cx="1371609" cy="137160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1" name="TextBox 31"/>
          <p:cNvSpPr txBox="1"/>
          <p:nvPr/>
        </p:nvSpPr>
        <p:spPr>
          <a:xfrm>
            <a:off x="8078447" y="4169664"/>
            <a:ext cx="1371606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552" name="TextBox 32"/>
          <p:cNvSpPr txBox="1"/>
          <p:nvPr/>
        </p:nvSpPr>
        <p:spPr>
          <a:xfrm>
            <a:off x="8078447" y="4575047"/>
            <a:ext cx="1371606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文件</a:t>
            </a:r>
          </a:p>
        </p:txBody>
      </p:sp>
      <p:sp>
        <p:nvSpPr>
          <p:cNvPr id="553" name="TextBox 33"/>
          <p:cNvSpPr txBox="1"/>
          <p:nvPr/>
        </p:nvSpPr>
        <p:spPr>
          <a:xfrm>
            <a:off x="685800" y="5669279"/>
            <a:ext cx="10807659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每一代（WbsScaff、Spring-WbsScaff、Spring-TaskFlow、MissionBoard）都走這四步，不是後來才補上的規矩</a:t>
            </a:r>
          </a:p>
        </p:txBody>
      </p:sp>
      <p:sp>
        <p:nvSpPr>
          <p:cNvPr id="554" name="TextBox 533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四步驟聽起來很潮，其實就是不想再重來一次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557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558" name="Connector 3"/>
          <p:cNvSpPr/>
          <p:nvPr/>
        </p:nvSpPr>
        <p:spPr>
          <a:xfrm>
            <a:off x="685795" y="166420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9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0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1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2" name="Rectangle 7"/>
          <p:cNvSpPr/>
          <p:nvPr/>
        </p:nvSpPr>
        <p:spPr>
          <a:xfrm>
            <a:off x="685798" y="221284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3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為了貼近實際狀況，我用現在工作上真的會遇到的情境來設計：主機申請、防火牆開通、資安檢核這類項目</a:t>
            </a:r>
          </a:p>
        </p:txBody>
      </p:sp>
      <p:sp>
        <p:nvSpPr>
          <p:cNvPr id="564" name="Rectangle 9"/>
          <p:cNvSpPr/>
          <p:nvPr/>
        </p:nvSpPr>
        <p:spPr>
          <a:xfrm>
            <a:off x="685798" y="2972305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5" name="TextBox 10"/>
          <p:cNvSpPr txBox="1"/>
          <p:nvPr/>
        </p:nvSpPr>
        <p:spPr>
          <a:xfrm>
            <a:off x="978405" y="2880866"/>
            <a:ext cx="10515057" cy="664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角色也照實際職務分：長官跨科看得到但不能改、科長科內全權、專案負責人管自己的案子、成員只看得到自己參與的</a:t>
            </a:r>
          </a:p>
        </p:txBody>
      </p:sp>
      <p:sp>
        <p:nvSpPr>
          <p:cNvPr id="566" name="Rectangle 11"/>
          <p:cNvSpPr/>
          <p:nvPr/>
        </p:nvSpPr>
        <p:spPr>
          <a:xfrm>
            <a:off x="685798" y="3731767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7" name="TextBox 12"/>
          <p:cNvSpPr txBox="1"/>
          <p:nvPr/>
        </p:nvSpPr>
        <p:spPr>
          <a:xfrm>
            <a:off x="978405" y="364032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科別之間互相看不到，每個動作都會再確認一次「這個人有沒有資格動這筆資料」</a:t>
            </a:r>
          </a:p>
        </p:txBody>
      </p:sp>
      <p:sp>
        <p:nvSpPr>
          <p:cNvPr id="568" name="Rectangle 13"/>
          <p:cNvSpPr/>
          <p:nvPr/>
        </p:nvSpPr>
        <p:spPr>
          <a:xfrm>
            <a:off x="685798" y="418464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9" name="TextBox 14"/>
          <p:cNvSpPr txBox="1"/>
          <p:nvPr/>
        </p:nvSpPr>
        <p:spPr>
          <a:xfrm>
            <a:off x="978405" y="4093209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權限畫得細，反而增加了協作的自由度：大家可以放心一起動同一份資料</a:t>
            </a:r>
          </a:p>
        </p:txBody>
      </p:sp>
      <p:sp>
        <p:nvSpPr>
          <p:cNvPr id="570" name="TextBox 548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連權限都設計得比某些系統嚴謹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3" name="TextBox 2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574" name="TextBox 3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575" name="Connector 4"/>
          <p:cNvSpPr/>
          <p:nvPr/>
        </p:nvSpPr>
        <p:spPr>
          <a:xfrm>
            <a:off x="685797" y="1572766"/>
            <a:ext cx="822965" cy="4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76" name="Oval 5"/>
          <p:cNvSpPr/>
          <p:nvPr/>
        </p:nvSpPr>
        <p:spPr>
          <a:xfrm>
            <a:off x="658368" y="1545336"/>
            <a:ext cx="54864" cy="5487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7" name="Oval 6"/>
          <p:cNvSpPr/>
          <p:nvPr/>
        </p:nvSpPr>
        <p:spPr>
          <a:xfrm>
            <a:off x="1069847" y="1545336"/>
            <a:ext cx="54871" cy="5487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8" name="Oval 7"/>
          <p:cNvSpPr/>
          <p:nvPr/>
        </p:nvSpPr>
        <p:spPr>
          <a:xfrm>
            <a:off x="1481327" y="1545336"/>
            <a:ext cx="54871" cy="54871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9" name="TextBox 8"/>
          <p:cNvSpPr txBox="1"/>
          <p:nvPr/>
        </p:nvSpPr>
        <p:spPr>
          <a:xfrm>
            <a:off x="960119" y="2468877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580" name="TextBox 9"/>
          <p:cNvSpPr txBox="1"/>
          <p:nvPr/>
        </p:nvSpPr>
        <p:spPr>
          <a:xfrm>
            <a:off x="960119" y="3337559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總 commit 數（四個 repo 合計）</a:t>
            </a:r>
          </a:p>
        </p:txBody>
      </p:sp>
      <p:sp>
        <p:nvSpPr>
          <p:cNvPr id="581" name="Connector 10"/>
          <p:cNvSpPr/>
          <p:nvPr/>
        </p:nvSpPr>
        <p:spPr>
          <a:xfrm>
            <a:off x="4288351" y="2606038"/>
            <a:ext cx="4" cy="1325885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2" name="TextBox 11"/>
          <p:cNvSpPr txBox="1"/>
          <p:nvPr/>
        </p:nvSpPr>
        <p:spPr>
          <a:xfrm>
            <a:off x="4562672" y="2468877"/>
            <a:ext cx="305391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583" name="TextBox 12"/>
          <p:cNvSpPr txBox="1"/>
          <p:nvPr/>
        </p:nvSpPr>
        <p:spPr>
          <a:xfrm>
            <a:off x="4562672" y="3337559"/>
            <a:ext cx="3053918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 md 文件（四個 repo 合計）</a:t>
            </a:r>
          </a:p>
        </p:txBody>
      </p:sp>
      <p:sp>
        <p:nvSpPr>
          <p:cNvPr id="584" name="Connector 13"/>
          <p:cNvSpPr/>
          <p:nvPr/>
        </p:nvSpPr>
        <p:spPr>
          <a:xfrm>
            <a:off x="7890905" y="2606038"/>
            <a:ext cx="4" cy="1325885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5" name="TextBox 14"/>
          <p:cNvSpPr txBox="1"/>
          <p:nvPr/>
        </p:nvSpPr>
        <p:spPr>
          <a:xfrm>
            <a:off x="8165224" y="2468877"/>
            <a:ext cx="3053917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86" name="TextBox 15"/>
          <p:cNvSpPr txBox="1"/>
          <p:nvPr/>
        </p:nvSpPr>
        <p:spPr>
          <a:xfrm>
            <a:off x="8165224" y="3337559"/>
            <a:ext cx="3053917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個世代 / 階段</a:t>
            </a:r>
          </a:p>
        </p:txBody>
      </p:sp>
      <p:sp>
        <p:nvSpPr>
          <p:cNvPr id="587" name="TextBox 16"/>
          <p:cNvSpPr txBox="1"/>
          <p:nvPr/>
        </p:nvSpPr>
        <p:spPr>
          <a:xfrm>
            <a:off x="960119" y="4206240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588" name="TextBox 17"/>
          <p:cNvSpPr txBox="1"/>
          <p:nvPr/>
        </p:nvSpPr>
        <p:spPr>
          <a:xfrm>
            <a:off x="960119" y="5074920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個拆分給 AI 做的任務</a:t>
            </a:r>
          </a:p>
        </p:txBody>
      </p:sp>
      <p:sp>
        <p:nvSpPr>
          <p:cNvPr id="589" name="Connector 18"/>
          <p:cNvSpPr/>
          <p:nvPr/>
        </p:nvSpPr>
        <p:spPr>
          <a:xfrm>
            <a:off x="4288351" y="4343398"/>
            <a:ext cx="4" cy="1325885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0" name="TextBox 19"/>
          <p:cNvSpPr txBox="1"/>
          <p:nvPr/>
        </p:nvSpPr>
        <p:spPr>
          <a:xfrm>
            <a:off x="4562672" y="4206240"/>
            <a:ext cx="305391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91" name="TextBox 20"/>
          <p:cNvSpPr txBox="1"/>
          <p:nvPr/>
        </p:nvSpPr>
        <p:spPr>
          <a:xfrm>
            <a:off x="4562672" y="5074920"/>
            <a:ext cx="3053918" cy="464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份全域 Claude 設定（CLAUDE.md／hooks／settings.json）</a:t>
            </a:r>
          </a:p>
        </p:txBody>
      </p:sp>
      <p:sp>
        <p:nvSpPr>
          <p:cNvPr id="592" name="Connector 21"/>
          <p:cNvSpPr/>
          <p:nvPr/>
        </p:nvSpPr>
        <p:spPr>
          <a:xfrm>
            <a:off x="7890905" y="4343398"/>
            <a:ext cx="4" cy="1325885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3" name="TextBox 22"/>
          <p:cNvSpPr txBox="1"/>
          <p:nvPr/>
        </p:nvSpPr>
        <p:spPr>
          <a:xfrm>
            <a:off x="8165224" y="4206240"/>
            <a:ext cx="3053917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594" name="TextBox 23"/>
          <p:cNvSpPr txBox="1"/>
          <p:nvPr/>
        </p:nvSpPr>
        <p:spPr>
          <a:xfrm>
            <a:off x="8165224" y="5074920"/>
            <a:ext cx="3053917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份開發規則與 skill（guides／skills／指令）</a:t>
            </a:r>
          </a:p>
        </p:txBody>
      </p:sp>
      <p:sp>
        <p:nvSpPr>
          <p:cNvPr id="595" name="TextBox 572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241 個 commit，肝出來的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</a:t>
            </a:r>
          </a:p>
        </p:txBody>
      </p:sp>
      <p:sp>
        <p:nvSpPr>
          <p:cNvPr id="598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上線後又做了一輪：導覽重構＋首頁儀表板</a:t>
            </a:r>
          </a:p>
        </p:txBody>
      </p:sp>
      <p:sp>
        <p:nvSpPr>
          <p:cNvPr id="599" name="Connector 3"/>
          <p:cNvSpPr/>
          <p:nvPr/>
        </p:nvSpPr>
        <p:spPr>
          <a:xfrm>
            <a:off x="685795" y="1664205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00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1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2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3" name="Rectangle 7"/>
          <p:cNvSpPr/>
          <p:nvPr/>
        </p:nvSpPr>
        <p:spPr>
          <a:xfrm>
            <a:off x="685798" y="221284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4" name="TextBox 8"/>
          <p:cNvSpPr txBox="1"/>
          <p:nvPr/>
        </p:nvSpPr>
        <p:spPr>
          <a:xfrm>
            <a:off x="978405" y="212140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全站視覺改成白色簡約風格：卡片陰影全部換成細邊框，色彩與字體統一抽成 CSS token</a:t>
            </a:r>
          </a:p>
        </p:txBody>
      </p:sp>
      <p:sp>
        <p:nvSpPr>
          <p:cNvPr id="605" name="Rectangle 9"/>
          <p:cNvSpPr/>
          <p:nvPr/>
        </p:nvSpPr>
        <p:spPr>
          <a:xfrm>
            <a:off x="685798" y="2638679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6" name="TextBox 10"/>
          <p:cNvSpPr txBox="1"/>
          <p:nvPr/>
        </p:nvSpPr>
        <p:spPr>
          <a:xfrm>
            <a:off x="978405" y="2547239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看板、人員派工、WBS 檢視搬進側邊欄第二層，跟著目前所在專案走，不再跟內容區搶版面</a:t>
            </a:r>
          </a:p>
        </p:txBody>
      </p:sp>
      <p:sp>
        <p:nvSpPr>
          <p:cNvPr id="607" name="Rectangle 11"/>
          <p:cNvSpPr/>
          <p:nvPr/>
        </p:nvSpPr>
        <p:spPr>
          <a:xfrm>
            <a:off x="685798" y="3064510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8" name="TextBox 12"/>
          <p:cNvSpPr txBox="1"/>
          <p:nvPr/>
        </p:nvSpPr>
        <p:spPr>
          <a:xfrm>
            <a:off x="978405" y="2973070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 檢視補上「新增大項」，跟看板共用同一套選單挑選邏輯，不用重寫一份</a:t>
            </a:r>
          </a:p>
        </p:txBody>
      </p:sp>
      <p:sp>
        <p:nvSpPr>
          <p:cNvPr id="609" name="Rectangle 13"/>
          <p:cNvSpPr/>
          <p:nvPr/>
        </p:nvSpPr>
        <p:spPr>
          <a:xfrm>
            <a:off x="685798" y="3490340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10" name="TextBox 14"/>
          <p:cNvSpPr txBox="1"/>
          <p:nvPr/>
        </p:nvSpPr>
        <p:spPr>
          <a:xfrm>
            <a:off x="978405" y="3398899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首頁從單純的歡迎詞，改成依角色分三層的儀表板：操作人員看自己的專案跟任務、科長看本科總覽、主任看跨科總覽</a:t>
            </a:r>
          </a:p>
        </p:txBody>
      </p:sp>
      <p:sp>
        <p:nvSpPr>
          <p:cNvPr id="611" name="TextBox 587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上線後居然還沒放過自己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 · 畫面</a:t>
            </a:r>
          </a:p>
        </p:txBody>
      </p:sp>
      <p:sp>
        <p:nvSpPr>
          <p:cNvPr id="614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側邊欄導覽 × WBS 新增大項</a:t>
            </a:r>
          </a:p>
        </p:txBody>
      </p:sp>
      <p:sp>
        <p:nvSpPr>
          <p:cNvPr id="615" name="Connector 3"/>
          <p:cNvSpPr/>
          <p:nvPr/>
        </p:nvSpPr>
        <p:spPr>
          <a:xfrm>
            <a:off x="685795" y="1572766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16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17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18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19" name="Rectangle 7"/>
          <p:cNvSpPr/>
          <p:nvPr/>
        </p:nvSpPr>
        <p:spPr>
          <a:xfrm>
            <a:off x="630936" y="1975103"/>
            <a:ext cx="5330677" cy="2756103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620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48" cy="2646373"/>
          </a:xfrm>
          <a:prstGeom prst="rect">
            <a:avLst/>
          </a:prstGeom>
          <a:ln w="12700">
            <a:miter lim="400000"/>
          </a:ln>
        </p:spPr>
      </p:pic>
      <p:sp>
        <p:nvSpPr>
          <p:cNvPr id="621" name="Rectangle 9"/>
          <p:cNvSpPr/>
          <p:nvPr/>
        </p:nvSpPr>
        <p:spPr>
          <a:xfrm>
            <a:off x="630934" y="1975103"/>
            <a:ext cx="310904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2" name="Rectangle 10"/>
          <p:cNvSpPr/>
          <p:nvPr/>
        </p:nvSpPr>
        <p:spPr>
          <a:xfrm>
            <a:off x="630936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625" name="Rounded Rectangle 11"/>
          <p:cNvGrpSpPr/>
          <p:nvPr/>
        </p:nvGrpSpPr>
        <p:grpSpPr>
          <a:xfrm>
            <a:off x="685800" y="4840922"/>
            <a:ext cx="1682502" cy="310912"/>
            <a:chOff x="0" y="0"/>
            <a:chExt cx="1682501" cy="310910"/>
          </a:xfrm>
        </p:grpSpPr>
        <p:sp>
          <p:nvSpPr>
            <p:cNvPr id="623" name="圓角矩形"/>
            <p:cNvSpPr/>
            <p:nvPr/>
          </p:nvSpPr>
          <p:spPr>
            <a:xfrm>
              <a:off x="0" y="-1"/>
              <a:ext cx="1682502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624" name="看板＋側邊欄導覽"/>
            <p:cNvSpPr txBox="1"/>
            <p:nvPr/>
          </p:nvSpPr>
          <p:spPr>
            <a:xfrm>
              <a:off x="225297" y="47498"/>
              <a:ext cx="12319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看板＋側邊欄導覽</a:t>
              </a:r>
            </a:p>
          </p:txBody>
        </p:sp>
      </p:grpSp>
      <p:sp>
        <p:nvSpPr>
          <p:cNvPr id="626" name="Rectangle 12"/>
          <p:cNvSpPr/>
          <p:nvPr/>
        </p:nvSpPr>
        <p:spPr>
          <a:xfrm>
            <a:off x="6217644" y="1975103"/>
            <a:ext cx="5330681" cy="2756103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627" name="Picture 13" descr="Picture 1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7" y="2029966"/>
            <a:ext cx="5220950" cy="2646373"/>
          </a:xfrm>
          <a:prstGeom prst="rect">
            <a:avLst/>
          </a:prstGeom>
          <a:ln w="12700">
            <a:miter lim="400000"/>
          </a:ln>
        </p:spPr>
      </p:pic>
      <p:sp>
        <p:nvSpPr>
          <p:cNvPr id="628" name="Rectangle 14"/>
          <p:cNvSpPr/>
          <p:nvPr/>
        </p:nvSpPr>
        <p:spPr>
          <a:xfrm>
            <a:off x="6217644" y="1975103"/>
            <a:ext cx="31090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29" name="Rectangle 15"/>
          <p:cNvSpPr/>
          <p:nvPr/>
        </p:nvSpPr>
        <p:spPr>
          <a:xfrm>
            <a:off x="6217644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632" name="Rounded Rectangle 16"/>
          <p:cNvGrpSpPr/>
          <p:nvPr/>
        </p:nvGrpSpPr>
        <p:grpSpPr>
          <a:xfrm>
            <a:off x="6272499" y="4840922"/>
            <a:ext cx="2176287" cy="310912"/>
            <a:chOff x="0" y="0"/>
            <a:chExt cx="2176285" cy="310910"/>
          </a:xfrm>
        </p:grpSpPr>
        <p:sp>
          <p:nvSpPr>
            <p:cNvPr id="630" name="圓角矩形"/>
            <p:cNvSpPr/>
            <p:nvPr/>
          </p:nvSpPr>
          <p:spPr>
            <a:xfrm>
              <a:off x="-1" y="-1"/>
              <a:ext cx="2176286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631" name="WBS 檢視＋新增大項"/>
            <p:cNvSpPr txBox="1"/>
            <p:nvPr/>
          </p:nvSpPr>
          <p:spPr>
            <a:xfrm>
              <a:off x="364880" y="47498"/>
              <a:ext cx="144651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檢視＋新增大項</a:t>
              </a:r>
            </a:p>
          </p:txBody>
        </p:sp>
      </p:grpSp>
      <p:sp>
        <p:nvSpPr>
          <p:cNvPr id="633" name="TextBox 608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又是我，又在畫圖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近期優化 · 首頁</a:t>
            </a:r>
          </a:p>
        </p:txBody>
      </p:sp>
      <p:sp>
        <p:nvSpPr>
          <p:cNvPr id="636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首頁儀表板：依角色分三層</a:t>
            </a:r>
          </a:p>
        </p:txBody>
      </p:sp>
      <p:sp>
        <p:nvSpPr>
          <p:cNvPr id="637" name="Connector 3"/>
          <p:cNvSpPr/>
          <p:nvPr/>
        </p:nvSpPr>
        <p:spPr>
          <a:xfrm>
            <a:off x="685795" y="1572766"/>
            <a:ext cx="822968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8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39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40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41" name="Rectangle 7"/>
          <p:cNvSpPr/>
          <p:nvPr/>
        </p:nvSpPr>
        <p:spPr>
          <a:xfrm>
            <a:off x="2156176" y="1975103"/>
            <a:ext cx="7866906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642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11040" y="2029966"/>
            <a:ext cx="7757178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643" name="Rectangle 9"/>
          <p:cNvSpPr/>
          <p:nvPr/>
        </p:nvSpPr>
        <p:spPr>
          <a:xfrm>
            <a:off x="2156174" y="1975103"/>
            <a:ext cx="310903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44" name="Rectangle 10"/>
          <p:cNvSpPr/>
          <p:nvPr/>
        </p:nvSpPr>
        <p:spPr>
          <a:xfrm>
            <a:off x="2156174" y="1975103"/>
            <a:ext cx="54870" cy="310903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647" name="Rounded Rectangle 11"/>
          <p:cNvGrpSpPr/>
          <p:nvPr/>
        </p:nvGrpSpPr>
        <p:grpSpPr>
          <a:xfrm>
            <a:off x="2211033" y="6126473"/>
            <a:ext cx="5468127" cy="310912"/>
            <a:chOff x="0" y="0"/>
            <a:chExt cx="5468125" cy="310910"/>
          </a:xfrm>
        </p:grpSpPr>
        <p:sp>
          <p:nvSpPr>
            <p:cNvPr id="645" name="圓角矩形"/>
            <p:cNvSpPr/>
            <p:nvPr/>
          </p:nvSpPr>
          <p:spPr>
            <a:xfrm>
              <a:off x="-1" y="-1"/>
              <a:ext cx="5468127" cy="310911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646" name="leader 個人視角：進行中的專案＋指派給我的任務，逾期標紅"/>
            <p:cNvSpPr txBox="1"/>
            <p:nvPr/>
          </p:nvSpPr>
          <p:spPr>
            <a:xfrm>
              <a:off x="577773" y="47498"/>
              <a:ext cx="4312569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leader 個人視角：進行中的專案＋指派給我的任務，逾期標紅</a:t>
              </a:r>
            </a:p>
          </p:txBody>
        </p:sp>
      </p:grpSp>
      <p:sp>
        <p:nvSpPr>
          <p:cNvPr id="648" name="TextBox 622"/>
          <p:cNvSpPr txBox="1"/>
          <p:nvPr/>
        </p:nvSpPr>
        <p:spPr>
          <a:xfrm>
            <a:off x="6675119" y="6537959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主任表示：終於看得到全貌了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1" name="Connector 2"/>
          <p:cNvSpPr/>
          <p:nvPr/>
        </p:nvSpPr>
        <p:spPr>
          <a:xfrm>
            <a:off x="685800" y="685800"/>
            <a:ext cx="2011680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52" name="Oval 3"/>
          <p:cNvSpPr/>
          <p:nvPr/>
        </p:nvSpPr>
        <p:spPr>
          <a:xfrm>
            <a:off x="658368" y="658368"/>
            <a:ext cx="54864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3" name="Oval 4"/>
          <p:cNvSpPr/>
          <p:nvPr/>
        </p:nvSpPr>
        <p:spPr>
          <a:xfrm>
            <a:off x="1664205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4" name="Oval 5"/>
          <p:cNvSpPr/>
          <p:nvPr/>
        </p:nvSpPr>
        <p:spPr>
          <a:xfrm>
            <a:off x="2670048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5" name="TextBox 6"/>
          <p:cNvSpPr txBox="1"/>
          <p:nvPr/>
        </p:nvSpPr>
        <p:spPr>
          <a:xfrm>
            <a:off x="685800" y="9601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656" name="TextBox 7"/>
          <p:cNvSpPr txBox="1"/>
          <p:nvPr/>
        </p:nvSpPr>
        <p:spPr>
          <a:xfrm>
            <a:off x="685800" y="1325877"/>
            <a:ext cx="10807659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657" name="Rectangle 8"/>
          <p:cNvSpPr/>
          <p:nvPr/>
        </p:nvSpPr>
        <p:spPr>
          <a:xfrm>
            <a:off x="685798" y="2706622"/>
            <a:ext cx="100592" cy="100586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8" name="TextBox 9"/>
          <p:cNvSpPr txBox="1"/>
          <p:nvPr/>
        </p:nvSpPr>
        <p:spPr>
          <a:xfrm>
            <a:off x="978405" y="260603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AI 省下的是打字跟查資料的時間；要做什麼、方向對不對，還是得自己判斷</a:t>
            </a:r>
          </a:p>
        </p:txBody>
      </p:sp>
      <p:sp>
        <p:nvSpPr>
          <p:cNvPr id="659" name="Rectangle 10"/>
          <p:cNvSpPr/>
          <p:nvPr/>
        </p:nvSpPr>
        <p:spPr>
          <a:xfrm>
            <a:off x="685798" y="3218688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0" name="TextBox 11"/>
          <p:cNvSpPr txBox="1"/>
          <p:nvPr/>
        </p:nvSpPr>
        <p:spPr>
          <a:xfrm>
            <a:off x="978405" y="3118104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一個人開發最怕沒人幫忙看，讓另一個 AI 來挑毛病，剛好補上這塊</a:t>
            </a:r>
          </a:p>
        </p:txBody>
      </p:sp>
      <p:sp>
        <p:nvSpPr>
          <p:cNvPr id="661" name="Rectangle 12"/>
          <p:cNvSpPr/>
          <p:nvPr/>
        </p:nvSpPr>
        <p:spPr>
          <a:xfrm>
            <a:off x="685798" y="3730752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2" name="TextBox 13"/>
          <p:cNvSpPr txBox="1"/>
          <p:nvPr/>
        </p:nvSpPr>
        <p:spPr>
          <a:xfrm>
            <a:off x="978405" y="3630167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最花時間的不是寫程式，是把需求想清楚——這件事 AI 幫不上忙</a:t>
            </a:r>
          </a:p>
        </p:txBody>
      </p:sp>
      <p:sp>
        <p:nvSpPr>
          <p:cNvPr id="663" name="Rectangle 14"/>
          <p:cNvSpPr/>
          <p:nvPr/>
        </p:nvSpPr>
        <p:spPr>
          <a:xfrm>
            <a:off x="685798" y="4242815"/>
            <a:ext cx="100592" cy="10059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64" name="TextBox 15"/>
          <p:cNvSpPr txBox="1"/>
          <p:nvPr/>
        </p:nvSpPr>
        <p:spPr>
          <a:xfrm>
            <a:off x="978405" y="414223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兩個月做了四個世代，走的冤枉路比想像多，但每次砍掉重來都比硬撐下去快</a:t>
            </a:r>
          </a:p>
        </p:txBody>
      </p:sp>
      <p:sp>
        <p:nvSpPr>
          <p:cNvPr id="665" name="Connector 16"/>
          <p:cNvSpPr/>
          <p:nvPr/>
        </p:nvSpPr>
        <p:spPr>
          <a:xfrm>
            <a:off x="685795" y="4791454"/>
            <a:ext cx="4983492" cy="7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6" name="TextBox 17"/>
          <p:cNvSpPr txBox="1"/>
          <p:nvPr/>
        </p:nvSpPr>
        <p:spPr>
          <a:xfrm>
            <a:off x="685800" y="4974335"/>
            <a:ext cx="1080765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謝謝聆聽 · Q &amp; A</a:t>
            </a:r>
          </a:p>
        </p:txBody>
      </p:sp>
      <p:sp>
        <p:nvSpPr>
          <p:cNvPr id="667" name="TextBox 640"/>
          <p:cNvSpPr txBox="1"/>
          <p:nvPr/>
        </p:nvSpPr>
        <p:spPr>
          <a:xfrm>
            <a:off x="6675119" y="6428232"/>
            <a:ext cx="480060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1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»  沒了嗎？可以休息啦！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