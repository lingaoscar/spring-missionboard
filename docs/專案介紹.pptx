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12" name="內文層級一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21" name="內文層級一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2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大標題文字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大標題文字</a:t>
            </a:r>
          </a:p>
        </p:txBody>
      </p:sp>
      <p:sp>
        <p:nvSpPr>
          <p:cNvPr id="30" name="內文層級一…"/>
          <p:cNvSpPr txBox="1"/>
          <p:nvPr>
            <p:ph type="body" sz="quarter" idx="1"/>
          </p:nvPr>
        </p:nvSpPr>
        <p:spPr>
          <a:xfrm>
            <a:off x="722312" y="2906713"/>
            <a:ext cx="7772401" cy="150020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39" name="內文層級一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48" name="內文層級一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8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58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大標題文字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大標題文字</a:t>
            </a:r>
          </a:p>
        </p:txBody>
      </p:sp>
      <p:sp>
        <p:nvSpPr>
          <p:cNvPr id="73" name="內文層級一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大標題文字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大標題文字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內文層級一…"/>
          <p:cNvSpPr txBox="1"/>
          <p:nvPr>
            <p:ph type="body" sz="quarter" idx="1"/>
          </p:nvPr>
        </p:nvSpPr>
        <p:spPr>
          <a:xfrm>
            <a:off x="1792288" y="5367337"/>
            <a:ext cx="5486404" cy="80487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大標題文字</a:t>
            </a:r>
          </a:p>
        </p:txBody>
      </p:sp>
      <p:sp>
        <p:nvSpPr>
          <p:cNvPr id="3" name="內文層級一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Connector 2"/>
          <p:cNvSpPr/>
          <p:nvPr/>
        </p:nvSpPr>
        <p:spPr>
          <a:xfrm>
            <a:off x="685799" y="914400"/>
            <a:ext cx="2377442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" name="Oval 3"/>
          <p:cNvSpPr/>
          <p:nvPr/>
        </p:nvSpPr>
        <p:spPr>
          <a:xfrm>
            <a:off x="658368" y="886966"/>
            <a:ext cx="54864" cy="54867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Oval 4"/>
          <p:cNvSpPr/>
          <p:nvPr/>
        </p:nvSpPr>
        <p:spPr>
          <a:xfrm>
            <a:off x="1450847" y="886966"/>
            <a:ext cx="54867" cy="54867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2243327" y="886966"/>
            <a:ext cx="54867" cy="54867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3035806" y="886966"/>
            <a:ext cx="54867" cy="54867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7"/>
          <p:cNvSpPr txBox="1"/>
          <p:nvPr/>
        </p:nvSpPr>
        <p:spPr>
          <a:xfrm>
            <a:off x="685798" y="1280160"/>
            <a:ext cx="10607044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SPRING-MISSIONBOARD  ·  技術回顧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685798" y="1828800"/>
            <a:ext cx="10607044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8000"/>
              </a:lnSpc>
              <a:defRPr sz="46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時間都去哪了？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685798" y="3063239"/>
            <a:ext cx="1060704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F5A524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從 HTML 到 SaaS 雜談</a:t>
            </a:r>
          </a:p>
        </p:txBody>
      </p:sp>
      <p:sp>
        <p:nvSpPr>
          <p:cNvPr id="103" name="Connector 10"/>
          <p:cNvSpPr/>
          <p:nvPr/>
        </p:nvSpPr>
        <p:spPr>
          <a:xfrm>
            <a:off x="685799" y="4663440"/>
            <a:ext cx="4983483" cy="2"/>
          </a:xfrm>
          <a:prstGeom prst="line">
            <a:avLst/>
          </a:prstGeom>
          <a:ln w="1270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TextBox 11"/>
          <p:cNvSpPr txBox="1"/>
          <p:nvPr/>
        </p:nvSpPr>
        <p:spPr>
          <a:xfrm>
            <a:off x="685800" y="4846320"/>
            <a:ext cx="82296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7DE3F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2026-06-08 → 2026-08-10   ·   Spring-MissionBoard 及其前身專案</a:t>
            </a:r>
          </a:p>
        </p:txBody>
      </p:sp>
      <p:grpSp>
        <p:nvGrpSpPr>
          <p:cNvPr id="107" name="Rounded Rectangle 12"/>
          <p:cNvGrpSpPr/>
          <p:nvPr/>
        </p:nvGrpSpPr>
        <p:grpSpPr>
          <a:xfrm>
            <a:off x="685799" y="6126479"/>
            <a:ext cx="2999236" cy="310899"/>
            <a:chOff x="0" y="0"/>
            <a:chExt cx="2999234" cy="310898"/>
          </a:xfrm>
        </p:grpSpPr>
        <p:sp>
          <p:nvSpPr>
            <p:cNvPr id="105" name="圓角矩形"/>
            <p:cNvSpPr/>
            <p:nvPr/>
          </p:nvSpPr>
          <p:spPr>
            <a:xfrm>
              <a:off x="-1" y="0"/>
              <a:ext cx="2999236" cy="31089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6" name="personal project"/>
            <p:cNvSpPr txBox="1"/>
            <p:nvPr/>
          </p:nvSpPr>
          <p:spPr>
            <a:xfrm>
              <a:off x="820414" y="72898"/>
              <a:ext cx="1358405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22D3EE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personal project</a:t>
              </a:r>
            </a:p>
          </p:txBody>
        </p:sp>
      </p:grpSp>
      <p:sp>
        <p:nvSpPr>
          <p:cNvPr id="108" name="Rectangle 107"/>
          <p:cNvSpPr/>
          <p:nvPr/>
        </p:nvSpPr>
        <p:spPr>
          <a:xfrm>
            <a:off x="8778240" y="1371599"/>
            <a:ext cx="2194561" cy="91442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Rectangle 108"/>
          <p:cNvSpPr/>
          <p:nvPr/>
        </p:nvSpPr>
        <p:spPr>
          <a:xfrm>
            <a:off x="8778240" y="4846320"/>
            <a:ext cx="2194561" cy="91441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Isosceles Triangle 109"/>
          <p:cNvSpPr/>
          <p:nvPr/>
        </p:nvSpPr>
        <p:spPr>
          <a:xfrm rot="10800000">
            <a:off x="8961119" y="1463039"/>
            <a:ext cx="1828801" cy="1691641"/>
          </a:xfrm>
          <a:prstGeom prst="triangle">
            <a:avLst/>
          </a:prstGeom>
          <a:ln w="28575">
            <a:solidFill>
              <a:srgbClr val="22D3EE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Isosceles Triangle 110"/>
          <p:cNvSpPr/>
          <p:nvPr/>
        </p:nvSpPr>
        <p:spPr>
          <a:xfrm>
            <a:off x="8961119" y="3154679"/>
            <a:ext cx="1828801" cy="1691642"/>
          </a:xfrm>
          <a:prstGeom prst="triangle">
            <a:avLst/>
          </a:prstGeom>
          <a:ln w="28575">
            <a:solidFill>
              <a:srgbClr val="22D3EE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11"/>
          <p:cNvSpPr/>
          <p:nvPr/>
        </p:nvSpPr>
        <p:spPr>
          <a:xfrm>
            <a:off x="9464040" y="4462271"/>
            <a:ext cx="822961" cy="384049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112"/>
          <p:cNvSpPr/>
          <p:nvPr/>
        </p:nvSpPr>
        <p:spPr>
          <a:xfrm>
            <a:off x="9674352" y="2971799"/>
            <a:ext cx="402337" cy="146306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113"/>
          <p:cNvSpPr/>
          <p:nvPr/>
        </p:nvSpPr>
        <p:spPr>
          <a:xfrm>
            <a:off x="9861804" y="3099816"/>
            <a:ext cx="27433" cy="109729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Connector 114"/>
          <p:cNvSpPr/>
          <p:nvPr/>
        </p:nvSpPr>
        <p:spPr>
          <a:xfrm>
            <a:off x="8503919" y="5486400"/>
            <a:ext cx="822961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" name="Oval 115"/>
          <p:cNvSpPr/>
          <p:nvPr/>
        </p:nvSpPr>
        <p:spPr>
          <a:xfrm>
            <a:off x="8476488" y="5458967"/>
            <a:ext cx="54865" cy="5486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116"/>
          <p:cNvSpPr/>
          <p:nvPr/>
        </p:nvSpPr>
        <p:spPr>
          <a:xfrm>
            <a:off x="8887968" y="5458967"/>
            <a:ext cx="54865" cy="5486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117"/>
          <p:cNvSpPr/>
          <p:nvPr/>
        </p:nvSpPr>
        <p:spPr>
          <a:xfrm>
            <a:off x="9299447" y="5458967"/>
            <a:ext cx="54865" cy="5486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 txBox="1"/>
          <p:nvPr/>
        </p:nvSpPr>
        <p:spPr>
          <a:xfrm>
            <a:off x="685800" y="640080"/>
            <a:ext cx="1080765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DISCLAIMER</a:t>
            </a:r>
          </a:p>
        </p:txBody>
      </p:sp>
      <p:sp>
        <p:nvSpPr>
          <p:cNvPr id="121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這份簡報的所有內容，都是我個人興趣開發</a:t>
            </a:r>
          </a:p>
        </p:txBody>
      </p:sp>
      <p:sp>
        <p:nvSpPr>
          <p:cNvPr id="122" name="Connector 3"/>
          <p:cNvSpPr/>
          <p:nvPr/>
        </p:nvSpPr>
        <p:spPr>
          <a:xfrm>
            <a:off x="685796" y="166420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" name="Oval 4"/>
          <p:cNvSpPr/>
          <p:nvPr/>
        </p:nvSpPr>
        <p:spPr>
          <a:xfrm>
            <a:off x="658368" y="163677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5"/>
          <p:cNvSpPr/>
          <p:nvPr/>
        </p:nvSpPr>
        <p:spPr>
          <a:xfrm>
            <a:off x="106984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6"/>
          <p:cNvSpPr/>
          <p:nvPr/>
        </p:nvSpPr>
        <p:spPr>
          <a:xfrm>
            <a:off x="148132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7"/>
          <p:cNvSpPr/>
          <p:nvPr/>
        </p:nvSpPr>
        <p:spPr>
          <a:xfrm>
            <a:off x="685800" y="2121405"/>
            <a:ext cx="310896" cy="310907"/>
          </a:xfrm>
          <a:prstGeom prst="ellipse">
            <a:avLst/>
          </a:prstGeom>
          <a:solidFill>
            <a:srgbClr val="1B2A6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8"/>
          <p:cNvSpPr txBox="1"/>
          <p:nvPr/>
        </p:nvSpPr>
        <p:spPr>
          <a:xfrm>
            <a:off x="685800" y="2175255"/>
            <a:ext cx="3108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8" name="TextBox 9"/>
          <p:cNvSpPr txBox="1"/>
          <p:nvPr/>
        </p:nvSpPr>
        <p:spPr>
          <a:xfrm>
            <a:off x="1188719" y="2130549"/>
            <a:ext cx="1030474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以下介紹之專案（WbsScaff、Spring-WbsScaff、Spring-TaskFlow、Spring-MissionBoard），均為個人興趣開發，非公司指派或授權之專案</a:t>
            </a:r>
          </a:p>
        </p:txBody>
      </p:sp>
      <p:sp>
        <p:nvSpPr>
          <p:cNvPr id="129" name="Oval 10"/>
          <p:cNvSpPr/>
          <p:nvPr/>
        </p:nvSpPr>
        <p:spPr>
          <a:xfrm>
            <a:off x="685800" y="2834638"/>
            <a:ext cx="310896" cy="310907"/>
          </a:xfrm>
          <a:prstGeom prst="ellipse">
            <a:avLst/>
          </a:prstGeom>
          <a:solidFill>
            <a:srgbClr val="1B2A6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11"/>
          <p:cNvSpPr txBox="1"/>
          <p:nvPr/>
        </p:nvSpPr>
        <p:spPr>
          <a:xfrm>
            <a:off x="685800" y="2888487"/>
            <a:ext cx="3108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1" name="TextBox 12"/>
          <p:cNvSpPr txBox="1"/>
          <p:nvPr/>
        </p:nvSpPr>
        <p:spPr>
          <a:xfrm>
            <a:off x="1188719" y="2843783"/>
            <a:ext cx="103047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使用之時間與設備均屬個人所有，與現職工作內容無關，亦不代表任何官方立場或部門決策</a:t>
            </a:r>
          </a:p>
        </p:txBody>
      </p:sp>
      <p:sp>
        <p:nvSpPr>
          <p:cNvPr id="132" name="Oval 13"/>
          <p:cNvSpPr/>
          <p:nvPr/>
        </p:nvSpPr>
        <p:spPr>
          <a:xfrm>
            <a:off x="685800" y="3547871"/>
            <a:ext cx="310896" cy="310907"/>
          </a:xfrm>
          <a:prstGeom prst="ellipse">
            <a:avLst/>
          </a:prstGeom>
          <a:solidFill>
            <a:srgbClr val="1B2A6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14"/>
          <p:cNvSpPr txBox="1"/>
          <p:nvPr/>
        </p:nvSpPr>
        <p:spPr>
          <a:xfrm>
            <a:off x="685800" y="3601718"/>
            <a:ext cx="3108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4" name="TextBox 15"/>
          <p:cNvSpPr txBox="1"/>
          <p:nvPr/>
        </p:nvSpPr>
        <p:spPr>
          <a:xfrm>
            <a:off x="1188719" y="3557015"/>
            <a:ext cx="103047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目前均為個人技術驗證，未經正式上線審查，畫面所示資安、權限設計均為模擬情境，非真實系統</a:t>
            </a:r>
          </a:p>
        </p:txBody>
      </p:sp>
      <p:sp>
        <p:nvSpPr>
          <p:cNvPr id="135" name="Oval 16"/>
          <p:cNvSpPr/>
          <p:nvPr/>
        </p:nvSpPr>
        <p:spPr>
          <a:xfrm>
            <a:off x="685800" y="4261103"/>
            <a:ext cx="310896" cy="310907"/>
          </a:xfrm>
          <a:prstGeom prst="ellipse">
            <a:avLst/>
          </a:prstGeom>
          <a:solidFill>
            <a:srgbClr val="1B2A6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17"/>
          <p:cNvSpPr txBox="1"/>
          <p:nvPr/>
        </p:nvSpPr>
        <p:spPr>
          <a:xfrm>
            <a:off x="685800" y="4314950"/>
            <a:ext cx="3108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7" name="TextBox 18"/>
          <p:cNvSpPr txBox="1"/>
          <p:nvPr/>
        </p:nvSpPr>
        <p:spPr>
          <a:xfrm>
            <a:off x="1188719" y="4270247"/>
            <a:ext cx="103047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本次僅為開發心得分享交流，非提案亦非報告</a:t>
            </a:r>
          </a:p>
        </p:txBody>
      </p:sp>
      <p:sp>
        <p:nvSpPr>
          <p:cNvPr id="138" name="Oval 19"/>
          <p:cNvSpPr/>
          <p:nvPr/>
        </p:nvSpPr>
        <p:spPr>
          <a:xfrm>
            <a:off x="685800" y="4974335"/>
            <a:ext cx="310896" cy="310907"/>
          </a:xfrm>
          <a:prstGeom prst="ellipse">
            <a:avLst/>
          </a:prstGeom>
          <a:solidFill>
            <a:srgbClr val="1B2A6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0"/>
          <p:cNvSpPr txBox="1"/>
          <p:nvPr/>
        </p:nvSpPr>
        <p:spPr>
          <a:xfrm>
            <a:off x="685800" y="5028183"/>
            <a:ext cx="3108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0" name="TextBox 21"/>
          <p:cNvSpPr txBox="1"/>
          <p:nvPr/>
        </p:nvSpPr>
        <p:spPr>
          <a:xfrm>
            <a:off x="1188719" y="4983479"/>
            <a:ext cx="103047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若因本簡報內容引發贊助衝動，歡迎抖內支持一位假日還在寫 code 的 AP 工程師</a:t>
            </a:r>
          </a:p>
        </p:txBody>
      </p:sp>
      <p:sp>
        <p:nvSpPr>
          <p:cNvPr id="141" name="Hexagon 129"/>
          <p:cNvSpPr/>
          <p:nvPr/>
        </p:nvSpPr>
        <p:spPr>
          <a:xfrm>
            <a:off x="9052559" y="5486400"/>
            <a:ext cx="1188721" cy="1188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ln w="22225">
            <a:solidFill>
              <a:srgbClr val="22D3EE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Moon 130"/>
          <p:cNvSpPr/>
          <p:nvPr/>
        </p:nvSpPr>
        <p:spPr>
          <a:xfrm>
            <a:off x="9395459" y="5801866"/>
            <a:ext cx="502920" cy="5029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16765"/>
                  <a:pt x="0" y="10800"/>
                </a:cubicBezTo>
                <a:cubicBezTo>
                  <a:pt x="0" y="4835"/>
                  <a:pt x="9671" y="0"/>
                  <a:pt x="21600" y="0"/>
                </a:cubicBezTo>
                <a:lnTo>
                  <a:pt x="21600" y="0"/>
                </a:lnTo>
                <a:cubicBezTo>
                  <a:pt x="9671" y="4473"/>
                  <a:pt x="7253" y="12935"/>
                  <a:pt x="16200" y="18900"/>
                </a:cubicBezTo>
                <a:cubicBezTo>
                  <a:pt x="17735" y="19923"/>
                  <a:pt x="19553" y="20832"/>
                  <a:pt x="21600" y="21600"/>
                </a:cubicBezTo>
                <a:close/>
              </a:path>
            </a:pathLst>
          </a:cu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Connector 131"/>
          <p:cNvSpPr/>
          <p:nvPr/>
        </p:nvSpPr>
        <p:spPr>
          <a:xfrm>
            <a:off x="9006840" y="6812280"/>
            <a:ext cx="1280161" cy="1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" name="Oval 132"/>
          <p:cNvSpPr/>
          <p:nvPr/>
        </p:nvSpPr>
        <p:spPr>
          <a:xfrm>
            <a:off x="8979407" y="6784847"/>
            <a:ext cx="54865" cy="5486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Oval 133"/>
          <p:cNvSpPr/>
          <p:nvPr/>
        </p:nvSpPr>
        <p:spPr>
          <a:xfrm>
            <a:off x="10259568" y="6784847"/>
            <a:ext cx="54865" cy="5486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48" name="Rounded Rectangle 134"/>
          <p:cNvGrpSpPr/>
          <p:nvPr/>
        </p:nvGrpSpPr>
        <p:grpSpPr>
          <a:xfrm>
            <a:off x="8549640" y="6995159"/>
            <a:ext cx="2194561" cy="310897"/>
            <a:chOff x="0" y="0"/>
            <a:chExt cx="2194560" cy="310895"/>
          </a:xfrm>
        </p:grpSpPr>
        <p:sp>
          <p:nvSpPr>
            <p:cNvPr id="146" name="圓角矩形"/>
            <p:cNvSpPr/>
            <p:nvPr/>
          </p:nvSpPr>
          <p:spPr>
            <a:xfrm>
              <a:off x="0" y="0"/>
              <a:ext cx="2194561" cy="310896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OFF DUTY · PERSONAL"/>
            <p:cNvSpPr txBox="1"/>
            <p:nvPr/>
          </p:nvSpPr>
          <p:spPr>
            <a:xfrm>
              <a:off x="364555" y="85598"/>
              <a:ext cx="14654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OFF DUTY · PERSONAL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起點</a:t>
            </a:r>
          </a:p>
        </p:txBody>
      </p:sp>
      <p:sp>
        <p:nvSpPr>
          <p:cNvPr id="151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一切的起點：會議都在等文件</a:t>
            </a:r>
          </a:p>
        </p:txBody>
      </p:sp>
      <p:sp>
        <p:nvSpPr>
          <p:cNvPr id="152" name="Connector 3"/>
          <p:cNvSpPr/>
          <p:nvPr/>
        </p:nvSpPr>
        <p:spPr>
          <a:xfrm>
            <a:off x="685798" y="1664206"/>
            <a:ext cx="822962" cy="2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" name="Oval 4"/>
          <p:cNvSpPr/>
          <p:nvPr/>
        </p:nvSpPr>
        <p:spPr>
          <a:xfrm>
            <a:off x="658368" y="1636776"/>
            <a:ext cx="54864" cy="54867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Oval 5"/>
          <p:cNvSpPr/>
          <p:nvPr/>
        </p:nvSpPr>
        <p:spPr>
          <a:xfrm>
            <a:off x="1069847" y="1636776"/>
            <a:ext cx="54867" cy="54867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Oval 6"/>
          <p:cNvSpPr/>
          <p:nvPr/>
        </p:nvSpPr>
        <p:spPr>
          <a:xfrm>
            <a:off x="1481327" y="1636776"/>
            <a:ext cx="54867" cy="54867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Rectangle 7"/>
          <p:cNvSpPr/>
          <p:nvPr/>
        </p:nvSpPr>
        <p:spPr>
          <a:xfrm>
            <a:off x="685798" y="2212848"/>
            <a:ext cx="100587" cy="100586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8"/>
          <p:cNvSpPr txBox="1"/>
          <p:nvPr/>
        </p:nvSpPr>
        <p:spPr>
          <a:xfrm>
            <a:off x="978406" y="2121406"/>
            <a:ext cx="1051505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身為一個 AP，開發本身不是最花時間的，最花時間的是每次開會都要重新對一次文件，格式不對齊、資訊分散</a:t>
            </a:r>
          </a:p>
        </p:txBody>
      </p:sp>
      <p:sp>
        <p:nvSpPr>
          <p:cNvPr id="158" name="Rectangle 9"/>
          <p:cNvSpPr/>
          <p:nvPr/>
        </p:nvSpPr>
        <p:spPr>
          <a:xfrm>
            <a:off x="685798" y="2638679"/>
            <a:ext cx="100587" cy="100586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10"/>
          <p:cNvSpPr txBox="1"/>
          <p:nvPr/>
        </p:nvSpPr>
        <p:spPr>
          <a:xfrm>
            <a:off x="978406" y="2547239"/>
            <a:ext cx="10515055" cy="581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換算一下：每週簡報，一人約 2MB，500 人一週約 1,000MB；一年 52 週下來，約 52,000MB（≈52GB）在四處流通、重複對稿</a:t>
            </a:r>
          </a:p>
        </p:txBody>
      </p:sp>
      <p:sp>
        <p:nvSpPr>
          <p:cNvPr id="160" name="Rectangle 11"/>
          <p:cNvSpPr/>
          <p:nvPr/>
        </p:nvSpPr>
        <p:spPr>
          <a:xfrm>
            <a:off x="685798" y="3344035"/>
            <a:ext cx="100587" cy="100586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12"/>
          <p:cNvSpPr txBox="1"/>
          <p:nvPr/>
        </p:nvSpPr>
        <p:spPr>
          <a:xfrm>
            <a:off x="978406" y="3252596"/>
            <a:ext cx="1051505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其實心裡一直有個嚮往：想親手做出一套真正跑在雲端、大家連上去就能一起用的 SaaS 系統，不只是寫寫離線小工具</a:t>
            </a:r>
          </a:p>
        </p:txBody>
      </p:sp>
      <p:sp>
        <p:nvSpPr>
          <p:cNvPr id="162" name="Rectangle 13"/>
          <p:cNvSpPr/>
          <p:nvPr/>
        </p:nvSpPr>
        <p:spPr>
          <a:xfrm>
            <a:off x="685798" y="4049393"/>
            <a:ext cx="100587" cy="100586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14"/>
          <p:cNvSpPr txBox="1"/>
          <p:nvPr/>
        </p:nvSpPr>
        <p:spPr>
          <a:xfrm>
            <a:off x="978406" y="3957954"/>
            <a:ext cx="1051505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想法很單純：能不能用 AI 幫忙，把「做文件、對文件」這件事變輕鬆一點？</a:t>
            </a:r>
          </a:p>
        </p:txBody>
      </p:sp>
      <p:sp>
        <p:nvSpPr>
          <p:cNvPr id="164" name="Rectangle 15"/>
          <p:cNvSpPr/>
          <p:nvPr/>
        </p:nvSpPr>
        <p:spPr>
          <a:xfrm>
            <a:off x="685798" y="4475224"/>
            <a:ext cx="100587" cy="100586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6"/>
          <p:cNvSpPr txBox="1"/>
          <p:nvPr/>
        </p:nvSpPr>
        <p:spPr>
          <a:xfrm>
            <a:off x="978406" y="4383785"/>
            <a:ext cx="1051505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所以就動手做了 Spring-MissionBoard</a:t>
            </a:r>
          </a:p>
        </p:txBody>
      </p:sp>
      <p:sp>
        <p:nvSpPr>
          <p:cNvPr id="166" name="Rounded Rectangle 146"/>
          <p:cNvSpPr/>
          <p:nvPr/>
        </p:nvSpPr>
        <p:spPr>
          <a:xfrm rot="21120000">
            <a:off x="822960" y="5303520"/>
            <a:ext cx="566929" cy="731521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Rectangle 147"/>
          <p:cNvSpPr/>
          <p:nvPr/>
        </p:nvSpPr>
        <p:spPr>
          <a:xfrm>
            <a:off x="914400" y="5449823"/>
            <a:ext cx="384048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Rectangle 148"/>
          <p:cNvSpPr/>
          <p:nvPr/>
        </p:nvSpPr>
        <p:spPr>
          <a:xfrm>
            <a:off x="914400" y="5596128"/>
            <a:ext cx="384048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Rectangle 149"/>
          <p:cNvSpPr/>
          <p:nvPr/>
        </p:nvSpPr>
        <p:spPr>
          <a:xfrm>
            <a:off x="914400" y="5742432"/>
            <a:ext cx="384048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Rounded Rectangle 150"/>
          <p:cNvSpPr/>
          <p:nvPr/>
        </p:nvSpPr>
        <p:spPr>
          <a:xfrm rot="300000">
            <a:off x="1600200" y="5120640"/>
            <a:ext cx="566928" cy="731521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Rectangle 151"/>
          <p:cNvSpPr/>
          <p:nvPr/>
        </p:nvSpPr>
        <p:spPr>
          <a:xfrm>
            <a:off x="1691639" y="5266944"/>
            <a:ext cx="384049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Rectangle 152"/>
          <p:cNvSpPr/>
          <p:nvPr/>
        </p:nvSpPr>
        <p:spPr>
          <a:xfrm>
            <a:off x="1691639" y="5413247"/>
            <a:ext cx="384049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Rectangle 153"/>
          <p:cNvSpPr/>
          <p:nvPr/>
        </p:nvSpPr>
        <p:spPr>
          <a:xfrm>
            <a:off x="1691639" y="5559552"/>
            <a:ext cx="384049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Rounded Rectangle 154"/>
          <p:cNvSpPr/>
          <p:nvPr/>
        </p:nvSpPr>
        <p:spPr>
          <a:xfrm rot="21360000">
            <a:off x="2331720" y="5349240"/>
            <a:ext cx="566929" cy="731521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Rectangle 155"/>
          <p:cNvSpPr/>
          <p:nvPr/>
        </p:nvSpPr>
        <p:spPr>
          <a:xfrm>
            <a:off x="2423160" y="5495544"/>
            <a:ext cx="384049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156"/>
          <p:cNvSpPr/>
          <p:nvPr/>
        </p:nvSpPr>
        <p:spPr>
          <a:xfrm>
            <a:off x="2423160" y="5641847"/>
            <a:ext cx="384049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Rectangle 157"/>
          <p:cNvSpPr/>
          <p:nvPr/>
        </p:nvSpPr>
        <p:spPr>
          <a:xfrm>
            <a:off x="2423160" y="5788152"/>
            <a:ext cx="384049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Rounded Rectangle 158"/>
          <p:cNvSpPr/>
          <p:nvPr/>
        </p:nvSpPr>
        <p:spPr>
          <a:xfrm rot="420000">
            <a:off x="3108960" y="5074920"/>
            <a:ext cx="566929" cy="731521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Rectangle 159"/>
          <p:cNvSpPr/>
          <p:nvPr/>
        </p:nvSpPr>
        <p:spPr>
          <a:xfrm>
            <a:off x="3200400" y="5221223"/>
            <a:ext cx="384048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Rectangle 160"/>
          <p:cNvSpPr/>
          <p:nvPr/>
        </p:nvSpPr>
        <p:spPr>
          <a:xfrm>
            <a:off x="3200400" y="5367528"/>
            <a:ext cx="384048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Rectangle 161"/>
          <p:cNvSpPr/>
          <p:nvPr/>
        </p:nvSpPr>
        <p:spPr>
          <a:xfrm>
            <a:off x="3200400" y="5513832"/>
            <a:ext cx="384048" cy="41149"/>
          </a:xfrm>
          <a:prstGeom prst="rect">
            <a:avLst/>
          </a:prstGeom>
          <a:solidFill>
            <a:srgbClr val="E2E5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Chevron 162"/>
          <p:cNvSpPr/>
          <p:nvPr/>
        </p:nvSpPr>
        <p:spPr>
          <a:xfrm>
            <a:off x="4206240" y="5349240"/>
            <a:ext cx="502921" cy="365761"/>
          </a:xfrm>
          <a:prstGeom prst="chevron">
            <a:avLst>
              <a:gd name="adj" fmla="val 50000"/>
            </a:avLst>
          </a:prstGeom>
          <a:solidFill>
            <a:srgbClr val="7DE3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Chevron 163"/>
          <p:cNvSpPr/>
          <p:nvPr/>
        </p:nvSpPr>
        <p:spPr>
          <a:xfrm>
            <a:off x="4892040" y="5349240"/>
            <a:ext cx="502921" cy="365761"/>
          </a:xfrm>
          <a:prstGeom prst="chevron">
            <a:avLst>
              <a:gd name="adj" fmla="val 50000"/>
            </a:avLst>
          </a:prstGeom>
          <a:solidFill>
            <a:srgbClr val="7DE3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Chevron 164"/>
          <p:cNvSpPr/>
          <p:nvPr/>
        </p:nvSpPr>
        <p:spPr>
          <a:xfrm>
            <a:off x="5577840" y="5349240"/>
            <a:ext cx="502921" cy="365761"/>
          </a:xfrm>
          <a:prstGeom prst="chevron">
            <a:avLst>
              <a:gd name="adj" fmla="val 50000"/>
            </a:avLst>
          </a:prstGeom>
          <a:solidFill>
            <a:srgbClr val="7DE3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87" name="Cloud 165"/>
          <p:cNvGrpSpPr/>
          <p:nvPr/>
        </p:nvGrpSpPr>
        <p:grpSpPr>
          <a:xfrm>
            <a:off x="6398784" y="5033629"/>
            <a:ext cx="2380594" cy="1374266"/>
            <a:chOff x="0" y="0"/>
            <a:chExt cx="2380592" cy="1374265"/>
          </a:xfrm>
        </p:grpSpPr>
        <p:sp>
          <p:nvSpPr>
            <p:cNvPr id="185" name="形狀"/>
            <p:cNvSpPr/>
            <p:nvPr/>
          </p:nvSpPr>
          <p:spPr>
            <a:xfrm>
              <a:off x="0" y="0"/>
              <a:ext cx="2380593" cy="137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fill="norm" stroke="1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lnTo>
                    <a:pt x="10857" y="1573"/>
                  </a:ln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lnTo>
                    <a:pt x="18513" y="2598"/>
                  </a:ln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lnTo>
                    <a:pt x="1038" y="12172"/>
                  </a:ln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28575" cap="flat">
              <a:solidFill>
                <a:srgbClr val="22D3E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6" name="形狀"/>
            <p:cNvSpPr/>
            <p:nvPr/>
          </p:nvSpPr>
          <p:spPr>
            <a:xfrm>
              <a:off x="120881" y="69880"/>
              <a:ext cx="2181418" cy="1166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lnTo>
                    <a:pt x="7802" y="21600"/>
                  </a:ln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28575" cap="flat">
              <a:solidFill>
                <a:srgbClr val="22D3E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88" name="Oval 166"/>
          <p:cNvSpPr/>
          <p:nvPr/>
        </p:nvSpPr>
        <p:spPr>
          <a:xfrm>
            <a:off x="7525511" y="5650991"/>
            <a:ext cx="128017" cy="128017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67"/>
          <p:cNvSpPr txBox="1"/>
          <p:nvPr/>
        </p:nvSpPr>
        <p:spPr>
          <a:xfrm>
            <a:off x="6400800" y="6473952"/>
            <a:ext cx="237744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7DE3F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SaaS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 txBox="1"/>
          <p:nvPr/>
        </p:nvSpPr>
        <p:spPr>
          <a:xfrm>
            <a:off x="685800" y="502919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先講一下 SAAS</a:t>
            </a:r>
          </a:p>
        </p:txBody>
      </p:sp>
      <p:sp>
        <p:nvSpPr>
          <p:cNvPr id="192" name="TextBox 2"/>
          <p:cNvSpPr txBox="1"/>
          <p:nvPr/>
        </p:nvSpPr>
        <p:spPr>
          <a:xfrm>
            <a:off x="685800" y="868680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不用自己裝，開瀏覽器就能用</a:t>
            </a:r>
          </a:p>
        </p:txBody>
      </p:sp>
      <p:sp>
        <p:nvSpPr>
          <p:cNvPr id="193" name="TextBox 3"/>
          <p:cNvSpPr txBox="1"/>
          <p:nvPr/>
        </p:nvSpPr>
        <p:spPr>
          <a:xfrm>
            <a:off x="685800" y="1527047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東西放在同一個地方，大家連上去看到的都是同一份、也都是最新的</a:t>
            </a:r>
          </a:p>
        </p:txBody>
      </p:sp>
      <p:sp>
        <p:nvSpPr>
          <p:cNvPr id="194" name="Connector 4"/>
          <p:cNvSpPr/>
          <p:nvPr/>
        </p:nvSpPr>
        <p:spPr>
          <a:xfrm>
            <a:off x="685796" y="1911094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" name="Oval 5"/>
          <p:cNvSpPr/>
          <p:nvPr/>
        </p:nvSpPr>
        <p:spPr>
          <a:xfrm>
            <a:off x="658368" y="1883664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Oval 6"/>
          <p:cNvSpPr/>
          <p:nvPr/>
        </p:nvSpPr>
        <p:spPr>
          <a:xfrm>
            <a:off x="106984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Oval 7"/>
          <p:cNvSpPr/>
          <p:nvPr/>
        </p:nvSpPr>
        <p:spPr>
          <a:xfrm>
            <a:off x="148132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Rectangle 8"/>
          <p:cNvSpPr/>
          <p:nvPr/>
        </p:nvSpPr>
        <p:spPr>
          <a:xfrm>
            <a:off x="685798" y="2414016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9"/>
          <p:cNvSpPr txBox="1"/>
          <p:nvPr/>
        </p:nvSpPr>
        <p:spPr>
          <a:xfrm>
            <a:off x="978405" y="2322576"/>
            <a:ext cx="10515057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開會前要人工合併，常常對到不一樣的版本　→　不用互傳檔案，也不用問「哪一份才是最新的」</a:t>
            </a:r>
          </a:p>
        </p:txBody>
      </p:sp>
      <p:sp>
        <p:nvSpPr>
          <p:cNvPr id="200" name="Rectangle 10"/>
          <p:cNvSpPr/>
          <p:nvPr/>
        </p:nvSpPr>
        <p:spPr>
          <a:xfrm>
            <a:off x="685795" y="2848989"/>
            <a:ext cx="4946639" cy="3597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Rectangle 11"/>
          <p:cNvSpPr/>
          <p:nvPr/>
        </p:nvSpPr>
        <p:spPr>
          <a:xfrm>
            <a:off x="685795" y="2848991"/>
            <a:ext cx="4946639" cy="384054"/>
          </a:xfrm>
          <a:prstGeom prst="rect">
            <a:avLst/>
          </a:prstGeom>
          <a:solidFill>
            <a:srgbClr val="5B648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12"/>
          <p:cNvSpPr txBox="1"/>
          <p:nvPr/>
        </p:nvSpPr>
        <p:spPr>
          <a:xfrm>
            <a:off x="685795" y="2926713"/>
            <a:ext cx="494663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以前 · 各自一份檔案</a:t>
            </a:r>
          </a:p>
        </p:txBody>
      </p:sp>
      <p:sp>
        <p:nvSpPr>
          <p:cNvPr id="203" name="Rectangle 13"/>
          <p:cNvSpPr/>
          <p:nvPr/>
        </p:nvSpPr>
        <p:spPr>
          <a:xfrm>
            <a:off x="6546828" y="2848989"/>
            <a:ext cx="4946636" cy="3597536"/>
          </a:xfrm>
          <a:prstGeom prst="rect">
            <a:avLst/>
          </a:prstGeom>
          <a:solidFill>
            <a:srgbClr val="0B1130"/>
          </a:solidFill>
          <a:ln w="15875">
            <a:solidFill>
              <a:srgbClr val="22D3EE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Rectangle 14"/>
          <p:cNvSpPr/>
          <p:nvPr/>
        </p:nvSpPr>
        <p:spPr>
          <a:xfrm>
            <a:off x="6546828" y="2848991"/>
            <a:ext cx="4946636" cy="384054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5"/>
          <p:cNvSpPr txBox="1"/>
          <p:nvPr/>
        </p:nvSpPr>
        <p:spPr>
          <a:xfrm>
            <a:off x="6546828" y="2926713"/>
            <a:ext cx="494663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現在 · 連到同一個地方</a:t>
            </a:r>
          </a:p>
        </p:txBody>
      </p:sp>
      <p:sp>
        <p:nvSpPr>
          <p:cNvPr id="206" name="Connector 16"/>
          <p:cNvSpPr/>
          <p:nvPr/>
        </p:nvSpPr>
        <p:spPr>
          <a:xfrm>
            <a:off x="5742156" y="4647755"/>
            <a:ext cx="694950" cy="6"/>
          </a:xfrm>
          <a:prstGeom prst="line">
            <a:avLst/>
          </a:prstGeom>
          <a:ln w="28575">
            <a:solidFill>
              <a:srgbClr val="F5A52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" name="Isosceles Triangle 17"/>
          <p:cNvSpPr/>
          <p:nvPr/>
        </p:nvSpPr>
        <p:spPr>
          <a:xfrm rot="5400000">
            <a:off x="6290793" y="4556314"/>
            <a:ext cx="182889" cy="182885"/>
          </a:xfrm>
          <a:prstGeom prst="triangl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系統定位</a:t>
            </a:r>
          </a:p>
        </p:txBody>
      </p:sp>
      <p:sp>
        <p:nvSpPr>
          <p:cNvPr id="210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沒想過一次到位，是一步步走過來的</a:t>
            </a:r>
          </a:p>
        </p:txBody>
      </p:sp>
      <p:sp>
        <p:nvSpPr>
          <p:cNvPr id="211" name="Connector 3"/>
          <p:cNvSpPr/>
          <p:nvPr/>
        </p:nvSpPr>
        <p:spPr>
          <a:xfrm>
            <a:off x="685796" y="166420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" name="Oval 4"/>
          <p:cNvSpPr/>
          <p:nvPr/>
        </p:nvSpPr>
        <p:spPr>
          <a:xfrm>
            <a:off x="658368" y="163677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Oval 5"/>
          <p:cNvSpPr/>
          <p:nvPr/>
        </p:nvSpPr>
        <p:spPr>
          <a:xfrm>
            <a:off x="106984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Oval 6"/>
          <p:cNvSpPr/>
          <p:nvPr/>
        </p:nvSpPr>
        <p:spPr>
          <a:xfrm>
            <a:off x="148132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Rectangle 7"/>
          <p:cNvSpPr/>
          <p:nvPr/>
        </p:nvSpPr>
        <p:spPr>
          <a:xfrm>
            <a:off x="685798" y="221284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extBox 8"/>
          <p:cNvSpPr txBox="1"/>
          <p:nvPr/>
        </p:nvSpPr>
        <p:spPr>
          <a:xfrm>
            <a:off x="978405" y="2121405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先從一支單一 HTML 檔開始，一個人就能做完，快速驗證想法可不可行，不做過度設計</a:t>
            </a:r>
          </a:p>
        </p:txBody>
      </p:sp>
      <p:sp>
        <p:nvSpPr>
          <p:cNvPr id="217" name="Rectangle 9"/>
          <p:cNvSpPr/>
          <p:nvPr/>
        </p:nvSpPr>
        <p:spPr>
          <a:xfrm>
            <a:off x="685798" y="2665727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10"/>
          <p:cNvSpPr txBox="1"/>
          <p:nvPr/>
        </p:nvSpPr>
        <p:spPr>
          <a:xfrm>
            <a:off x="978405" y="2574288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確定方向對了，才往剛剛講的那種「大家連同一個地方」的系統走</a:t>
            </a:r>
          </a:p>
        </p:txBody>
      </p:sp>
      <p:sp>
        <p:nvSpPr>
          <p:cNvPr id="219" name="Rectangle 11"/>
          <p:cNvSpPr/>
          <p:nvPr/>
        </p:nvSpPr>
        <p:spPr>
          <a:xfrm>
            <a:off x="685798" y="3118610"/>
            <a:ext cx="100591" cy="100591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12"/>
          <p:cNvSpPr txBox="1"/>
          <p:nvPr/>
        </p:nvSpPr>
        <p:spPr>
          <a:xfrm>
            <a:off x="978405" y="3027171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過程就是做出來、自己用用看，好用的留下、不好用的直接砍掉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"/>
          <p:cNvSpPr txBox="1"/>
          <p:nvPr/>
        </p:nvSpPr>
        <p:spPr>
          <a:xfrm>
            <a:off x="685800" y="54864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系統現況</a:t>
            </a:r>
          </a:p>
        </p:txBody>
      </p:sp>
      <p:sp>
        <p:nvSpPr>
          <p:cNvPr id="223" name="TextBox 2"/>
          <p:cNvSpPr txBox="1"/>
          <p:nvPr/>
        </p:nvSpPr>
        <p:spPr>
          <a:xfrm>
            <a:off x="685800" y="914400"/>
            <a:ext cx="1080765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現在的 Spring-MissionBoard</a:t>
            </a:r>
          </a:p>
        </p:txBody>
      </p:sp>
      <p:sp>
        <p:nvSpPr>
          <p:cNvPr id="224" name="Connector 3"/>
          <p:cNvSpPr/>
          <p:nvPr/>
        </p:nvSpPr>
        <p:spPr>
          <a:xfrm>
            <a:off x="685796" y="1572766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Oval 4"/>
          <p:cNvSpPr/>
          <p:nvPr/>
        </p:nvSpPr>
        <p:spPr>
          <a:xfrm>
            <a:off x="658368" y="154533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Oval 5"/>
          <p:cNvSpPr/>
          <p:nvPr/>
        </p:nvSpPr>
        <p:spPr>
          <a:xfrm>
            <a:off x="106984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Oval 6"/>
          <p:cNvSpPr/>
          <p:nvPr/>
        </p:nvSpPr>
        <p:spPr>
          <a:xfrm>
            <a:off x="148132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Rectangle 7"/>
          <p:cNvSpPr/>
          <p:nvPr/>
        </p:nvSpPr>
        <p:spPr>
          <a:xfrm>
            <a:off x="630936" y="1975103"/>
            <a:ext cx="5330677" cy="3372821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9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2029966"/>
            <a:ext cx="5220950" cy="3263097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Rectangle 9"/>
          <p:cNvSpPr/>
          <p:nvPr/>
        </p:nvSpPr>
        <p:spPr>
          <a:xfrm>
            <a:off x="630934" y="1975103"/>
            <a:ext cx="310903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Rectangle 10"/>
          <p:cNvSpPr/>
          <p:nvPr/>
        </p:nvSpPr>
        <p:spPr>
          <a:xfrm>
            <a:off x="630936" y="1975103"/>
            <a:ext cx="54870" cy="310902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34" name="Rounded Rectangle 11"/>
          <p:cNvGrpSpPr/>
          <p:nvPr/>
        </p:nvGrpSpPr>
        <p:grpSpPr>
          <a:xfrm>
            <a:off x="685797" y="5457648"/>
            <a:ext cx="1024136" cy="310910"/>
            <a:chOff x="0" y="0"/>
            <a:chExt cx="1024135" cy="310908"/>
          </a:xfrm>
        </p:grpSpPr>
        <p:sp>
          <p:nvSpPr>
            <p:cNvPr id="232" name="圓角矩形"/>
            <p:cNvSpPr/>
            <p:nvPr/>
          </p:nvSpPr>
          <p:spPr>
            <a:xfrm>
              <a:off x="-1" y="-1"/>
              <a:ext cx="1024136" cy="31090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3" name="分類管理"/>
            <p:cNvSpPr txBox="1"/>
            <p:nvPr/>
          </p:nvSpPr>
          <p:spPr>
            <a:xfrm>
              <a:off x="200914" y="47498"/>
              <a:ext cx="622301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分類管理</a:t>
              </a:r>
            </a:p>
          </p:txBody>
        </p:sp>
      </p:grpSp>
      <p:sp>
        <p:nvSpPr>
          <p:cNvPr id="235" name="Rectangle 12"/>
          <p:cNvSpPr/>
          <p:nvPr/>
        </p:nvSpPr>
        <p:spPr>
          <a:xfrm>
            <a:off x="6217644" y="1975103"/>
            <a:ext cx="5330681" cy="3372821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36" name="Picture 13" descr="Picture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72507" y="2029966"/>
            <a:ext cx="5220952" cy="3263097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Rectangle 14"/>
          <p:cNvSpPr/>
          <p:nvPr/>
        </p:nvSpPr>
        <p:spPr>
          <a:xfrm>
            <a:off x="6217644" y="1975103"/>
            <a:ext cx="310902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Rectangle 15"/>
          <p:cNvSpPr/>
          <p:nvPr/>
        </p:nvSpPr>
        <p:spPr>
          <a:xfrm>
            <a:off x="6217644" y="1975103"/>
            <a:ext cx="54870" cy="310902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1" name="Rounded Rectangle 16"/>
          <p:cNvGrpSpPr/>
          <p:nvPr/>
        </p:nvGrpSpPr>
        <p:grpSpPr>
          <a:xfrm>
            <a:off x="6272501" y="5457648"/>
            <a:ext cx="1024139" cy="310910"/>
            <a:chOff x="0" y="0"/>
            <a:chExt cx="1024138" cy="310908"/>
          </a:xfrm>
        </p:grpSpPr>
        <p:sp>
          <p:nvSpPr>
            <p:cNvPr id="239" name="圓角矩形"/>
            <p:cNvSpPr/>
            <p:nvPr/>
          </p:nvSpPr>
          <p:spPr>
            <a:xfrm>
              <a:off x="-1" y="-1"/>
              <a:ext cx="1024139" cy="31090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0" name="任務看板"/>
            <p:cNvSpPr txBox="1"/>
            <p:nvPr/>
          </p:nvSpPr>
          <p:spPr>
            <a:xfrm>
              <a:off x="200915" y="47498"/>
              <a:ext cx="622301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任務看板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1"/>
          <p:cNvSpPr txBox="1"/>
          <p:nvPr/>
        </p:nvSpPr>
        <p:spPr>
          <a:xfrm>
            <a:off x="685800" y="502919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開發歷程</a:t>
            </a:r>
          </a:p>
        </p:txBody>
      </p:sp>
      <p:sp>
        <p:nvSpPr>
          <p:cNvPr id="244" name="TextBox 2"/>
          <p:cNvSpPr txBox="1"/>
          <p:nvPr/>
        </p:nvSpPr>
        <p:spPr>
          <a:xfrm>
            <a:off x="685800" y="868680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四個階段，一條時間軸</a:t>
            </a:r>
          </a:p>
        </p:txBody>
      </p:sp>
      <p:sp>
        <p:nvSpPr>
          <p:cNvPr id="245" name="Connector 3"/>
          <p:cNvSpPr/>
          <p:nvPr/>
        </p:nvSpPr>
        <p:spPr>
          <a:xfrm>
            <a:off x="685796" y="1527047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" name="Oval 4"/>
          <p:cNvSpPr/>
          <p:nvPr/>
        </p:nvSpPr>
        <p:spPr>
          <a:xfrm>
            <a:off x="658368" y="149961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5"/>
          <p:cNvSpPr/>
          <p:nvPr/>
        </p:nvSpPr>
        <p:spPr>
          <a:xfrm>
            <a:off x="1069847" y="149961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6"/>
          <p:cNvSpPr/>
          <p:nvPr/>
        </p:nvSpPr>
        <p:spPr>
          <a:xfrm>
            <a:off x="1481327" y="149961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Connector 7"/>
          <p:cNvSpPr/>
          <p:nvPr/>
        </p:nvSpPr>
        <p:spPr>
          <a:xfrm>
            <a:off x="685797" y="2606038"/>
            <a:ext cx="10807667" cy="6"/>
          </a:xfrm>
          <a:prstGeom prst="line">
            <a:avLst/>
          </a:prstGeom>
          <a:ln w="2540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Oval 8"/>
          <p:cNvSpPr/>
          <p:nvPr/>
        </p:nvSpPr>
        <p:spPr>
          <a:xfrm>
            <a:off x="1954458" y="2523744"/>
            <a:ext cx="164603" cy="164603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TextBox 9"/>
          <p:cNvSpPr txBox="1"/>
          <p:nvPr/>
        </p:nvSpPr>
        <p:spPr>
          <a:xfrm>
            <a:off x="685800" y="2103120"/>
            <a:ext cx="27019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B2A6B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06-08 → 06-19</a:t>
            </a:r>
          </a:p>
        </p:txBody>
      </p:sp>
      <p:sp>
        <p:nvSpPr>
          <p:cNvPr id="252" name="Rectangle 10"/>
          <p:cNvSpPr/>
          <p:nvPr/>
        </p:nvSpPr>
        <p:spPr>
          <a:xfrm>
            <a:off x="795528" y="2926076"/>
            <a:ext cx="2482458" cy="3200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Rectangle 11"/>
          <p:cNvSpPr/>
          <p:nvPr/>
        </p:nvSpPr>
        <p:spPr>
          <a:xfrm>
            <a:off x="795528" y="2926077"/>
            <a:ext cx="2482458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12"/>
          <p:cNvSpPr txBox="1"/>
          <p:nvPr/>
        </p:nvSpPr>
        <p:spPr>
          <a:xfrm>
            <a:off x="941832" y="3108960"/>
            <a:ext cx="218985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WbsScaff</a:t>
            </a:r>
          </a:p>
        </p:txBody>
      </p:sp>
      <p:sp>
        <p:nvSpPr>
          <p:cNvPr id="255" name="TextBox 13"/>
          <p:cNvSpPr txBox="1"/>
          <p:nvPr/>
        </p:nvSpPr>
        <p:spPr>
          <a:xfrm>
            <a:off x="941832" y="3547871"/>
            <a:ext cx="2189854" cy="474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單檔 HTML WBS 工具，氣隙環境，無伺服器</a:t>
            </a:r>
          </a:p>
        </p:txBody>
      </p:sp>
      <p:sp>
        <p:nvSpPr>
          <p:cNvPr id="256" name="TextBox 14"/>
          <p:cNvSpPr txBox="1"/>
          <p:nvPr/>
        </p:nvSpPr>
        <p:spPr>
          <a:xfrm>
            <a:off x="941832" y="5166359"/>
            <a:ext cx="218985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85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38 commits · 6 檔 · 0.9MB</a:t>
            </a:r>
          </a:p>
        </p:txBody>
      </p:sp>
      <p:grpSp>
        <p:nvGrpSpPr>
          <p:cNvPr id="259" name="Rounded Rectangle 15"/>
          <p:cNvGrpSpPr/>
          <p:nvPr/>
        </p:nvGrpSpPr>
        <p:grpSpPr>
          <a:xfrm>
            <a:off x="941828" y="5705849"/>
            <a:ext cx="1517918" cy="310910"/>
            <a:chOff x="-1" y="0"/>
            <a:chExt cx="1517917" cy="310908"/>
          </a:xfrm>
        </p:grpSpPr>
        <p:sp>
          <p:nvSpPr>
            <p:cNvPr id="257" name="圓角矩形"/>
            <p:cNvSpPr/>
            <p:nvPr/>
          </p:nvSpPr>
          <p:spPr>
            <a:xfrm>
              <a:off x="-2" y="-1"/>
              <a:ext cx="1517919" cy="310909"/>
            </a:xfrm>
            <a:prstGeom prst="roundRect">
              <a:avLst>
                <a:gd name="adj" fmla="val 50000"/>
              </a:avLst>
            </a:prstGeom>
            <a:solidFill>
              <a:srgbClr val="F5A52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8" name="耗時 11 天"/>
            <p:cNvSpPr txBox="1"/>
            <p:nvPr/>
          </p:nvSpPr>
          <p:spPr>
            <a:xfrm>
              <a:off x="409183" y="66549"/>
              <a:ext cx="699543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耗時 11 天</a:t>
              </a:r>
            </a:p>
          </p:txBody>
        </p:sp>
      </p:grpSp>
      <p:sp>
        <p:nvSpPr>
          <p:cNvPr id="260" name="Oval 16"/>
          <p:cNvSpPr/>
          <p:nvPr/>
        </p:nvSpPr>
        <p:spPr>
          <a:xfrm>
            <a:off x="4656375" y="2523744"/>
            <a:ext cx="164603" cy="164603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17"/>
          <p:cNvSpPr txBox="1"/>
          <p:nvPr/>
        </p:nvSpPr>
        <p:spPr>
          <a:xfrm>
            <a:off x="3387714" y="2103120"/>
            <a:ext cx="270192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B2A6B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06-19 → 07-03</a:t>
            </a:r>
          </a:p>
        </p:txBody>
      </p:sp>
      <p:sp>
        <p:nvSpPr>
          <p:cNvPr id="262" name="Rectangle 18"/>
          <p:cNvSpPr/>
          <p:nvPr/>
        </p:nvSpPr>
        <p:spPr>
          <a:xfrm>
            <a:off x="3497441" y="2926076"/>
            <a:ext cx="2482464" cy="3200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Rectangle 19"/>
          <p:cNvSpPr/>
          <p:nvPr/>
        </p:nvSpPr>
        <p:spPr>
          <a:xfrm>
            <a:off x="3497441" y="2926077"/>
            <a:ext cx="2482464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20"/>
          <p:cNvSpPr txBox="1"/>
          <p:nvPr/>
        </p:nvSpPr>
        <p:spPr>
          <a:xfrm>
            <a:off x="3643745" y="3108960"/>
            <a:ext cx="218985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Spring-WbsScaff</a:t>
            </a:r>
          </a:p>
        </p:txBody>
      </p:sp>
      <p:sp>
        <p:nvSpPr>
          <p:cNvPr id="265" name="TextBox 21"/>
          <p:cNvSpPr txBox="1"/>
          <p:nvPr/>
        </p:nvSpPr>
        <p:spPr>
          <a:xfrm>
            <a:off x="3643745" y="3547871"/>
            <a:ext cx="2189854" cy="474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搬上 Web，多人即時協作、部門權限</a:t>
            </a:r>
          </a:p>
        </p:txBody>
      </p:sp>
      <p:sp>
        <p:nvSpPr>
          <p:cNvPr id="266" name="TextBox 22"/>
          <p:cNvSpPr txBox="1"/>
          <p:nvPr/>
        </p:nvSpPr>
        <p:spPr>
          <a:xfrm>
            <a:off x="3643745" y="5166359"/>
            <a:ext cx="218985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85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97 commits · 152 檔 · 6.9MB</a:t>
            </a:r>
          </a:p>
        </p:txBody>
      </p:sp>
      <p:grpSp>
        <p:nvGrpSpPr>
          <p:cNvPr id="269" name="Rounded Rectangle 23"/>
          <p:cNvGrpSpPr/>
          <p:nvPr/>
        </p:nvGrpSpPr>
        <p:grpSpPr>
          <a:xfrm>
            <a:off x="3643740" y="5705849"/>
            <a:ext cx="1517918" cy="310910"/>
            <a:chOff x="-1" y="0"/>
            <a:chExt cx="1517917" cy="310908"/>
          </a:xfrm>
        </p:grpSpPr>
        <p:sp>
          <p:nvSpPr>
            <p:cNvPr id="267" name="圓角矩形"/>
            <p:cNvSpPr/>
            <p:nvPr/>
          </p:nvSpPr>
          <p:spPr>
            <a:xfrm>
              <a:off x="-2" y="-1"/>
              <a:ext cx="1517919" cy="310909"/>
            </a:xfrm>
            <a:prstGeom prst="roundRect">
              <a:avLst>
                <a:gd name="adj" fmla="val 50000"/>
              </a:avLst>
            </a:prstGeom>
            <a:solidFill>
              <a:srgbClr val="F5A52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8" name="耗時 14 天"/>
            <p:cNvSpPr txBox="1"/>
            <p:nvPr/>
          </p:nvSpPr>
          <p:spPr>
            <a:xfrm>
              <a:off x="409183" y="66549"/>
              <a:ext cx="699543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耗時 14 天</a:t>
              </a:r>
            </a:p>
          </p:txBody>
        </p:sp>
      </p:grpSp>
      <p:sp>
        <p:nvSpPr>
          <p:cNvPr id="270" name="Oval 24"/>
          <p:cNvSpPr/>
          <p:nvPr/>
        </p:nvSpPr>
        <p:spPr>
          <a:xfrm>
            <a:off x="7358288" y="2523744"/>
            <a:ext cx="164603" cy="164603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25"/>
          <p:cNvSpPr txBox="1"/>
          <p:nvPr/>
        </p:nvSpPr>
        <p:spPr>
          <a:xfrm>
            <a:off x="6089629" y="2103120"/>
            <a:ext cx="270192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B2A6B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07-03 → 07-08</a:t>
            </a:r>
          </a:p>
        </p:txBody>
      </p:sp>
      <p:sp>
        <p:nvSpPr>
          <p:cNvPr id="272" name="Rectangle 26"/>
          <p:cNvSpPr/>
          <p:nvPr/>
        </p:nvSpPr>
        <p:spPr>
          <a:xfrm>
            <a:off x="6199356" y="2926076"/>
            <a:ext cx="2482460" cy="3200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Rectangle 27"/>
          <p:cNvSpPr/>
          <p:nvPr/>
        </p:nvSpPr>
        <p:spPr>
          <a:xfrm>
            <a:off x="6199356" y="2926077"/>
            <a:ext cx="2482460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28"/>
          <p:cNvSpPr txBox="1"/>
          <p:nvPr/>
        </p:nvSpPr>
        <p:spPr>
          <a:xfrm>
            <a:off x="6345661" y="3108960"/>
            <a:ext cx="218985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Spring-TaskFlow</a:t>
            </a:r>
          </a:p>
        </p:txBody>
      </p:sp>
      <p:sp>
        <p:nvSpPr>
          <p:cNvPr id="275" name="TextBox 29"/>
          <p:cNvSpPr txBox="1"/>
          <p:nvPr/>
        </p:nvSpPr>
        <p:spPr>
          <a:xfrm>
            <a:off x="6345661" y="3547871"/>
            <a:ext cx="2189854" cy="474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拆出獨立看板系統，核心從樹狀改拖曳卡片</a:t>
            </a:r>
          </a:p>
        </p:txBody>
      </p:sp>
      <p:sp>
        <p:nvSpPr>
          <p:cNvPr id="276" name="TextBox 30"/>
          <p:cNvSpPr txBox="1"/>
          <p:nvPr/>
        </p:nvSpPr>
        <p:spPr>
          <a:xfrm>
            <a:off x="6345661" y="5166359"/>
            <a:ext cx="218985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85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32 commits · 115 檔 · 2.0MB</a:t>
            </a:r>
          </a:p>
        </p:txBody>
      </p:sp>
      <p:grpSp>
        <p:nvGrpSpPr>
          <p:cNvPr id="279" name="Rounded Rectangle 31"/>
          <p:cNvGrpSpPr/>
          <p:nvPr/>
        </p:nvGrpSpPr>
        <p:grpSpPr>
          <a:xfrm>
            <a:off x="6345656" y="5705849"/>
            <a:ext cx="1353327" cy="310910"/>
            <a:chOff x="-1" y="0"/>
            <a:chExt cx="1353325" cy="310908"/>
          </a:xfrm>
        </p:grpSpPr>
        <p:sp>
          <p:nvSpPr>
            <p:cNvPr id="277" name="圓角矩形"/>
            <p:cNvSpPr/>
            <p:nvPr/>
          </p:nvSpPr>
          <p:spPr>
            <a:xfrm>
              <a:off x="-2" y="-1"/>
              <a:ext cx="1353327" cy="310909"/>
            </a:xfrm>
            <a:prstGeom prst="roundRect">
              <a:avLst>
                <a:gd name="adj" fmla="val 50000"/>
              </a:avLst>
            </a:prstGeom>
            <a:solidFill>
              <a:srgbClr val="F5A52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8" name="耗時 5 天"/>
            <p:cNvSpPr txBox="1"/>
            <p:nvPr/>
          </p:nvSpPr>
          <p:spPr>
            <a:xfrm>
              <a:off x="365117" y="66549"/>
              <a:ext cx="623082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耗時 5 天</a:t>
              </a:r>
            </a:p>
          </p:txBody>
        </p:sp>
      </p:grpSp>
      <p:sp>
        <p:nvSpPr>
          <p:cNvPr id="280" name="Oval 32"/>
          <p:cNvSpPr/>
          <p:nvPr/>
        </p:nvSpPr>
        <p:spPr>
          <a:xfrm>
            <a:off x="10060205" y="2523744"/>
            <a:ext cx="164603" cy="164603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33"/>
          <p:cNvSpPr txBox="1"/>
          <p:nvPr/>
        </p:nvSpPr>
        <p:spPr>
          <a:xfrm>
            <a:off x="8791544" y="2103120"/>
            <a:ext cx="270191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B2A6B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07-17 → 08-10</a:t>
            </a:r>
          </a:p>
        </p:txBody>
      </p:sp>
      <p:sp>
        <p:nvSpPr>
          <p:cNvPr id="282" name="Rectangle 34"/>
          <p:cNvSpPr/>
          <p:nvPr/>
        </p:nvSpPr>
        <p:spPr>
          <a:xfrm>
            <a:off x="8901272" y="2926076"/>
            <a:ext cx="2482464" cy="3200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Rectangle 35"/>
          <p:cNvSpPr/>
          <p:nvPr/>
        </p:nvSpPr>
        <p:spPr>
          <a:xfrm>
            <a:off x="8901272" y="2926077"/>
            <a:ext cx="2482464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36"/>
          <p:cNvSpPr txBox="1"/>
          <p:nvPr/>
        </p:nvSpPr>
        <p:spPr>
          <a:xfrm>
            <a:off x="9047574" y="3108960"/>
            <a:ext cx="218985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MissionBoard</a:t>
            </a:r>
          </a:p>
        </p:txBody>
      </p:sp>
      <p:sp>
        <p:nvSpPr>
          <p:cNvPr id="285" name="TextBox 37"/>
          <p:cNvSpPr txBox="1"/>
          <p:nvPr/>
        </p:nvSpPr>
        <p:spPr>
          <a:xfrm>
            <a:off x="9047574" y="3547871"/>
            <a:ext cx="2189854" cy="474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全新 repo 合併兩者，拆掉節點模型改用任務導向</a:t>
            </a:r>
          </a:p>
        </p:txBody>
      </p:sp>
      <p:sp>
        <p:nvSpPr>
          <p:cNvPr id="286" name="TextBox 38"/>
          <p:cNvSpPr txBox="1"/>
          <p:nvPr/>
        </p:nvSpPr>
        <p:spPr>
          <a:xfrm>
            <a:off x="9047574" y="5166359"/>
            <a:ext cx="218985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85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73 commits · 83 檔 · 0.49MB</a:t>
            </a:r>
          </a:p>
        </p:txBody>
      </p:sp>
      <p:grpSp>
        <p:nvGrpSpPr>
          <p:cNvPr id="289" name="Rounded Rectangle 39"/>
          <p:cNvGrpSpPr/>
          <p:nvPr/>
        </p:nvGrpSpPr>
        <p:grpSpPr>
          <a:xfrm>
            <a:off x="9047570" y="5705849"/>
            <a:ext cx="1517918" cy="310910"/>
            <a:chOff x="-1" y="0"/>
            <a:chExt cx="1517917" cy="310908"/>
          </a:xfrm>
        </p:grpSpPr>
        <p:sp>
          <p:nvSpPr>
            <p:cNvPr id="287" name="圓角矩形"/>
            <p:cNvSpPr/>
            <p:nvPr/>
          </p:nvSpPr>
          <p:spPr>
            <a:xfrm>
              <a:off x="-2" y="-1"/>
              <a:ext cx="1517919" cy="310909"/>
            </a:xfrm>
            <a:prstGeom prst="roundRect">
              <a:avLst>
                <a:gd name="adj" fmla="val 50000"/>
              </a:avLst>
            </a:prstGeom>
            <a:solidFill>
              <a:srgbClr val="F5A52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8" name="耗時 24 天"/>
            <p:cNvSpPr txBox="1"/>
            <p:nvPr/>
          </p:nvSpPr>
          <p:spPr>
            <a:xfrm>
              <a:off x="409183" y="66549"/>
              <a:ext cx="699543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耗時 24 天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各階段在做什麼</a:t>
            </a:r>
          </a:p>
        </p:txBody>
      </p:sp>
      <p:sp>
        <p:nvSpPr>
          <p:cNvPr id="292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同一套底子，換掉核心功能</a:t>
            </a:r>
          </a:p>
        </p:txBody>
      </p:sp>
      <p:sp>
        <p:nvSpPr>
          <p:cNvPr id="293" name="Connector 3"/>
          <p:cNvSpPr/>
          <p:nvPr/>
        </p:nvSpPr>
        <p:spPr>
          <a:xfrm>
            <a:off x="685796" y="166420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4" name="Oval 4"/>
          <p:cNvSpPr/>
          <p:nvPr/>
        </p:nvSpPr>
        <p:spPr>
          <a:xfrm>
            <a:off x="658368" y="163677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5"/>
          <p:cNvSpPr/>
          <p:nvPr/>
        </p:nvSpPr>
        <p:spPr>
          <a:xfrm>
            <a:off x="106984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"/>
          <p:cNvSpPr/>
          <p:nvPr/>
        </p:nvSpPr>
        <p:spPr>
          <a:xfrm>
            <a:off x="148132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Rectangle 7"/>
          <p:cNvSpPr/>
          <p:nvPr/>
        </p:nvSpPr>
        <p:spPr>
          <a:xfrm>
            <a:off x="685798" y="221284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TextBox 8"/>
          <p:cNvSpPr txBox="1"/>
          <p:nvPr/>
        </p:nvSpPr>
        <p:spPr>
          <a:xfrm>
            <a:off x="978405" y="2121405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WbsScaff → Spring-WbsScaff：從一支單機 HTML，變成大家連得上、資料存得住的系統</a:t>
            </a:r>
          </a:p>
        </p:txBody>
      </p:sp>
      <p:sp>
        <p:nvSpPr>
          <p:cNvPr id="299" name="Rectangle 9"/>
          <p:cNvSpPr/>
          <p:nvPr/>
        </p:nvSpPr>
        <p:spPr>
          <a:xfrm>
            <a:off x="685798" y="2972305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10"/>
          <p:cNvSpPr txBox="1"/>
          <p:nvPr/>
        </p:nvSpPr>
        <p:spPr>
          <a:xfrm>
            <a:off x="978405" y="2880866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Spring-TaskFlow：把看板做起來，也把開發流程順出來，後面要長新東西就快很多</a:t>
            </a:r>
          </a:p>
        </p:txBody>
      </p:sp>
      <p:sp>
        <p:nvSpPr>
          <p:cNvPr id="301" name="Rectangle 11"/>
          <p:cNvSpPr/>
          <p:nvPr/>
        </p:nvSpPr>
        <p:spPr>
          <a:xfrm>
            <a:off x="685798" y="3425190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12"/>
          <p:cNvSpPr txBox="1"/>
          <p:nvPr/>
        </p:nvSpPr>
        <p:spPr>
          <a:xfrm>
            <a:off x="978405" y="3333748"/>
            <a:ext cx="10515057" cy="664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WbsFlow → MissionBoard：想把兩套的特色合在一起時卡住了，目標互相打架，乾脆重新確立方向——任務導向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1"/>
          <p:cNvSpPr txBox="1"/>
          <p:nvPr/>
        </p:nvSpPr>
        <p:spPr>
          <a:xfrm>
            <a:off x="685800" y="502919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第一代 · WBSSCAFF</a:t>
            </a:r>
          </a:p>
        </p:txBody>
      </p:sp>
      <p:sp>
        <p:nvSpPr>
          <p:cNvPr id="305" name="TextBox 2"/>
          <p:cNvSpPr txBox="1"/>
          <p:nvPr/>
        </p:nvSpPr>
        <p:spPr>
          <a:xfrm>
            <a:off x="685800" y="868680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一支打開就能用的 HTML 檔</a:t>
            </a:r>
          </a:p>
        </p:txBody>
      </p:sp>
      <p:sp>
        <p:nvSpPr>
          <p:cNvPr id="306" name="TextBox 3"/>
          <p:cNvSpPr txBox="1"/>
          <p:nvPr/>
        </p:nvSpPr>
        <p:spPr>
          <a:xfrm>
            <a:off x="685800" y="1527047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2026-06-08 → 06-19</a:t>
            </a:r>
          </a:p>
        </p:txBody>
      </p:sp>
      <p:sp>
        <p:nvSpPr>
          <p:cNvPr id="307" name="Connector 4"/>
          <p:cNvSpPr/>
          <p:nvPr/>
        </p:nvSpPr>
        <p:spPr>
          <a:xfrm>
            <a:off x="685796" y="1911094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8" name="Oval 5"/>
          <p:cNvSpPr/>
          <p:nvPr/>
        </p:nvSpPr>
        <p:spPr>
          <a:xfrm>
            <a:off x="658368" y="1883664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6"/>
          <p:cNvSpPr/>
          <p:nvPr/>
        </p:nvSpPr>
        <p:spPr>
          <a:xfrm>
            <a:off x="106984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7"/>
          <p:cNvSpPr/>
          <p:nvPr/>
        </p:nvSpPr>
        <p:spPr>
          <a:xfrm>
            <a:off x="148132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Rectangle 8"/>
          <p:cNvSpPr/>
          <p:nvPr/>
        </p:nvSpPr>
        <p:spPr>
          <a:xfrm>
            <a:off x="685798" y="2414016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9"/>
          <p:cNvSpPr txBox="1"/>
          <p:nvPr/>
        </p:nvSpPr>
        <p:spPr>
          <a:xfrm>
            <a:off x="978405" y="2322576"/>
            <a:ext cx="105150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6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不用安裝、不用連網路，檔案傳給誰都能直接打開來用</a:t>
            </a:r>
          </a:p>
        </p:txBody>
      </p:sp>
      <p:sp>
        <p:nvSpPr>
          <p:cNvPr id="313" name="Rectangle 10"/>
          <p:cNvSpPr/>
          <p:nvPr/>
        </p:nvSpPr>
        <p:spPr>
          <a:xfrm>
            <a:off x="685798" y="2848864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1"/>
          <p:cNvSpPr txBox="1"/>
          <p:nvPr/>
        </p:nvSpPr>
        <p:spPr>
          <a:xfrm>
            <a:off x="978405" y="2757422"/>
            <a:ext cx="105150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6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用樹狀結構把工作拆項目，最多五層，雙擊就能改標題，也能直接拖曳搬位置</a:t>
            </a:r>
          </a:p>
        </p:txBody>
      </p:sp>
      <p:sp>
        <p:nvSpPr>
          <p:cNvPr id="315" name="Rectangle 12"/>
          <p:cNvSpPr/>
          <p:nvPr/>
        </p:nvSpPr>
        <p:spPr>
          <a:xfrm>
            <a:off x="685798" y="3283710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TextBox 13"/>
          <p:cNvSpPr txBox="1"/>
          <p:nvPr/>
        </p:nvSpPr>
        <p:spPr>
          <a:xfrm>
            <a:off x="978405" y="3192271"/>
            <a:ext cx="105150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6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上層的完成狀態由下層自動算出來，不能手動亂填——這個設計後來每一代都留著</a:t>
            </a:r>
          </a:p>
        </p:txBody>
      </p:sp>
      <p:sp>
        <p:nvSpPr>
          <p:cNvPr id="317" name="Rectangle 14"/>
          <p:cNvSpPr/>
          <p:nvPr/>
        </p:nvSpPr>
        <p:spPr>
          <a:xfrm>
            <a:off x="685798" y="3718559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TextBox 15"/>
          <p:cNvSpPr txBox="1"/>
          <p:nvPr/>
        </p:nvSpPr>
        <p:spPr>
          <a:xfrm>
            <a:off x="978405" y="3627118"/>
            <a:ext cx="105150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6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可以匯出入 Excel／CSV，銜接大家原本就在用的檔案流程</a:t>
            </a:r>
          </a:p>
        </p:txBody>
      </p:sp>
      <p:sp>
        <p:nvSpPr>
          <p:cNvPr id="319" name="Rectangle 16"/>
          <p:cNvSpPr/>
          <p:nvPr/>
        </p:nvSpPr>
        <p:spPr>
          <a:xfrm>
            <a:off x="685800" y="4153406"/>
            <a:ext cx="10807659" cy="640086"/>
          </a:xfrm>
          <a:prstGeom prst="rect">
            <a:avLst/>
          </a:prstGeom>
          <a:solidFill>
            <a:srgbClr val="0B11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17"/>
          <p:cNvSpPr txBox="1"/>
          <p:nvPr/>
        </p:nvSpPr>
        <p:spPr>
          <a:xfrm>
            <a:off x="914398" y="4226559"/>
            <a:ext cx="292608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7DE3F0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這一代還留著，可以直接玩：</a:t>
            </a:r>
          </a:p>
        </p:txBody>
      </p:sp>
      <p:sp>
        <p:nvSpPr>
          <p:cNvPr id="321" name="TextBox 18"/>
          <p:cNvSpPr txBox="1"/>
          <p:nvPr/>
        </p:nvSpPr>
        <p:spPr>
          <a:xfrm>
            <a:off x="3886198" y="4226559"/>
            <a:ext cx="74243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https://lingaoscar.github.io/WbsScaff/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1"/>
          <p:cNvSpPr txBox="1"/>
          <p:nvPr/>
        </p:nvSpPr>
        <p:spPr>
          <a:xfrm>
            <a:off x="685800" y="54864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第一代 · 畫面</a:t>
            </a:r>
          </a:p>
        </p:txBody>
      </p:sp>
      <p:sp>
        <p:nvSpPr>
          <p:cNvPr id="324" name="TextBox 2"/>
          <p:cNvSpPr txBox="1"/>
          <p:nvPr/>
        </p:nvSpPr>
        <p:spPr>
          <a:xfrm>
            <a:off x="685800" y="914400"/>
            <a:ext cx="1080765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WbsScaff：離線 WBS 樹狀編輯器</a:t>
            </a:r>
          </a:p>
        </p:txBody>
      </p:sp>
      <p:sp>
        <p:nvSpPr>
          <p:cNvPr id="325" name="Connector 3"/>
          <p:cNvSpPr/>
          <p:nvPr/>
        </p:nvSpPr>
        <p:spPr>
          <a:xfrm>
            <a:off x="685796" y="1572766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" name="Oval 4"/>
          <p:cNvSpPr/>
          <p:nvPr/>
        </p:nvSpPr>
        <p:spPr>
          <a:xfrm>
            <a:off x="658368" y="154533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5"/>
          <p:cNvSpPr/>
          <p:nvPr/>
        </p:nvSpPr>
        <p:spPr>
          <a:xfrm>
            <a:off x="106984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6"/>
          <p:cNvSpPr/>
          <p:nvPr/>
        </p:nvSpPr>
        <p:spPr>
          <a:xfrm>
            <a:off x="148132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Rectangle 7"/>
          <p:cNvSpPr/>
          <p:nvPr/>
        </p:nvSpPr>
        <p:spPr>
          <a:xfrm>
            <a:off x="2889224" y="1975103"/>
            <a:ext cx="6400810" cy="404165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30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44092" y="2029966"/>
            <a:ext cx="6291073" cy="3931924"/>
          </a:xfrm>
          <a:prstGeom prst="rect">
            <a:avLst/>
          </a:prstGeom>
          <a:ln w="12700">
            <a:miter lim="400000"/>
          </a:ln>
        </p:spPr>
      </p:pic>
      <p:sp>
        <p:nvSpPr>
          <p:cNvPr id="331" name="Rectangle 9"/>
          <p:cNvSpPr/>
          <p:nvPr/>
        </p:nvSpPr>
        <p:spPr>
          <a:xfrm>
            <a:off x="2889229" y="1975103"/>
            <a:ext cx="310902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Rectangle 10"/>
          <p:cNvSpPr/>
          <p:nvPr/>
        </p:nvSpPr>
        <p:spPr>
          <a:xfrm>
            <a:off x="2889229" y="1975103"/>
            <a:ext cx="54870" cy="310902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35" name="Rounded Rectangle 11"/>
          <p:cNvGrpSpPr/>
          <p:nvPr/>
        </p:nvGrpSpPr>
        <p:grpSpPr>
          <a:xfrm>
            <a:off x="2944085" y="6126475"/>
            <a:ext cx="3986798" cy="310910"/>
            <a:chOff x="0" y="0"/>
            <a:chExt cx="3986797" cy="310908"/>
          </a:xfrm>
        </p:grpSpPr>
        <p:sp>
          <p:nvSpPr>
            <p:cNvPr id="333" name="圓角矩形"/>
            <p:cNvSpPr/>
            <p:nvPr/>
          </p:nvSpPr>
          <p:spPr>
            <a:xfrm>
              <a:off x="-1" y="-1"/>
              <a:ext cx="3986798" cy="31090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4" name="打開瀏覽器就是一支完整的工具，不用裝任何東西"/>
            <p:cNvSpPr txBox="1"/>
            <p:nvPr/>
          </p:nvSpPr>
          <p:spPr>
            <a:xfrm>
              <a:off x="310641" y="47498"/>
              <a:ext cx="3365501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打開瀏覽器就是一支完整的工具，不用裝任何東西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第二代 · SPRING-WBSSCAFF</a:t>
            </a:r>
          </a:p>
        </p:txBody>
      </p:sp>
      <p:sp>
        <p:nvSpPr>
          <p:cNvPr id="338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搬上網路，變成大家一起用的系統</a:t>
            </a:r>
          </a:p>
        </p:txBody>
      </p:sp>
      <p:sp>
        <p:nvSpPr>
          <p:cNvPr id="339" name="TextBox 3"/>
          <p:cNvSpPr txBox="1"/>
          <p:nvPr/>
        </p:nvSpPr>
        <p:spPr>
          <a:xfrm>
            <a:off x="685800" y="1664205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2026-06-19 → 07-03</a:t>
            </a:r>
          </a:p>
        </p:txBody>
      </p:sp>
      <p:sp>
        <p:nvSpPr>
          <p:cNvPr id="340" name="Connector 4"/>
          <p:cNvSpPr/>
          <p:nvPr/>
        </p:nvSpPr>
        <p:spPr>
          <a:xfrm>
            <a:off x="685796" y="204825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1" name="Oval 5"/>
          <p:cNvSpPr/>
          <p:nvPr/>
        </p:nvSpPr>
        <p:spPr>
          <a:xfrm>
            <a:off x="658368" y="2020822"/>
            <a:ext cx="54864" cy="54868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6"/>
          <p:cNvSpPr/>
          <p:nvPr/>
        </p:nvSpPr>
        <p:spPr>
          <a:xfrm>
            <a:off x="1069847" y="2020822"/>
            <a:ext cx="54875" cy="54868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7"/>
          <p:cNvSpPr/>
          <p:nvPr/>
        </p:nvSpPr>
        <p:spPr>
          <a:xfrm>
            <a:off x="1481327" y="2020822"/>
            <a:ext cx="54875" cy="54868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Rectangle 8"/>
          <p:cNvSpPr/>
          <p:nvPr/>
        </p:nvSpPr>
        <p:spPr>
          <a:xfrm>
            <a:off x="685798" y="2596894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9"/>
          <p:cNvSpPr txBox="1"/>
          <p:nvPr/>
        </p:nvSpPr>
        <p:spPr>
          <a:xfrm>
            <a:off x="978405" y="2505455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從「自己電腦上的小工具」變成「打開瀏覽器就能用、資料存在同一個地方」</a:t>
            </a:r>
          </a:p>
        </p:txBody>
      </p:sp>
      <p:sp>
        <p:nvSpPr>
          <p:cNvPr id="346" name="Rectangle 10"/>
          <p:cNvSpPr/>
          <p:nvPr/>
        </p:nvSpPr>
        <p:spPr>
          <a:xfrm>
            <a:off x="685798" y="3049777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11"/>
          <p:cNvSpPr txBox="1"/>
          <p:nvPr/>
        </p:nvSpPr>
        <p:spPr>
          <a:xfrm>
            <a:off x="978405" y="2958338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加了登入，也把部門的界線做進去：不同科別看到的東西不一樣</a:t>
            </a:r>
          </a:p>
        </p:txBody>
      </p:sp>
      <p:sp>
        <p:nvSpPr>
          <p:cNvPr id="348" name="Rectangle 12"/>
          <p:cNvSpPr/>
          <p:nvPr/>
        </p:nvSpPr>
        <p:spPr>
          <a:xfrm>
            <a:off x="685798" y="3502659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13"/>
          <p:cNvSpPr txBox="1"/>
          <p:nvPr/>
        </p:nvSpPr>
        <p:spPr>
          <a:xfrm>
            <a:off x="978405" y="3411220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多人同時編輯同一張表，別人改了什麼，畫面會即時跟著動</a:t>
            </a:r>
          </a:p>
        </p:txBody>
      </p:sp>
      <p:sp>
        <p:nvSpPr>
          <p:cNvPr id="350" name="Rectangle 14"/>
          <p:cNvSpPr/>
          <p:nvPr/>
        </p:nvSpPr>
        <p:spPr>
          <a:xfrm>
            <a:off x="685798" y="3955541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15"/>
          <p:cNvSpPr txBox="1"/>
          <p:nvPr/>
        </p:nvSpPr>
        <p:spPr>
          <a:xfrm>
            <a:off x="978405" y="3864102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這一步是整條路上第一次真正的升級：從單機檔案變成有帳號、有資料庫的正式系統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Box 1"/>
          <p:cNvSpPr txBox="1"/>
          <p:nvPr/>
        </p:nvSpPr>
        <p:spPr>
          <a:xfrm>
            <a:off x="685800" y="54864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第二代 · 畫面</a:t>
            </a:r>
          </a:p>
        </p:txBody>
      </p:sp>
      <p:sp>
        <p:nvSpPr>
          <p:cNvPr id="354" name="TextBox 2"/>
          <p:cNvSpPr txBox="1"/>
          <p:nvPr/>
        </p:nvSpPr>
        <p:spPr>
          <a:xfrm>
            <a:off x="685800" y="914400"/>
            <a:ext cx="1080765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Spring-WbsScaff：多人版 WBS 樹狀畫面</a:t>
            </a:r>
          </a:p>
        </p:txBody>
      </p:sp>
      <p:sp>
        <p:nvSpPr>
          <p:cNvPr id="355" name="Connector 3"/>
          <p:cNvSpPr/>
          <p:nvPr/>
        </p:nvSpPr>
        <p:spPr>
          <a:xfrm>
            <a:off x="685796" y="1572766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6" name="Oval 4"/>
          <p:cNvSpPr/>
          <p:nvPr/>
        </p:nvSpPr>
        <p:spPr>
          <a:xfrm>
            <a:off x="658368" y="154533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5"/>
          <p:cNvSpPr/>
          <p:nvPr/>
        </p:nvSpPr>
        <p:spPr>
          <a:xfrm>
            <a:off x="106984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6"/>
          <p:cNvSpPr/>
          <p:nvPr/>
        </p:nvSpPr>
        <p:spPr>
          <a:xfrm>
            <a:off x="148132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Rectangle 7"/>
          <p:cNvSpPr/>
          <p:nvPr/>
        </p:nvSpPr>
        <p:spPr>
          <a:xfrm>
            <a:off x="4899228" y="1975103"/>
            <a:ext cx="2380807" cy="404165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60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54092" y="2029966"/>
            <a:ext cx="2271079" cy="3931924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Rectangle 9"/>
          <p:cNvSpPr/>
          <p:nvPr/>
        </p:nvSpPr>
        <p:spPr>
          <a:xfrm>
            <a:off x="4899228" y="1975103"/>
            <a:ext cx="310902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Rectangle 10"/>
          <p:cNvSpPr/>
          <p:nvPr/>
        </p:nvSpPr>
        <p:spPr>
          <a:xfrm>
            <a:off x="4899228" y="1975103"/>
            <a:ext cx="54870" cy="310902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65" name="Rounded Rectangle 11"/>
          <p:cNvGrpSpPr/>
          <p:nvPr/>
        </p:nvGrpSpPr>
        <p:grpSpPr>
          <a:xfrm>
            <a:off x="4954088" y="6126475"/>
            <a:ext cx="4809758" cy="310910"/>
            <a:chOff x="-1" y="0"/>
            <a:chExt cx="4809756" cy="310908"/>
          </a:xfrm>
        </p:grpSpPr>
        <p:sp>
          <p:nvSpPr>
            <p:cNvPr id="363" name="圓角矩形"/>
            <p:cNvSpPr/>
            <p:nvPr/>
          </p:nvSpPr>
          <p:spPr>
            <a:xfrm>
              <a:off x="-2" y="-1"/>
              <a:ext cx="4809758" cy="31090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64" name="節點內容更貼近真實場景：主機申請、防火牆開通、資安檢核"/>
            <p:cNvSpPr txBox="1"/>
            <p:nvPr/>
          </p:nvSpPr>
          <p:spPr>
            <a:xfrm>
              <a:off x="341119" y="47498"/>
              <a:ext cx="4127501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節點內容更貼近真實場景：主機申請、防火牆開通、資安檢核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第三代 · SPRING-TASKFLOW</a:t>
            </a:r>
          </a:p>
        </p:txBody>
      </p:sp>
      <p:sp>
        <p:nvSpPr>
          <p:cNvPr id="368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把樹狀改成看板，用拖的就好</a:t>
            </a:r>
          </a:p>
        </p:txBody>
      </p:sp>
      <p:sp>
        <p:nvSpPr>
          <p:cNvPr id="369" name="TextBox 3"/>
          <p:cNvSpPr txBox="1"/>
          <p:nvPr/>
        </p:nvSpPr>
        <p:spPr>
          <a:xfrm>
            <a:off x="685800" y="1664205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2026-07-03 → 07-08</a:t>
            </a:r>
          </a:p>
        </p:txBody>
      </p:sp>
      <p:sp>
        <p:nvSpPr>
          <p:cNvPr id="370" name="Connector 4"/>
          <p:cNvSpPr/>
          <p:nvPr/>
        </p:nvSpPr>
        <p:spPr>
          <a:xfrm>
            <a:off x="685796" y="204825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1" name="Oval 5"/>
          <p:cNvSpPr/>
          <p:nvPr/>
        </p:nvSpPr>
        <p:spPr>
          <a:xfrm>
            <a:off x="658368" y="2020822"/>
            <a:ext cx="54864" cy="54868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6"/>
          <p:cNvSpPr/>
          <p:nvPr/>
        </p:nvSpPr>
        <p:spPr>
          <a:xfrm>
            <a:off x="1069847" y="2020822"/>
            <a:ext cx="54875" cy="54868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7"/>
          <p:cNvSpPr/>
          <p:nvPr/>
        </p:nvSpPr>
        <p:spPr>
          <a:xfrm>
            <a:off x="1481327" y="2020822"/>
            <a:ext cx="54875" cy="54868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Rectangle 8"/>
          <p:cNvSpPr/>
          <p:nvPr/>
        </p:nvSpPr>
        <p:spPr>
          <a:xfrm>
            <a:off x="685798" y="2596894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TextBox 9"/>
          <p:cNvSpPr txBox="1"/>
          <p:nvPr/>
        </p:nvSpPr>
        <p:spPr>
          <a:xfrm>
            <a:off x="978405" y="2505455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畫面換成待辦／進行中／完成三欄，工作變成一張張卡片，用拖的改狀態</a:t>
            </a:r>
          </a:p>
        </p:txBody>
      </p:sp>
      <p:sp>
        <p:nvSpPr>
          <p:cNvPr id="376" name="Rectangle 10"/>
          <p:cNvSpPr/>
          <p:nvPr/>
        </p:nvSpPr>
        <p:spPr>
          <a:xfrm>
            <a:off x="685798" y="3049777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11"/>
          <p:cNvSpPr txBox="1"/>
          <p:nvPr/>
        </p:nvSpPr>
        <p:spPr>
          <a:xfrm>
            <a:off x="978405" y="2958338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卡片可以指派給人、設優先度跟日期，一眼看得出誰手上有什麼</a:t>
            </a:r>
          </a:p>
        </p:txBody>
      </p:sp>
      <p:sp>
        <p:nvSpPr>
          <p:cNvPr id="378" name="Rectangle 12"/>
          <p:cNvSpPr/>
          <p:nvPr/>
        </p:nvSpPr>
        <p:spPr>
          <a:xfrm>
            <a:off x="685798" y="3502659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13"/>
          <p:cNvSpPr txBox="1"/>
          <p:nvPr/>
        </p:nvSpPr>
        <p:spPr>
          <a:xfrm>
            <a:off x="978405" y="3411220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登入、部門權限、頁面外框直接沿用上一代，省下重新驗證的時間</a:t>
            </a:r>
          </a:p>
        </p:txBody>
      </p:sp>
      <p:sp>
        <p:nvSpPr>
          <p:cNvPr id="380" name="Rectangle 14"/>
          <p:cNvSpPr/>
          <p:nvPr/>
        </p:nvSpPr>
        <p:spPr>
          <a:xfrm>
            <a:off x="685798" y="3955541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TextBox 15"/>
          <p:cNvSpPr txBox="1"/>
          <p:nvPr/>
        </p:nvSpPr>
        <p:spPr>
          <a:xfrm>
            <a:off x="978405" y="3864102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做完這一步，手上同時有「樹」跟「看板」兩套東西——也就是後面想合併的起因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Box 1"/>
          <p:cNvSpPr txBox="1"/>
          <p:nvPr/>
        </p:nvSpPr>
        <p:spPr>
          <a:xfrm>
            <a:off x="685800" y="54864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第三代 · 畫面</a:t>
            </a:r>
          </a:p>
        </p:txBody>
      </p:sp>
      <p:sp>
        <p:nvSpPr>
          <p:cNvPr id="384" name="TextBox 2"/>
          <p:cNvSpPr txBox="1"/>
          <p:nvPr/>
        </p:nvSpPr>
        <p:spPr>
          <a:xfrm>
            <a:off x="685800" y="914400"/>
            <a:ext cx="1080765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Spring-TaskFlow：待辦／進行中／完成三欄看板</a:t>
            </a:r>
          </a:p>
        </p:txBody>
      </p:sp>
      <p:sp>
        <p:nvSpPr>
          <p:cNvPr id="385" name="Connector 3"/>
          <p:cNvSpPr/>
          <p:nvPr/>
        </p:nvSpPr>
        <p:spPr>
          <a:xfrm>
            <a:off x="685796" y="1572766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Oval 4"/>
          <p:cNvSpPr/>
          <p:nvPr/>
        </p:nvSpPr>
        <p:spPr>
          <a:xfrm>
            <a:off x="658368" y="154533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Oval 5"/>
          <p:cNvSpPr/>
          <p:nvPr/>
        </p:nvSpPr>
        <p:spPr>
          <a:xfrm>
            <a:off x="106984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Oval 6"/>
          <p:cNvSpPr/>
          <p:nvPr/>
        </p:nvSpPr>
        <p:spPr>
          <a:xfrm>
            <a:off x="148132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Rectangle 7"/>
          <p:cNvSpPr/>
          <p:nvPr/>
        </p:nvSpPr>
        <p:spPr>
          <a:xfrm>
            <a:off x="3176538" y="1975103"/>
            <a:ext cx="5826181" cy="404165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90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1406" y="2029966"/>
            <a:ext cx="5716445" cy="3931924"/>
          </a:xfrm>
          <a:prstGeom prst="rect">
            <a:avLst/>
          </a:prstGeom>
          <a:ln w="12700">
            <a:miter lim="400000"/>
          </a:ln>
        </p:spPr>
      </p:pic>
      <p:sp>
        <p:nvSpPr>
          <p:cNvPr id="391" name="Rectangle 9"/>
          <p:cNvSpPr/>
          <p:nvPr/>
        </p:nvSpPr>
        <p:spPr>
          <a:xfrm>
            <a:off x="3176540" y="1975103"/>
            <a:ext cx="310902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Rectangle 10"/>
          <p:cNvSpPr/>
          <p:nvPr/>
        </p:nvSpPr>
        <p:spPr>
          <a:xfrm>
            <a:off x="3176540" y="1975103"/>
            <a:ext cx="54870" cy="310902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95" name="Rounded Rectangle 11"/>
          <p:cNvGrpSpPr/>
          <p:nvPr/>
        </p:nvGrpSpPr>
        <p:grpSpPr>
          <a:xfrm>
            <a:off x="3231399" y="6126475"/>
            <a:ext cx="5138942" cy="310910"/>
            <a:chOff x="-1" y="0"/>
            <a:chExt cx="5138940" cy="310908"/>
          </a:xfrm>
        </p:grpSpPr>
        <p:sp>
          <p:nvSpPr>
            <p:cNvPr id="393" name="圓角矩形"/>
            <p:cNvSpPr/>
            <p:nvPr/>
          </p:nvSpPr>
          <p:spPr>
            <a:xfrm>
              <a:off x="-2" y="-1"/>
              <a:ext cx="5138942" cy="31090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4" name="從「一棵樹」變成「三個欄位＋卡片」，成為最終系統的核心體驗"/>
            <p:cNvSpPr txBox="1"/>
            <p:nvPr/>
          </p:nvSpPr>
          <p:spPr>
            <a:xfrm>
              <a:off x="353313" y="47498"/>
              <a:ext cx="4432301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從「一棵樹」變成「三個欄位＋卡片」，成為最終系統的核心體驗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Box 1"/>
          <p:cNvSpPr txBox="1"/>
          <p:nvPr/>
        </p:nvSpPr>
        <p:spPr>
          <a:xfrm>
            <a:off x="685800" y="502919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為什麼要重構</a:t>
            </a:r>
          </a:p>
        </p:txBody>
      </p:sp>
      <p:sp>
        <p:nvSpPr>
          <p:cNvPr id="398" name="TextBox 2"/>
          <p:cNvSpPr txBox="1"/>
          <p:nvPr/>
        </p:nvSpPr>
        <p:spPr>
          <a:xfrm>
            <a:off x="685800" y="868680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兩個都好用的功能，合在一起卻打架</a:t>
            </a:r>
          </a:p>
        </p:txBody>
      </p:sp>
      <p:sp>
        <p:nvSpPr>
          <p:cNvPr id="399" name="TextBox 3"/>
          <p:cNvSpPr txBox="1"/>
          <p:nvPr/>
        </p:nvSpPr>
        <p:spPr>
          <a:xfrm>
            <a:off x="685800" y="1527047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不是技術寫不出來，是介面跟使用體驗卡住了</a:t>
            </a:r>
          </a:p>
        </p:txBody>
      </p:sp>
      <p:sp>
        <p:nvSpPr>
          <p:cNvPr id="400" name="Connector 4"/>
          <p:cNvSpPr/>
          <p:nvPr/>
        </p:nvSpPr>
        <p:spPr>
          <a:xfrm>
            <a:off x="685796" y="1911094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Oval 5"/>
          <p:cNvSpPr/>
          <p:nvPr/>
        </p:nvSpPr>
        <p:spPr>
          <a:xfrm>
            <a:off x="658368" y="1883664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Oval 6"/>
          <p:cNvSpPr/>
          <p:nvPr/>
        </p:nvSpPr>
        <p:spPr>
          <a:xfrm>
            <a:off x="106984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Oval 7"/>
          <p:cNvSpPr/>
          <p:nvPr/>
        </p:nvSpPr>
        <p:spPr>
          <a:xfrm>
            <a:off x="148132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4" name="Rectangle 8"/>
          <p:cNvSpPr/>
          <p:nvPr/>
        </p:nvSpPr>
        <p:spPr>
          <a:xfrm>
            <a:off x="685798" y="2414016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TextBox 9"/>
          <p:cNvSpPr txBox="1"/>
          <p:nvPr/>
        </p:nvSpPr>
        <p:spPr>
          <a:xfrm>
            <a:off x="978405" y="2322576"/>
            <a:ext cx="10515057" cy="581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WbsScaff 做得好的是樹狀規劃；Spring-TaskFlow 做得好的是看板指派——WbsFlow 把兩者硬合併，結果要先搭骨架才能建任務；使用者實際要的是先建任務、事後再歸類，所以拆掉樹狀階層，任務改成天生獨立</a:t>
            </a:r>
          </a:p>
        </p:txBody>
      </p:sp>
      <p:sp>
        <p:nvSpPr>
          <p:cNvPr id="406" name="Rectangle 10"/>
          <p:cNvSpPr/>
          <p:nvPr/>
        </p:nvSpPr>
        <p:spPr>
          <a:xfrm>
            <a:off x="685795" y="3408045"/>
            <a:ext cx="4946639" cy="3038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Rectangle 11"/>
          <p:cNvSpPr/>
          <p:nvPr/>
        </p:nvSpPr>
        <p:spPr>
          <a:xfrm>
            <a:off x="685795" y="3408045"/>
            <a:ext cx="4946639" cy="384054"/>
          </a:xfrm>
          <a:prstGeom prst="rect">
            <a:avLst/>
          </a:prstGeom>
          <a:solidFill>
            <a:srgbClr val="5B648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TextBox 12"/>
          <p:cNvSpPr txBox="1"/>
          <p:nvPr/>
        </p:nvSpPr>
        <p:spPr>
          <a:xfrm>
            <a:off x="685795" y="3485769"/>
            <a:ext cx="494663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之前 · WBS 樹狀規劃</a:t>
            </a:r>
          </a:p>
        </p:txBody>
      </p:sp>
      <p:sp>
        <p:nvSpPr>
          <p:cNvPr id="409" name="Rectangle 13"/>
          <p:cNvSpPr/>
          <p:nvPr/>
        </p:nvSpPr>
        <p:spPr>
          <a:xfrm>
            <a:off x="6546828" y="3408045"/>
            <a:ext cx="4946636" cy="3038481"/>
          </a:xfrm>
          <a:prstGeom prst="rect">
            <a:avLst/>
          </a:prstGeom>
          <a:solidFill>
            <a:srgbClr val="0B1130"/>
          </a:solidFill>
          <a:ln w="15875">
            <a:solidFill>
              <a:srgbClr val="22D3EE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Rectangle 14"/>
          <p:cNvSpPr/>
          <p:nvPr/>
        </p:nvSpPr>
        <p:spPr>
          <a:xfrm>
            <a:off x="6546828" y="3408045"/>
            <a:ext cx="4946636" cy="384054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TextBox 15"/>
          <p:cNvSpPr txBox="1"/>
          <p:nvPr/>
        </p:nvSpPr>
        <p:spPr>
          <a:xfrm>
            <a:off x="6546828" y="3485769"/>
            <a:ext cx="494663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現在 · 任務導向看板</a:t>
            </a:r>
          </a:p>
        </p:txBody>
      </p:sp>
      <p:sp>
        <p:nvSpPr>
          <p:cNvPr id="412" name="Connector 16"/>
          <p:cNvSpPr/>
          <p:nvPr/>
        </p:nvSpPr>
        <p:spPr>
          <a:xfrm>
            <a:off x="5742156" y="4927282"/>
            <a:ext cx="694950" cy="6"/>
          </a:xfrm>
          <a:prstGeom prst="line">
            <a:avLst/>
          </a:prstGeom>
          <a:ln w="28575">
            <a:solidFill>
              <a:srgbClr val="F5A52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Isosceles Triangle 17"/>
          <p:cNvSpPr/>
          <p:nvPr/>
        </p:nvSpPr>
        <p:spPr>
          <a:xfrm rot="5400000">
            <a:off x="6290795" y="4835840"/>
            <a:ext cx="182886" cy="182886"/>
          </a:xfrm>
          <a:prstGeom prst="triangl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14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19272" y="3956684"/>
            <a:ext cx="1279685" cy="221551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47732" y="3956684"/>
            <a:ext cx="3544824" cy="22155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Box 1"/>
          <p:cNvSpPr txBox="1"/>
          <p:nvPr/>
        </p:nvSpPr>
        <p:spPr>
          <a:xfrm>
            <a:off x="685800" y="54864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我怎麼用 AI</a:t>
            </a:r>
          </a:p>
        </p:txBody>
      </p:sp>
      <p:sp>
        <p:nvSpPr>
          <p:cNvPr id="418" name="TextBox 2"/>
          <p:cNvSpPr txBox="1"/>
          <p:nvPr/>
        </p:nvSpPr>
        <p:spPr>
          <a:xfrm>
            <a:off x="685800" y="914400"/>
            <a:ext cx="1080765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實際的做法，講給有興趣的同仁參考</a:t>
            </a:r>
          </a:p>
        </p:txBody>
      </p:sp>
      <p:sp>
        <p:nvSpPr>
          <p:cNvPr id="419" name="Connector 3"/>
          <p:cNvSpPr/>
          <p:nvPr/>
        </p:nvSpPr>
        <p:spPr>
          <a:xfrm>
            <a:off x="685796" y="1572766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Oval 4"/>
          <p:cNvSpPr/>
          <p:nvPr/>
        </p:nvSpPr>
        <p:spPr>
          <a:xfrm>
            <a:off x="658368" y="154533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Oval 5"/>
          <p:cNvSpPr/>
          <p:nvPr/>
        </p:nvSpPr>
        <p:spPr>
          <a:xfrm>
            <a:off x="106984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Oval 6"/>
          <p:cNvSpPr/>
          <p:nvPr/>
        </p:nvSpPr>
        <p:spPr>
          <a:xfrm>
            <a:off x="148132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Rectangle 7"/>
          <p:cNvSpPr/>
          <p:nvPr/>
        </p:nvSpPr>
        <p:spPr>
          <a:xfrm>
            <a:off x="685798" y="207568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TextBox 8"/>
          <p:cNvSpPr txBox="1"/>
          <p:nvPr/>
        </p:nvSpPr>
        <p:spPr>
          <a:xfrm>
            <a:off x="978405" y="1984248"/>
            <a:ext cx="1051505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動手前，我會先讓 AI 把舊專案的程式碼讀過一遍，比我自己憑印象猜準很多</a:t>
            </a:r>
          </a:p>
        </p:txBody>
      </p:sp>
      <p:sp>
        <p:nvSpPr>
          <p:cNvPr id="425" name="Rectangle 9"/>
          <p:cNvSpPr/>
          <p:nvPr/>
        </p:nvSpPr>
        <p:spPr>
          <a:xfrm>
            <a:off x="685798" y="2428619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10"/>
          <p:cNvSpPr txBox="1"/>
          <p:nvPr/>
        </p:nvSpPr>
        <p:spPr>
          <a:xfrm>
            <a:off x="978405" y="2337180"/>
            <a:ext cx="1051505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一個任務開一個新對話，不讓前面累積的雜訊影響判斷</a:t>
            </a:r>
          </a:p>
        </p:txBody>
      </p:sp>
      <p:sp>
        <p:nvSpPr>
          <p:cNvPr id="427" name="Rectangle 11"/>
          <p:cNvSpPr/>
          <p:nvPr/>
        </p:nvSpPr>
        <p:spPr>
          <a:xfrm>
            <a:off x="685798" y="2781554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12"/>
          <p:cNvSpPr txBox="1"/>
          <p:nvPr/>
        </p:nvSpPr>
        <p:spPr>
          <a:xfrm>
            <a:off x="978405" y="2690114"/>
            <a:ext cx="1051505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寫的跟審的分開：同一段東西，我另外開一個 AI 來挑毛病，不讓它自己審自己</a:t>
            </a:r>
          </a:p>
        </p:txBody>
      </p:sp>
      <p:sp>
        <p:nvSpPr>
          <p:cNvPr id="429" name="Rectangle 13"/>
          <p:cNvSpPr/>
          <p:nvPr/>
        </p:nvSpPr>
        <p:spPr>
          <a:xfrm>
            <a:off x="685798" y="3134485"/>
            <a:ext cx="100591" cy="100591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TextBox 14"/>
          <p:cNvSpPr txBox="1"/>
          <p:nvPr/>
        </p:nvSpPr>
        <p:spPr>
          <a:xfrm>
            <a:off x="978405" y="3043046"/>
            <a:ext cx="1051505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簡單的抄寫用便宜快的，需要判斷的才換強的，額度留給真的難的地方</a:t>
            </a:r>
          </a:p>
        </p:txBody>
      </p:sp>
      <p:sp>
        <p:nvSpPr>
          <p:cNvPr id="431" name="Rectangle 15"/>
          <p:cNvSpPr/>
          <p:nvPr/>
        </p:nvSpPr>
        <p:spPr>
          <a:xfrm>
            <a:off x="685798" y="3487420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TextBox 16"/>
          <p:cNvSpPr txBox="1"/>
          <p:nvPr/>
        </p:nvSpPr>
        <p:spPr>
          <a:xfrm>
            <a:off x="978405" y="3395979"/>
            <a:ext cx="1051505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進度另外記一份檔案，對話斷掉重開，看記錄就能接著做</a:t>
            </a:r>
          </a:p>
        </p:txBody>
      </p:sp>
      <p:sp>
        <p:nvSpPr>
          <p:cNvPr id="433" name="Rectangle 17"/>
          <p:cNvSpPr/>
          <p:nvPr/>
        </p:nvSpPr>
        <p:spPr>
          <a:xfrm>
            <a:off x="685800" y="3794633"/>
            <a:ext cx="10807659" cy="566934"/>
          </a:xfrm>
          <a:prstGeom prst="rect">
            <a:avLst/>
          </a:prstGeom>
          <a:solidFill>
            <a:srgbClr val="0B11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Rectangle 18"/>
          <p:cNvSpPr/>
          <p:nvPr/>
        </p:nvSpPr>
        <p:spPr>
          <a:xfrm>
            <a:off x="685798" y="3794633"/>
            <a:ext cx="73159" cy="566934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19"/>
          <p:cNvSpPr txBox="1"/>
          <p:nvPr/>
        </p:nvSpPr>
        <p:spPr>
          <a:xfrm>
            <a:off x="941830" y="3963796"/>
            <a:ext cx="1035046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「不讓它自己審自己」這條，後來救回過好幾次差點出包的東西。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踩過的坑</a:t>
            </a:r>
          </a:p>
        </p:txBody>
      </p:sp>
      <p:sp>
        <p:nvSpPr>
          <p:cNvPr id="438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它說沒問題，實際不一定</a:t>
            </a:r>
          </a:p>
        </p:txBody>
      </p:sp>
      <p:sp>
        <p:nvSpPr>
          <p:cNvPr id="439" name="Connector 3"/>
          <p:cNvSpPr/>
          <p:nvPr/>
        </p:nvSpPr>
        <p:spPr>
          <a:xfrm>
            <a:off x="685796" y="166420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" name="Oval 4"/>
          <p:cNvSpPr/>
          <p:nvPr/>
        </p:nvSpPr>
        <p:spPr>
          <a:xfrm>
            <a:off x="658368" y="163677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1" name="Oval 5"/>
          <p:cNvSpPr/>
          <p:nvPr/>
        </p:nvSpPr>
        <p:spPr>
          <a:xfrm>
            <a:off x="106984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Oval 6"/>
          <p:cNvSpPr/>
          <p:nvPr/>
        </p:nvSpPr>
        <p:spPr>
          <a:xfrm>
            <a:off x="148132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Rectangle 7"/>
          <p:cNvSpPr/>
          <p:nvPr/>
        </p:nvSpPr>
        <p:spPr>
          <a:xfrm>
            <a:off x="685798" y="221284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TextBox 8"/>
          <p:cNvSpPr txBox="1"/>
          <p:nvPr/>
        </p:nvSpPr>
        <p:spPr>
          <a:xfrm>
            <a:off x="978405" y="2121405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後來養成習慣：可疑的結論不聽解釋，直接要求重現一次給我看</a:t>
            </a:r>
          </a:p>
        </p:txBody>
      </p:sp>
      <p:sp>
        <p:nvSpPr>
          <p:cNvPr id="445" name="Rectangle 9"/>
          <p:cNvSpPr/>
          <p:nvPr/>
        </p:nvSpPr>
        <p:spPr>
          <a:xfrm>
            <a:off x="685798" y="2665727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TextBox 10"/>
          <p:cNvSpPr txBox="1"/>
          <p:nvPr/>
        </p:nvSpPr>
        <p:spPr>
          <a:xfrm>
            <a:off x="978405" y="2574288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兩個印象比較深的例子：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1"/>
          <p:cNvSpPr txBox="1"/>
          <p:nvPr/>
        </p:nvSpPr>
        <p:spPr>
          <a:xfrm>
            <a:off x="685800" y="502919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真實對話紀錄 · 例子一</a:t>
            </a:r>
          </a:p>
        </p:txBody>
      </p:sp>
      <p:sp>
        <p:nvSpPr>
          <p:cNvPr id="449" name="TextBox 2"/>
          <p:cNvSpPr txBox="1"/>
          <p:nvPr/>
        </p:nvSpPr>
        <p:spPr>
          <a:xfrm>
            <a:off x="685800" y="868680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一句模糊指令，兩條互斥的路線</a:t>
            </a:r>
          </a:p>
        </p:txBody>
      </p:sp>
      <p:sp>
        <p:nvSpPr>
          <p:cNvPr id="450" name="TextBox 3"/>
          <p:cNvSpPr txBox="1"/>
          <p:nvPr/>
        </p:nvSpPr>
        <p:spPr>
          <a:xfrm>
            <a:off x="685800" y="1527047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任務導向重構開工前，我沒有直接動手，先把分岔路口攤開來問</a:t>
            </a:r>
          </a:p>
        </p:txBody>
      </p:sp>
      <p:sp>
        <p:nvSpPr>
          <p:cNvPr id="451" name="Connector 4"/>
          <p:cNvSpPr/>
          <p:nvPr/>
        </p:nvSpPr>
        <p:spPr>
          <a:xfrm>
            <a:off x="685796" y="1911094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2" name="Oval 5"/>
          <p:cNvSpPr/>
          <p:nvPr/>
        </p:nvSpPr>
        <p:spPr>
          <a:xfrm>
            <a:off x="658368" y="1883664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Oval 6"/>
          <p:cNvSpPr/>
          <p:nvPr/>
        </p:nvSpPr>
        <p:spPr>
          <a:xfrm>
            <a:off x="106984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Oval 7"/>
          <p:cNvSpPr/>
          <p:nvPr/>
        </p:nvSpPr>
        <p:spPr>
          <a:xfrm>
            <a:off x="148132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5" name="Rectangle 8"/>
          <p:cNvSpPr/>
          <p:nvPr/>
        </p:nvSpPr>
        <p:spPr>
          <a:xfrm>
            <a:off x="685800" y="2276855"/>
            <a:ext cx="10807659" cy="68580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Rectangle 9"/>
          <p:cNvSpPr/>
          <p:nvPr/>
        </p:nvSpPr>
        <p:spPr>
          <a:xfrm>
            <a:off x="685800" y="2276855"/>
            <a:ext cx="54864" cy="685806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TextBox 10"/>
          <p:cNvSpPr txBox="1"/>
          <p:nvPr/>
        </p:nvSpPr>
        <p:spPr>
          <a:xfrm>
            <a:off x="960119" y="2404872"/>
            <a:ext cx="914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你</a:t>
            </a:r>
          </a:p>
        </p:txBody>
      </p:sp>
      <p:sp>
        <p:nvSpPr>
          <p:cNvPr id="458" name="TextBox 11"/>
          <p:cNvSpPr txBox="1"/>
          <p:nvPr/>
        </p:nvSpPr>
        <p:spPr>
          <a:xfrm>
            <a:off x="960118" y="2660904"/>
            <a:ext cx="1025902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「請繼續完成系統建制」</a:t>
            </a:r>
          </a:p>
        </p:txBody>
      </p:sp>
      <p:sp>
        <p:nvSpPr>
          <p:cNvPr id="459" name="Rectangle 12"/>
          <p:cNvSpPr/>
          <p:nvPr/>
        </p:nvSpPr>
        <p:spPr>
          <a:xfrm>
            <a:off x="685800" y="3127248"/>
            <a:ext cx="10807659" cy="1645925"/>
          </a:xfrm>
          <a:prstGeom prst="rect">
            <a:avLst/>
          </a:prstGeom>
          <a:solidFill>
            <a:srgbClr val="0B1130"/>
          </a:solidFill>
          <a:ln w="12700">
            <a:solidFill>
              <a:srgbClr val="22D3EE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Rectangle 13"/>
          <p:cNvSpPr/>
          <p:nvPr/>
        </p:nvSpPr>
        <p:spPr>
          <a:xfrm>
            <a:off x="685800" y="3127248"/>
            <a:ext cx="54864" cy="1645925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1" name="TextBox 14"/>
          <p:cNvSpPr txBox="1"/>
          <p:nvPr/>
        </p:nvSpPr>
        <p:spPr>
          <a:xfrm>
            <a:off x="960119" y="3255264"/>
            <a:ext cx="914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我</a:t>
            </a:r>
          </a:p>
        </p:txBody>
      </p:sp>
      <p:sp>
        <p:nvSpPr>
          <p:cNvPr id="462" name="TextBox 15"/>
          <p:cNvSpPr txBox="1"/>
          <p:nvPr/>
        </p:nvSpPr>
        <p:spPr>
          <a:xfrm>
            <a:off x="960118" y="3511296"/>
            <a:ext cx="10259023" cy="81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pPr>
            <a:r>
              <a:t>「繼續完成系統建制」指的是哪個方向？兩者路線互斥（重構會移除現有樹編輯器）</a:t>
            </a:r>
          </a:p>
          <a:p>
            <a:pPr>
              <a:lnSpc>
                <a:spcPct val="120000"/>
              </a:lnSpc>
              <a:defRPr sz="12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pPr>
            <a:r>
              <a:t>① 執行任務導向重構（推薦）— 看板變預設首頁，移除舊三分頁</a:t>
            </a:r>
          </a:p>
          <a:p>
            <a:pPr>
              <a:lnSpc>
                <a:spcPct val="120000"/>
              </a:lnSpc>
              <a:defRPr sz="12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pPr>
            <a:r>
              <a:t>② 在現有 WBS 樹模型上補完 — 樹狀模型不變，把佔位符分頁做出來</a:t>
            </a:r>
          </a:p>
        </p:txBody>
      </p:sp>
      <p:sp>
        <p:nvSpPr>
          <p:cNvPr id="463" name="Rectangle 16"/>
          <p:cNvSpPr/>
          <p:nvPr/>
        </p:nvSpPr>
        <p:spPr>
          <a:xfrm>
            <a:off x="685800" y="4983479"/>
            <a:ext cx="10807659" cy="594366"/>
          </a:xfrm>
          <a:prstGeom prst="rect">
            <a:avLst/>
          </a:prstGeom>
          <a:solidFill>
            <a:srgbClr val="F7F8FC"/>
          </a:solidFill>
          <a:ln w="19050">
            <a:solidFill>
              <a:srgbClr val="F5A524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TextBox 17"/>
          <p:cNvSpPr txBox="1"/>
          <p:nvPr/>
        </p:nvSpPr>
        <p:spPr>
          <a:xfrm>
            <a:off x="914400" y="5172709"/>
            <a:ext cx="9144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結果</a:t>
            </a:r>
          </a:p>
        </p:txBody>
      </p:sp>
      <p:sp>
        <p:nvSpPr>
          <p:cNvPr id="465" name="TextBox 18"/>
          <p:cNvSpPr txBox="1"/>
          <p:nvPr/>
        </p:nvSpPr>
        <p:spPr>
          <a:xfrm>
            <a:off x="1737360" y="5172709"/>
            <a:ext cx="95275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選了①，後續做出 11 個任務、73 commits，104/104 測試通過，才有現在的 MissionBoard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Box 1"/>
          <p:cNvSpPr txBox="1"/>
          <p:nvPr/>
        </p:nvSpPr>
        <p:spPr>
          <a:xfrm>
            <a:off x="685800" y="502919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真實對話紀錄 · 例子二</a:t>
            </a:r>
          </a:p>
        </p:txBody>
      </p:sp>
      <p:sp>
        <p:nvSpPr>
          <p:cNvPr id="468" name="TextBox 2"/>
          <p:cNvSpPr txBox="1"/>
          <p:nvPr/>
        </p:nvSpPr>
        <p:spPr>
          <a:xfrm>
            <a:off x="685800" y="868680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獨立審查，抓到單一任務看不出來的問題</a:t>
            </a:r>
          </a:p>
        </p:txBody>
      </p:sp>
      <p:sp>
        <p:nvSpPr>
          <p:cNvPr id="469" name="TextBox 3"/>
          <p:cNvSpPr txBox="1"/>
          <p:nvPr/>
        </p:nvSpPr>
        <p:spPr>
          <a:xfrm>
            <a:off x="685800" y="1527047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11 個任務都各自過關後，另一顆最強模型做最終總體檢查</a:t>
            </a:r>
          </a:p>
        </p:txBody>
      </p:sp>
      <p:sp>
        <p:nvSpPr>
          <p:cNvPr id="470" name="Connector 4"/>
          <p:cNvSpPr/>
          <p:nvPr/>
        </p:nvSpPr>
        <p:spPr>
          <a:xfrm>
            <a:off x="685796" y="1911094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Oval 5"/>
          <p:cNvSpPr/>
          <p:nvPr/>
        </p:nvSpPr>
        <p:spPr>
          <a:xfrm>
            <a:off x="658368" y="1883664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Oval 6"/>
          <p:cNvSpPr/>
          <p:nvPr/>
        </p:nvSpPr>
        <p:spPr>
          <a:xfrm>
            <a:off x="106984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Oval 7"/>
          <p:cNvSpPr/>
          <p:nvPr/>
        </p:nvSpPr>
        <p:spPr>
          <a:xfrm>
            <a:off x="1481327" y="1883664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Rectangle 8"/>
          <p:cNvSpPr/>
          <p:nvPr/>
        </p:nvSpPr>
        <p:spPr>
          <a:xfrm>
            <a:off x="685800" y="2276855"/>
            <a:ext cx="10807659" cy="68580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Rectangle 9"/>
          <p:cNvSpPr/>
          <p:nvPr/>
        </p:nvSpPr>
        <p:spPr>
          <a:xfrm>
            <a:off x="685800" y="2276855"/>
            <a:ext cx="54864" cy="685806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TextBox 10"/>
          <p:cNvSpPr txBox="1"/>
          <p:nvPr/>
        </p:nvSpPr>
        <p:spPr>
          <a:xfrm>
            <a:off x="960119" y="2404872"/>
            <a:ext cx="914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你</a:t>
            </a:r>
          </a:p>
        </p:txBody>
      </p:sp>
      <p:sp>
        <p:nvSpPr>
          <p:cNvPr id="477" name="TextBox 11"/>
          <p:cNvSpPr txBox="1"/>
          <p:nvPr/>
        </p:nvSpPr>
        <p:spPr>
          <a:xfrm>
            <a:off x="960118" y="2660904"/>
            <a:ext cx="1025902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（11 個任務全數完成、各自審查通過後，啟動最終總體檢查）</a:t>
            </a:r>
          </a:p>
        </p:txBody>
      </p:sp>
      <p:sp>
        <p:nvSpPr>
          <p:cNvPr id="478" name="Rectangle 12"/>
          <p:cNvSpPr/>
          <p:nvPr/>
        </p:nvSpPr>
        <p:spPr>
          <a:xfrm>
            <a:off x="685800" y="3127248"/>
            <a:ext cx="10807659" cy="1901952"/>
          </a:xfrm>
          <a:prstGeom prst="rect">
            <a:avLst/>
          </a:prstGeom>
          <a:solidFill>
            <a:srgbClr val="0B1130"/>
          </a:solidFill>
          <a:ln w="12700">
            <a:solidFill>
              <a:srgbClr val="22D3EE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Rectangle 13"/>
          <p:cNvSpPr/>
          <p:nvPr/>
        </p:nvSpPr>
        <p:spPr>
          <a:xfrm>
            <a:off x="685800" y="3127248"/>
            <a:ext cx="54864" cy="1901952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0" name="TextBox 14"/>
          <p:cNvSpPr txBox="1"/>
          <p:nvPr/>
        </p:nvSpPr>
        <p:spPr>
          <a:xfrm>
            <a:off x="960119" y="3255264"/>
            <a:ext cx="914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我</a:t>
            </a:r>
          </a:p>
        </p:txBody>
      </p:sp>
      <p:sp>
        <p:nvSpPr>
          <p:cNvPr id="481" name="TextBox 15"/>
          <p:cNvSpPr txBox="1"/>
          <p:nvPr/>
        </p:nvSpPr>
        <p:spPr>
          <a:xfrm>
            <a:off x="960118" y="3511296"/>
            <a:ext cx="10259023" cy="734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pPr>
            <a:r>
              <a:t>Final review: no Critical findings, 3 Important（都是文件／測試缺口）</a:t>
            </a:r>
          </a:p>
          <a:p>
            <a:pPr>
              <a:lnSpc>
                <a:spcPct val="120000"/>
              </a:lnSpc>
              <a:defRPr sz="12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pPr>
            <a:r>
              <a:t>額外納入修正：project-detail.js 同欄向下拖曳有 off-by-one（插入位置差一格）</a:t>
            </a:r>
          </a:p>
          <a:p>
            <a:pPr>
              <a:lnSpc>
                <a:spcPct val="120000"/>
              </a:lnSpc>
              <a:defRPr sz="12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pPr>
            <a:r>
              <a:t>派一個統整 fix wave 處理全部發現，不是一個發現派一個 fixer</a:t>
            </a:r>
          </a:p>
        </p:txBody>
      </p:sp>
      <p:sp>
        <p:nvSpPr>
          <p:cNvPr id="482" name="Rectangle 16"/>
          <p:cNvSpPr/>
          <p:nvPr/>
        </p:nvSpPr>
        <p:spPr>
          <a:xfrm>
            <a:off x="685800" y="5239510"/>
            <a:ext cx="10807659" cy="594365"/>
          </a:xfrm>
          <a:prstGeom prst="rect">
            <a:avLst/>
          </a:prstGeom>
          <a:solidFill>
            <a:srgbClr val="F7F8FC"/>
          </a:solidFill>
          <a:ln w="19050">
            <a:solidFill>
              <a:srgbClr val="F5A524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TextBox 17"/>
          <p:cNvSpPr txBox="1"/>
          <p:nvPr/>
        </p:nvSpPr>
        <p:spPr>
          <a:xfrm>
            <a:off x="914400" y="5428741"/>
            <a:ext cx="9144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結果</a:t>
            </a:r>
          </a:p>
        </p:txBody>
      </p:sp>
      <p:sp>
        <p:nvSpPr>
          <p:cNvPr id="484" name="TextBox 18"/>
          <p:cNvSpPr txBox="1"/>
          <p:nvPr/>
        </p:nvSpPr>
        <p:spPr>
          <a:xfrm>
            <a:off x="1737360" y="5428741"/>
            <a:ext cx="95275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8 個發現全部修復，複查乾淨，104/104 測試通過才 commit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我自己設的規矩</a:t>
            </a:r>
          </a:p>
        </p:txBody>
      </p:sp>
      <p:sp>
        <p:nvSpPr>
          <p:cNvPr id="487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怎麼確認做出來的東西真的能用</a:t>
            </a:r>
          </a:p>
        </p:txBody>
      </p:sp>
      <p:sp>
        <p:nvSpPr>
          <p:cNvPr id="488" name="Connector 3"/>
          <p:cNvSpPr/>
          <p:nvPr/>
        </p:nvSpPr>
        <p:spPr>
          <a:xfrm>
            <a:off x="685796" y="166420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Oval 4"/>
          <p:cNvSpPr/>
          <p:nvPr/>
        </p:nvSpPr>
        <p:spPr>
          <a:xfrm>
            <a:off x="658368" y="163677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Oval 5"/>
          <p:cNvSpPr/>
          <p:nvPr/>
        </p:nvSpPr>
        <p:spPr>
          <a:xfrm>
            <a:off x="106984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1" name="Oval 6"/>
          <p:cNvSpPr/>
          <p:nvPr/>
        </p:nvSpPr>
        <p:spPr>
          <a:xfrm>
            <a:off x="148132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Rectangle 7"/>
          <p:cNvSpPr/>
          <p:nvPr/>
        </p:nvSpPr>
        <p:spPr>
          <a:xfrm>
            <a:off x="685798" y="221284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3" name="TextBox 8"/>
          <p:cNvSpPr txBox="1"/>
          <p:nvPr/>
        </p:nvSpPr>
        <p:spPr>
          <a:xfrm>
            <a:off x="978405" y="2121405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有畫面的功能，一定要截圖給我看，不接受只說「已完成」</a:t>
            </a:r>
          </a:p>
        </p:txBody>
      </p:sp>
      <p:sp>
        <p:nvSpPr>
          <p:cNvPr id="494" name="Rectangle 9"/>
          <p:cNvSpPr/>
          <p:nvPr/>
        </p:nvSpPr>
        <p:spPr>
          <a:xfrm>
            <a:off x="685798" y="2665727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TextBox 10"/>
          <p:cNvSpPr txBox="1"/>
          <p:nvPr/>
        </p:nvSpPr>
        <p:spPr>
          <a:xfrm>
            <a:off x="978405" y="2574288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要推上遠端，一律要我親自點頭才行，AI 不能自己決定</a:t>
            </a:r>
          </a:p>
        </p:txBody>
      </p:sp>
      <p:sp>
        <p:nvSpPr>
          <p:cNvPr id="496" name="Rectangle 11"/>
          <p:cNvSpPr/>
          <p:nvPr/>
        </p:nvSpPr>
        <p:spPr>
          <a:xfrm>
            <a:off x="685798" y="3118610"/>
            <a:ext cx="100591" cy="100591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TextBox 12"/>
          <p:cNvSpPr txBox="1"/>
          <p:nvPr/>
        </p:nvSpPr>
        <p:spPr>
          <a:xfrm>
            <a:off x="978405" y="3027171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測試沒過就是還沒做完，沒有例外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Box 1"/>
          <p:cNvSpPr txBox="1"/>
          <p:nvPr/>
        </p:nvSpPr>
        <p:spPr>
          <a:xfrm>
            <a:off x="685800" y="502919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開發流程</a:t>
            </a:r>
          </a:p>
        </p:txBody>
      </p:sp>
      <p:sp>
        <p:nvSpPr>
          <p:cNvPr id="500" name="TextBox 2"/>
          <p:cNvSpPr txBox="1"/>
          <p:nvPr/>
        </p:nvSpPr>
        <p:spPr>
          <a:xfrm>
            <a:off x="685800" y="868680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每個功能都走一樣的四步驟</a:t>
            </a:r>
          </a:p>
        </p:txBody>
      </p:sp>
      <p:sp>
        <p:nvSpPr>
          <p:cNvPr id="501" name="TextBox 3"/>
          <p:cNvSpPr txBox="1"/>
          <p:nvPr/>
        </p:nvSpPr>
        <p:spPr>
          <a:xfrm>
            <a:off x="685800" y="1527047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不只寫程式，分析、測試、文件也是流程裡固定要做的一步，不是事後才想到</a:t>
            </a:r>
          </a:p>
        </p:txBody>
      </p:sp>
      <p:sp>
        <p:nvSpPr>
          <p:cNvPr id="502" name="Connector 4"/>
          <p:cNvSpPr/>
          <p:nvPr/>
        </p:nvSpPr>
        <p:spPr>
          <a:xfrm>
            <a:off x="685797" y="1911094"/>
            <a:ext cx="822965" cy="4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3" name="Oval 5"/>
          <p:cNvSpPr/>
          <p:nvPr/>
        </p:nvSpPr>
        <p:spPr>
          <a:xfrm>
            <a:off x="658368" y="1883664"/>
            <a:ext cx="54864" cy="54871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04" name="Oval 6"/>
          <p:cNvSpPr/>
          <p:nvPr/>
        </p:nvSpPr>
        <p:spPr>
          <a:xfrm>
            <a:off x="1069847" y="1883664"/>
            <a:ext cx="54871" cy="54871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05" name="Oval 7"/>
          <p:cNvSpPr/>
          <p:nvPr/>
        </p:nvSpPr>
        <p:spPr>
          <a:xfrm>
            <a:off x="1481327" y="1883664"/>
            <a:ext cx="54871" cy="54871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06" name="Rectangle 8"/>
          <p:cNvSpPr/>
          <p:nvPr/>
        </p:nvSpPr>
        <p:spPr>
          <a:xfrm>
            <a:off x="685800" y="2304288"/>
            <a:ext cx="10807659" cy="14173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07" name="Rectangle 9"/>
          <p:cNvSpPr/>
          <p:nvPr/>
        </p:nvSpPr>
        <p:spPr>
          <a:xfrm>
            <a:off x="685798" y="2304288"/>
            <a:ext cx="73157" cy="1417324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grpSp>
        <p:nvGrpSpPr>
          <p:cNvPr id="510" name="Rounded Rectangle 10"/>
          <p:cNvGrpSpPr/>
          <p:nvPr/>
        </p:nvGrpSpPr>
        <p:grpSpPr>
          <a:xfrm>
            <a:off x="941832" y="2468876"/>
            <a:ext cx="1051567" cy="310904"/>
            <a:chOff x="0" y="-1"/>
            <a:chExt cx="1051565" cy="310903"/>
          </a:xfrm>
        </p:grpSpPr>
        <p:sp>
          <p:nvSpPr>
            <p:cNvPr id="508" name="圓角矩形"/>
            <p:cNvSpPr/>
            <p:nvPr/>
          </p:nvSpPr>
          <p:spPr>
            <a:xfrm>
              <a:off x="0" y="-2"/>
              <a:ext cx="1051566" cy="310905"/>
            </a:xfrm>
            <a:prstGeom prst="roundRect">
              <a:avLst>
                <a:gd name="adj" fmla="val 50000"/>
              </a:avLst>
            </a:prstGeom>
            <a:solidFill>
              <a:srgbClr val="0B11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509" name="cc-new"/>
            <p:cNvSpPr txBox="1"/>
            <p:nvPr/>
          </p:nvSpPr>
          <p:spPr>
            <a:xfrm>
              <a:off x="244172" y="66548"/>
              <a:ext cx="563216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cc-new</a:t>
              </a:r>
            </a:p>
          </p:txBody>
        </p:sp>
      </p:grpSp>
      <p:sp>
        <p:nvSpPr>
          <p:cNvPr id="511" name="TextBox 11"/>
          <p:cNvSpPr txBox="1"/>
          <p:nvPr/>
        </p:nvSpPr>
        <p:spPr>
          <a:xfrm>
            <a:off x="2148839" y="2441448"/>
            <a:ext cx="90703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每次啟動新專案／新迭代的起手式，先跑 brainstorming 定方向，再決定要不要建骨架</a:t>
            </a:r>
          </a:p>
        </p:txBody>
      </p:sp>
      <p:sp>
        <p:nvSpPr>
          <p:cNvPr id="512" name="Rectangle 12"/>
          <p:cNvSpPr/>
          <p:nvPr/>
        </p:nvSpPr>
        <p:spPr>
          <a:xfrm>
            <a:off x="941832" y="2953511"/>
            <a:ext cx="82300" cy="82297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3" name="TextBox 13"/>
          <p:cNvSpPr txBox="1"/>
          <p:nvPr/>
        </p:nvSpPr>
        <p:spPr>
          <a:xfrm>
            <a:off x="1106423" y="2871216"/>
            <a:ext cx="101675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一個指令生出三種骨架（github／godot／ios），各自帶最小可跑的範例，不是空資料夾</a:t>
            </a:r>
          </a:p>
        </p:txBody>
      </p:sp>
      <p:sp>
        <p:nvSpPr>
          <p:cNvPr id="514" name="Rectangle 14"/>
          <p:cNvSpPr/>
          <p:nvPr/>
        </p:nvSpPr>
        <p:spPr>
          <a:xfrm>
            <a:off x="941832" y="3227832"/>
            <a:ext cx="82300" cy="8230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5" name="TextBox 15"/>
          <p:cNvSpPr txBox="1"/>
          <p:nvPr/>
        </p:nvSpPr>
        <p:spPr>
          <a:xfrm>
            <a:off x="1106423" y="3145533"/>
            <a:ext cx="101675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收工前先驗證：godot 用 headless 開一次、iOS 直接 build 模擬器，骨架跑不起來不算完成</a:t>
            </a:r>
          </a:p>
        </p:txBody>
      </p:sp>
      <p:sp>
        <p:nvSpPr>
          <p:cNvPr id="516" name="Rectangle 16"/>
          <p:cNvSpPr/>
          <p:nvPr/>
        </p:nvSpPr>
        <p:spPr>
          <a:xfrm>
            <a:off x="941832" y="3502152"/>
            <a:ext cx="82300" cy="8230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7" name="TextBox 17"/>
          <p:cNvSpPr txBox="1"/>
          <p:nvPr/>
        </p:nvSpPr>
        <p:spPr>
          <a:xfrm>
            <a:off x="1106423" y="3419854"/>
            <a:ext cx="101675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刻意不推送：本地 commit＋建立空 private repo，推送留給新開的 session 自己決定，順便避開 push gate</a:t>
            </a:r>
          </a:p>
        </p:txBody>
      </p:sp>
      <p:sp>
        <p:nvSpPr>
          <p:cNvPr id="518" name="Oval 18"/>
          <p:cNvSpPr/>
          <p:nvPr/>
        </p:nvSpPr>
        <p:spPr>
          <a:xfrm>
            <a:off x="2729208" y="4041647"/>
            <a:ext cx="1371607" cy="1371607"/>
          </a:xfrm>
          <a:prstGeom prst="ellipse">
            <a:avLst/>
          </a:prstGeom>
          <a:solidFill>
            <a:srgbClr val="0B11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9" name="TextBox 19"/>
          <p:cNvSpPr txBox="1"/>
          <p:nvPr/>
        </p:nvSpPr>
        <p:spPr>
          <a:xfrm>
            <a:off x="2729207" y="4169664"/>
            <a:ext cx="137160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20" name="TextBox 20"/>
          <p:cNvSpPr txBox="1"/>
          <p:nvPr/>
        </p:nvSpPr>
        <p:spPr>
          <a:xfrm>
            <a:off x="2729207" y="4575047"/>
            <a:ext cx="137160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分析</a:t>
            </a:r>
          </a:p>
        </p:txBody>
      </p:sp>
      <p:sp>
        <p:nvSpPr>
          <p:cNvPr id="521" name="Connector 21"/>
          <p:cNvSpPr/>
          <p:nvPr/>
        </p:nvSpPr>
        <p:spPr>
          <a:xfrm>
            <a:off x="4100807" y="4727447"/>
            <a:ext cx="411484" cy="4"/>
          </a:xfrm>
          <a:prstGeom prst="line">
            <a:avLst/>
          </a:prstGeom>
          <a:ln w="25400">
            <a:solidFill>
              <a:srgbClr val="F5A52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Oval 22"/>
          <p:cNvSpPr/>
          <p:nvPr/>
        </p:nvSpPr>
        <p:spPr>
          <a:xfrm>
            <a:off x="4512288" y="4041647"/>
            <a:ext cx="1371607" cy="1371607"/>
          </a:xfrm>
          <a:prstGeom prst="ellipse">
            <a:avLst/>
          </a:prstGeom>
          <a:solidFill>
            <a:srgbClr val="1B2A6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23" name="TextBox 23"/>
          <p:cNvSpPr txBox="1"/>
          <p:nvPr/>
        </p:nvSpPr>
        <p:spPr>
          <a:xfrm>
            <a:off x="4512288" y="4169664"/>
            <a:ext cx="137160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24" name="TextBox 24"/>
          <p:cNvSpPr txBox="1"/>
          <p:nvPr/>
        </p:nvSpPr>
        <p:spPr>
          <a:xfrm>
            <a:off x="4512288" y="4575047"/>
            <a:ext cx="137160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實作</a:t>
            </a:r>
          </a:p>
        </p:txBody>
      </p:sp>
      <p:sp>
        <p:nvSpPr>
          <p:cNvPr id="525" name="Connector 25"/>
          <p:cNvSpPr/>
          <p:nvPr/>
        </p:nvSpPr>
        <p:spPr>
          <a:xfrm>
            <a:off x="5883888" y="4727447"/>
            <a:ext cx="411484" cy="4"/>
          </a:xfrm>
          <a:prstGeom prst="line">
            <a:avLst/>
          </a:prstGeom>
          <a:ln w="25400">
            <a:solidFill>
              <a:srgbClr val="F5A52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Oval 26"/>
          <p:cNvSpPr/>
          <p:nvPr/>
        </p:nvSpPr>
        <p:spPr>
          <a:xfrm>
            <a:off x="6295368" y="4041647"/>
            <a:ext cx="1371607" cy="1371607"/>
          </a:xfrm>
          <a:prstGeom prst="ellipse">
            <a:avLst/>
          </a:prstGeom>
          <a:solidFill>
            <a:srgbClr val="0B11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27" name="TextBox 27"/>
          <p:cNvSpPr txBox="1"/>
          <p:nvPr/>
        </p:nvSpPr>
        <p:spPr>
          <a:xfrm>
            <a:off x="6295368" y="4169664"/>
            <a:ext cx="137160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28" name="TextBox 28"/>
          <p:cNvSpPr txBox="1"/>
          <p:nvPr/>
        </p:nvSpPr>
        <p:spPr>
          <a:xfrm>
            <a:off x="6295368" y="4575047"/>
            <a:ext cx="137160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測試</a:t>
            </a:r>
          </a:p>
        </p:txBody>
      </p:sp>
      <p:sp>
        <p:nvSpPr>
          <p:cNvPr id="529" name="Connector 29"/>
          <p:cNvSpPr/>
          <p:nvPr/>
        </p:nvSpPr>
        <p:spPr>
          <a:xfrm>
            <a:off x="7666969" y="4727447"/>
            <a:ext cx="411484" cy="4"/>
          </a:xfrm>
          <a:prstGeom prst="line">
            <a:avLst/>
          </a:prstGeom>
          <a:ln w="25400">
            <a:solidFill>
              <a:srgbClr val="F5A52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Oval 30"/>
          <p:cNvSpPr/>
          <p:nvPr/>
        </p:nvSpPr>
        <p:spPr>
          <a:xfrm>
            <a:off x="8078447" y="4041647"/>
            <a:ext cx="1371607" cy="1371607"/>
          </a:xfrm>
          <a:prstGeom prst="ellipse">
            <a:avLst/>
          </a:prstGeom>
          <a:solidFill>
            <a:srgbClr val="1B2A6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1" name="TextBox 31"/>
          <p:cNvSpPr txBox="1"/>
          <p:nvPr/>
        </p:nvSpPr>
        <p:spPr>
          <a:xfrm>
            <a:off x="8078447" y="4169664"/>
            <a:ext cx="137160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32" name="TextBox 32"/>
          <p:cNvSpPr txBox="1"/>
          <p:nvPr/>
        </p:nvSpPr>
        <p:spPr>
          <a:xfrm>
            <a:off x="8078447" y="4575047"/>
            <a:ext cx="137160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文件</a:t>
            </a:r>
          </a:p>
        </p:txBody>
      </p:sp>
      <p:sp>
        <p:nvSpPr>
          <p:cNvPr id="533" name="TextBox 33"/>
          <p:cNvSpPr txBox="1"/>
          <p:nvPr/>
        </p:nvSpPr>
        <p:spPr>
          <a:xfrm>
            <a:off x="685800" y="5669279"/>
            <a:ext cx="1080765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5B6485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每一代（WbsScaff、Spring-WbsScaff、Spring-TaskFlow、MissionBoard）都走這四步，不是後來才補上的規矩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貼合現況</a:t>
            </a:r>
          </a:p>
        </p:txBody>
      </p:sp>
      <p:sp>
        <p:nvSpPr>
          <p:cNvPr id="536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我把現在的工作情境搬進系統裡</a:t>
            </a:r>
          </a:p>
        </p:txBody>
      </p:sp>
      <p:sp>
        <p:nvSpPr>
          <p:cNvPr id="537" name="Connector 3"/>
          <p:cNvSpPr/>
          <p:nvPr/>
        </p:nvSpPr>
        <p:spPr>
          <a:xfrm>
            <a:off x="685796" y="166420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Oval 4"/>
          <p:cNvSpPr/>
          <p:nvPr/>
        </p:nvSpPr>
        <p:spPr>
          <a:xfrm>
            <a:off x="658368" y="163677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Oval 5"/>
          <p:cNvSpPr/>
          <p:nvPr/>
        </p:nvSpPr>
        <p:spPr>
          <a:xfrm>
            <a:off x="106984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Oval 6"/>
          <p:cNvSpPr/>
          <p:nvPr/>
        </p:nvSpPr>
        <p:spPr>
          <a:xfrm>
            <a:off x="148132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1" name="Rectangle 7"/>
          <p:cNvSpPr/>
          <p:nvPr/>
        </p:nvSpPr>
        <p:spPr>
          <a:xfrm>
            <a:off x="685798" y="221284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8"/>
          <p:cNvSpPr txBox="1"/>
          <p:nvPr/>
        </p:nvSpPr>
        <p:spPr>
          <a:xfrm>
            <a:off x="978405" y="2121405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為了貼近實際狀況，我用現在工作上真的會遇到的情境來設計：主機申請、防火牆開通、資安檢核這類項目</a:t>
            </a:r>
          </a:p>
        </p:txBody>
      </p:sp>
      <p:sp>
        <p:nvSpPr>
          <p:cNvPr id="543" name="Rectangle 9"/>
          <p:cNvSpPr/>
          <p:nvPr/>
        </p:nvSpPr>
        <p:spPr>
          <a:xfrm>
            <a:off x="685798" y="2972305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4" name="TextBox 10"/>
          <p:cNvSpPr txBox="1"/>
          <p:nvPr/>
        </p:nvSpPr>
        <p:spPr>
          <a:xfrm>
            <a:off x="978405" y="2880866"/>
            <a:ext cx="10515057" cy="664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角色也照實際職務分：長官跨科看得到但不能改、科長科內全權、專案負責人管自己的案子、成員只看得到自己參與的</a:t>
            </a:r>
          </a:p>
        </p:txBody>
      </p:sp>
      <p:sp>
        <p:nvSpPr>
          <p:cNvPr id="545" name="Rectangle 11"/>
          <p:cNvSpPr/>
          <p:nvPr/>
        </p:nvSpPr>
        <p:spPr>
          <a:xfrm>
            <a:off x="685798" y="3731767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TextBox 12"/>
          <p:cNvSpPr txBox="1"/>
          <p:nvPr/>
        </p:nvSpPr>
        <p:spPr>
          <a:xfrm>
            <a:off x="978405" y="3640328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科別之間互相看不到，每個動作都會再確認一次「這個人有沒有資格動這筆資料」</a:t>
            </a:r>
          </a:p>
        </p:txBody>
      </p:sp>
      <p:sp>
        <p:nvSpPr>
          <p:cNvPr id="547" name="Rectangle 13"/>
          <p:cNvSpPr/>
          <p:nvPr/>
        </p:nvSpPr>
        <p:spPr>
          <a:xfrm>
            <a:off x="685798" y="418464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8" name="TextBox 14"/>
          <p:cNvSpPr txBox="1"/>
          <p:nvPr/>
        </p:nvSpPr>
        <p:spPr>
          <a:xfrm>
            <a:off x="978405" y="4093209"/>
            <a:ext cx="1051505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7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權限畫得細，反而增加了協作的自由度：大家可以放心一起動同一份資料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51" name="TextBox 2"/>
          <p:cNvSpPr txBox="1"/>
          <p:nvPr/>
        </p:nvSpPr>
        <p:spPr>
          <a:xfrm>
            <a:off x="685800" y="54864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數字看整段旅程</a:t>
            </a:r>
          </a:p>
        </p:txBody>
      </p:sp>
      <p:sp>
        <p:nvSpPr>
          <p:cNvPr id="552" name="TextBox 3"/>
          <p:cNvSpPr txBox="1"/>
          <p:nvPr/>
        </p:nvSpPr>
        <p:spPr>
          <a:xfrm>
            <a:off x="685800" y="914400"/>
            <a:ext cx="1080765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兩個月，四個世代</a:t>
            </a:r>
          </a:p>
        </p:txBody>
      </p:sp>
      <p:sp>
        <p:nvSpPr>
          <p:cNvPr id="553" name="Connector 4"/>
          <p:cNvSpPr/>
          <p:nvPr/>
        </p:nvSpPr>
        <p:spPr>
          <a:xfrm>
            <a:off x="685798" y="1572766"/>
            <a:ext cx="822963" cy="3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Oval 5"/>
          <p:cNvSpPr/>
          <p:nvPr/>
        </p:nvSpPr>
        <p:spPr>
          <a:xfrm>
            <a:off x="658368" y="1545336"/>
            <a:ext cx="54864" cy="54869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55" name="Oval 6"/>
          <p:cNvSpPr/>
          <p:nvPr/>
        </p:nvSpPr>
        <p:spPr>
          <a:xfrm>
            <a:off x="1069847" y="1545336"/>
            <a:ext cx="54869" cy="54869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56" name="Oval 7"/>
          <p:cNvSpPr/>
          <p:nvPr/>
        </p:nvSpPr>
        <p:spPr>
          <a:xfrm>
            <a:off x="1481327" y="1545336"/>
            <a:ext cx="54869" cy="54869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57" name="TextBox 8"/>
          <p:cNvSpPr txBox="1"/>
          <p:nvPr/>
        </p:nvSpPr>
        <p:spPr>
          <a:xfrm>
            <a:off x="960119" y="2468877"/>
            <a:ext cx="3053915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241</a:t>
            </a:r>
          </a:p>
        </p:txBody>
      </p:sp>
      <p:sp>
        <p:nvSpPr>
          <p:cNvPr id="558" name="TextBox 9"/>
          <p:cNvSpPr txBox="1"/>
          <p:nvPr/>
        </p:nvSpPr>
        <p:spPr>
          <a:xfrm>
            <a:off x="960119" y="3337559"/>
            <a:ext cx="305391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7DE3F0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總 commit 數（四個 repo 合計）</a:t>
            </a:r>
          </a:p>
        </p:txBody>
      </p:sp>
      <p:sp>
        <p:nvSpPr>
          <p:cNvPr id="559" name="Connector 10"/>
          <p:cNvSpPr/>
          <p:nvPr/>
        </p:nvSpPr>
        <p:spPr>
          <a:xfrm>
            <a:off x="4288351" y="2606038"/>
            <a:ext cx="3" cy="1325884"/>
          </a:xfrm>
          <a:prstGeom prst="line">
            <a:avLst/>
          </a:prstGeom>
          <a:ln w="12700">
            <a:solidFill>
              <a:srgbClr val="1B2A6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TextBox 11"/>
          <p:cNvSpPr txBox="1"/>
          <p:nvPr/>
        </p:nvSpPr>
        <p:spPr>
          <a:xfrm>
            <a:off x="4562673" y="2468877"/>
            <a:ext cx="3053916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35</a:t>
            </a:r>
          </a:p>
        </p:txBody>
      </p:sp>
      <p:sp>
        <p:nvSpPr>
          <p:cNvPr id="561" name="TextBox 12"/>
          <p:cNvSpPr txBox="1"/>
          <p:nvPr/>
        </p:nvSpPr>
        <p:spPr>
          <a:xfrm>
            <a:off x="4562673" y="3337559"/>
            <a:ext cx="30539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7DE3F0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份 md 文件（四個 repo 合計）</a:t>
            </a:r>
          </a:p>
        </p:txBody>
      </p:sp>
      <p:sp>
        <p:nvSpPr>
          <p:cNvPr id="562" name="Connector 13"/>
          <p:cNvSpPr/>
          <p:nvPr/>
        </p:nvSpPr>
        <p:spPr>
          <a:xfrm>
            <a:off x="7890905" y="2606038"/>
            <a:ext cx="3" cy="1325884"/>
          </a:xfrm>
          <a:prstGeom prst="line">
            <a:avLst/>
          </a:prstGeom>
          <a:ln w="12700">
            <a:solidFill>
              <a:srgbClr val="1B2A6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4"/>
          <p:cNvSpPr txBox="1"/>
          <p:nvPr/>
        </p:nvSpPr>
        <p:spPr>
          <a:xfrm>
            <a:off x="8165224" y="2468877"/>
            <a:ext cx="3053916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64" name="TextBox 15"/>
          <p:cNvSpPr txBox="1"/>
          <p:nvPr/>
        </p:nvSpPr>
        <p:spPr>
          <a:xfrm>
            <a:off x="8165224" y="3337559"/>
            <a:ext cx="30539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7DE3F0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個世代 / 階段</a:t>
            </a:r>
          </a:p>
        </p:txBody>
      </p:sp>
      <p:sp>
        <p:nvSpPr>
          <p:cNvPr id="565" name="TextBox 16"/>
          <p:cNvSpPr txBox="1"/>
          <p:nvPr/>
        </p:nvSpPr>
        <p:spPr>
          <a:xfrm>
            <a:off x="960119" y="4206240"/>
            <a:ext cx="3053915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35+</a:t>
            </a:r>
          </a:p>
        </p:txBody>
      </p:sp>
      <p:sp>
        <p:nvSpPr>
          <p:cNvPr id="566" name="TextBox 17"/>
          <p:cNvSpPr txBox="1"/>
          <p:nvPr/>
        </p:nvSpPr>
        <p:spPr>
          <a:xfrm>
            <a:off x="960119" y="5074920"/>
            <a:ext cx="305391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7DE3F0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個拆分給 AI 做的任務</a:t>
            </a:r>
          </a:p>
        </p:txBody>
      </p:sp>
      <p:sp>
        <p:nvSpPr>
          <p:cNvPr id="567" name="Connector 18"/>
          <p:cNvSpPr/>
          <p:nvPr/>
        </p:nvSpPr>
        <p:spPr>
          <a:xfrm>
            <a:off x="4288351" y="4343398"/>
            <a:ext cx="3" cy="1325884"/>
          </a:xfrm>
          <a:prstGeom prst="line">
            <a:avLst/>
          </a:prstGeom>
          <a:ln w="12700">
            <a:solidFill>
              <a:srgbClr val="1B2A6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TextBox 19"/>
          <p:cNvSpPr txBox="1"/>
          <p:nvPr/>
        </p:nvSpPr>
        <p:spPr>
          <a:xfrm>
            <a:off x="4562673" y="4206240"/>
            <a:ext cx="3053916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69" name="TextBox 20"/>
          <p:cNvSpPr txBox="1"/>
          <p:nvPr/>
        </p:nvSpPr>
        <p:spPr>
          <a:xfrm>
            <a:off x="4562673" y="5074920"/>
            <a:ext cx="3053916" cy="464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7DE3F0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份全域 Claude 設定（CLAUDE.md／hooks／settings.json）</a:t>
            </a:r>
          </a:p>
        </p:txBody>
      </p:sp>
      <p:sp>
        <p:nvSpPr>
          <p:cNvPr id="570" name="Connector 21"/>
          <p:cNvSpPr/>
          <p:nvPr/>
        </p:nvSpPr>
        <p:spPr>
          <a:xfrm>
            <a:off x="7890905" y="4343398"/>
            <a:ext cx="3" cy="1325884"/>
          </a:xfrm>
          <a:prstGeom prst="line">
            <a:avLst/>
          </a:prstGeom>
          <a:ln w="12700">
            <a:solidFill>
              <a:srgbClr val="1B2A6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TextBox 22"/>
          <p:cNvSpPr txBox="1"/>
          <p:nvPr/>
        </p:nvSpPr>
        <p:spPr>
          <a:xfrm>
            <a:off x="8165224" y="4206240"/>
            <a:ext cx="3053916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F5A524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72" name="TextBox 23"/>
          <p:cNvSpPr txBox="1"/>
          <p:nvPr/>
        </p:nvSpPr>
        <p:spPr>
          <a:xfrm>
            <a:off x="8165224" y="5074920"/>
            <a:ext cx="30539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7DE3F0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份開發規則與 skill（guides／skills／指令）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Box 1"/>
          <p:cNvSpPr txBox="1"/>
          <p:nvPr/>
        </p:nvSpPr>
        <p:spPr>
          <a:xfrm>
            <a:off x="685800" y="64008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近期優化</a:t>
            </a:r>
          </a:p>
        </p:txBody>
      </p:sp>
      <p:sp>
        <p:nvSpPr>
          <p:cNvPr id="575" name="TextBox 2"/>
          <p:cNvSpPr txBox="1"/>
          <p:nvPr/>
        </p:nvSpPr>
        <p:spPr>
          <a:xfrm>
            <a:off x="685800" y="1005838"/>
            <a:ext cx="108076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上線後又做了一輪：導覽重構＋首頁儀表板</a:t>
            </a:r>
          </a:p>
        </p:txBody>
      </p:sp>
      <p:sp>
        <p:nvSpPr>
          <p:cNvPr id="576" name="Connector 3"/>
          <p:cNvSpPr/>
          <p:nvPr/>
        </p:nvSpPr>
        <p:spPr>
          <a:xfrm>
            <a:off x="685796" y="1664205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Oval 4"/>
          <p:cNvSpPr/>
          <p:nvPr/>
        </p:nvSpPr>
        <p:spPr>
          <a:xfrm>
            <a:off x="658368" y="163677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8" name="Oval 5"/>
          <p:cNvSpPr/>
          <p:nvPr/>
        </p:nvSpPr>
        <p:spPr>
          <a:xfrm>
            <a:off x="106984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Oval 6"/>
          <p:cNvSpPr/>
          <p:nvPr/>
        </p:nvSpPr>
        <p:spPr>
          <a:xfrm>
            <a:off x="1481327" y="163677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0" name="Rectangle 7"/>
          <p:cNvSpPr/>
          <p:nvPr/>
        </p:nvSpPr>
        <p:spPr>
          <a:xfrm>
            <a:off x="685798" y="221284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1" name="TextBox 8"/>
          <p:cNvSpPr txBox="1"/>
          <p:nvPr/>
        </p:nvSpPr>
        <p:spPr>
          <a:xfrm>
            <a:off x="978405" y="2121405"/>
            <a:ext cx="10515057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全站視覺改成白色簡約風格：卡片陰影全部換成細邊框，色彩與字體統一抽成 CSS token</a:t>
            </a:r>
          </a:p>
        </p:txBody>
      </p:sp>
      <p:sp>
        <p:nvSpPr>
          <p:cNvPr id="582" name="Rectangle 9"/>
          <p:cNvSpPr/>
          <p:nvPr/>
        </p:nvSpPr>
        <p:spPr>
          <a:xfrm>
            <a:off x="685798" y="2638679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3" name="TextBox 10"/>
          <p:cNvSpPr txBox="1"/>
          <p:nvPr/>
        </p:nvSpPr>
        <p:spPr>
          <a:xfrm>
            <a:off x="978405" y="2547239"/>
            <a:ext cx="10515057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看板、人員派工、WBS 檢視搬進側邊欄第二層，跟著目前所在專案走，不再跟內容區搶版面</a:t>
            </a:r>
          </a:p>
        </p:txBody>
      </p:sp>
      <p:sp>
        <p:nvSpPr>
          <p:cNvPr id="584" name="Rectangle 11"/>
          <p:cNvSpPr/>
          <p:nvPr/>
        </p:nvSpPr>
        <p:spPr>
          <a:xfrm>
            <a:off x="685798" y="3064510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5" name="TextBox 12"/>
          <p:cNvSpPr txBox="1"/>
          <p:nvPr/>
        </p:nvSpPr>
        <p:spPr>
          <a:xfrm>
            <a:off x="978405" y="2973070"/>
            <a:ext cx="10515057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WBS 檢視補上「新增大項」，跟看板共用同一套選單挑選邏輯，不用重寫一份</a:t>
            </a:r>
          </a:p>
        </p:txBody>
      </p:sp>
      <p:sp>
        <p:nvSpPr>
          <p:cNvPr id="586" name="Rectangle 13"/>
          <p:cNvSpPr/>
          <p:nvPr/>
        </p:nvSpPr>
        <p:spPr>
          <a:xfrm>
            <a:off x="685798" y="3490340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7" name="TextBox 14"/>
          <p:cNvSpPr txBox="1"/>
          <p:nvPr/>
        </p:nvSpPr>
        <p:spPr>
          <a:xfrm>
            <a:off x="978405" y="3398899"/>
            <a:ext cx="10515057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10152B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首頁從單純的歡迎詞，改成依角色分三層的儀表板：操作人員看自己的專案跟任務、科長看本科總覽、主任看跨科總覽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TextBox 1"/>
          <p:cNvSpPr txBox="1"/>
          <p:nvPr/>
        </p:nvSpPr>
        <p:spPr>
          <a:xfrm>
            <a:off x="685800" y="54864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近期優化 · 畫面</a:t>
            </a:r>
          </a:p>
        </p:txBody>
      </p:sp>
      <p:sp>
        <p:nvSpPr>
          <p:cNvPr id="590" name="TextBox 2"/>
          <p:cNvSpPr txBox="1"/>
          <p:nvPr/>
        </p:nvSpPr>
        <p:spPr>
          <a:xfrm>
            <a:off x="685800" y="914400"/>
            <a:ext cx="1080765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側邊欄導覽 × WBS 新增大項</a:t>
            </a:r>
          </a:p>
        </p:txBody>
      </p:sp>
      <p:sp>
        <p:nvSpPr>
          <p:cNvPr id="591" name="Connector 3"/>
          <p:cNvSpPr/>
          <p:nvPr/>
        </p:nvSpPr>
        <p:spPr>
          <a:xfrm>
            <a:off x="685796" y="1572766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Oval 4"/>
          <p:cNvSpPr/>
          <p:nvPr/>
        </p:nvSpPr>
        <p:spPr>
          <a:xfrm>
            <a:off x="658368" y="154533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3" name="Oval 5"/>
          <p:cNvSpPr/>
          <p:nvPr/>
        </p:nvSpPr>
        <p:spPr>
          <a:xfrm>
            <a:off x="106984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Oval 6"/>
          <p:cNvSpPr/>
          <p:nvPr/>
        </p:nvSpPr>
        <p:spPr>
          <a:xfrm>
            <a:off x="148132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Rectangle 7"/>
          <p:cNvSpPr/>
          <p:nvPr/>
        </p:nvSpPr>
        <p:spPr>
          <a:xfrm>
            <a:off x="630936" y="1975103"/>
            <a:ext cx="5330677" cy="275610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96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2029966"/>
            <a:ext cx="5220948" cy="2646373"/>
          </a:xfrm>
          <a:prstGeom prst="rect">
            <a:avLst/>
          </a:prstGeom>
          <a:ln w="12700">
            <a:miter lim="400000"/>
          </a:ln>
        </p:spPr>
      </p:pic>
      <p:sp>
        <p:nvSpPr>
          <p:cNvPr id="597" name="Rectangle 9"/>
          <p:cNvSpPr/>
          <p:nvPr/>
        </p:nvSpPr>
        <p:spPr>
          <a:xfrm>
            <a:off x="630934" y="1975103"/>
            <a:ext cx="310903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Rectangle 10"/>
          <p:cNvSpPr/>
          <p:nvPr/>
        </p:nvSpPr>
        <p:spPr>
          <a:xfrm>
            <a:off x="630936" y="1975103"/>
            <a:ext cx="54870" cy="310902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01" name="Rounded Rectangle 11"/>
          <p:cNvGrpSpPr/>
          <p:nvPr/>
        </p:nvGrpSpPr>
        <p:grpSpPr>
          <a:xfrm>
            <a:off x="685800" y="4840924"/>
            <a:ext cx="1682501" cy="310910"/>
            <a:chOff x="0" y="0"/>
            <a:chExt cx="1682500" cy="310908"/>
          </a:xfrm>
        </p:grpSpPr>
        <p:sp>
          <p:nvSpPr>
            <p:cNvPr id="599" name="圓角矩形"/>
            <p:cNvSpPr/>
            <p:nvPr/>
          </p:nvSpPr>
          <p:spPr>
            <a:xfrm>
              <a:off x="0" y="-1"/>
              <a:ext cx="1682501" cy="31090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0" name="看板＋側邊欄導覽"/>
            <p:cNvSpPr txBox="1"/>
            <p:nvPr/>
          </p:nvSpPr>
          <p:spPr>
            <a:xfrm>
              <a:off x="225297" y="47498"/>
              <a:ext cx="1231901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看板＋側邊欄導覽</a:t>
              </a:r>
            </a:p>
          </p:txBody>
        </p:sp>
      </p:grpSp>
      <p:sp>
        <p:nvSpPr>
          <p:cNvPr id="602" name="Rectangle 12"/>
          <p:cNvSpPr/>
          <p:nvPr/>
        </p:nvSpPr>
        <p:spPr>
          <a:xfrm>
            <a:off x="6217644" y="1975103"/>
            <a:ext cx="5330681" cy="2756102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03" name="Picture 13" descr="Picture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72507" y="2029966"/>
            <a:ext cx="5220950" cy="2646373"/>
          </a:xfrm>
          <a:prstGeom prst="rect">
            <a:avLst/>
          </a:prstGeom>
          <a:ln w="12700">
            <a:miter lim="400000"/>
          </a:ln>
        </p:spPr>
      </p:pic>
      <p:sp>
        <p:nvSpPr>
          <p:cNvPr id="604" name="Rectangle 14"/>
          <p:cNvSpPr/>
          <p:nvPr/>
        </p:nvSpPr>
        <p:spPr>
          <a:xfrm>
            <a:off x="6217644" y="1975103"/>
            <a:ext cx="310902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5" name="Rectangle 15"/>
          <p:cNvSpPr/>
          <p:nvPr/>
        </p:nvSpPr>
        <p:spPr>
          <a:xfrm>
            <a:off x="6217644" y="1975103"/>
            <a:ext cx="54870" cy="310902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08" name="Rounded Rectangle 16"/>
          <p:cNvGrpSpPr/>
          <p:nvPr/>
        </p:nvGrpSpPr>
        <p:grpSpPr>
          <a:xfrm>
            <a:off x="6272501" y="4840924"/>
            <a:ext cx="2176285" cy="310910"/>
            <a:chOff x="0" y="0"/>
            <a:chExt cx="2176284" cy="310908"/>
          </a:xfrm>
        </p:grpSpPr>
        <p:sp>
          <p:nvSpPr>
            <p:cNvPr id="606" name="圓角矩形"/>
            <p:cNvSpPr/>
            <p:nvPr/>
          </p:nvSpPr>
          <p:spPr>
            <a:xfrm>
              <a:off x="-1" y="-1"/>
              <a:ext cx="2176285" cy="31090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7" name="WBS 檢視＋新增大項"/>
            <p:cNvSpPr txBox="1"/>
            <p:nvPr/>
          </p:nvSpPr>
          <p:spPr>
            <a:xfrm>
              <a:off x="364880" y="47498"/>
              <a:ext cx="1446511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WBS 檢視＋新增大項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Box 1"/>
          <p:cNvSpPr txBox="1"/>
          <p:nvPr/>
        </p:nvSpPr>
        <p:spPr>
          <a:xfrm>
            <a:off x="685800" y="548640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1B5CC9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近期優化 · 首頁</a:t>
            </a:r>
          </a:p>
        </p:txBody>
      </p:sp>
      <p:sp>
        <p:nvSpPr>
          <p:cNvPr id="611" name="TextBox 2"/>
          <p:cNvSpPr txBox="1"/>
          <p:nvPr/>
        </p:nvSpPr>
        <p:spPr>
          <a:xfrm>
            <a:off x="685800" y="914400"/>
            <a:ext cx="1080765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B113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首頁儀表板：依角色分三層</a:t>
            </a:r>
          </a:p>
        </p:txBody>
      </p:sp>
      <p:sp>
        <p:nvSpPr>
          <p:cNvPr id="612" name="Connector 3"/>
          <p:cNvSpPr/>
          <p:nvPr/>
        </p:nvSpPr>
        <p:spPr>
          <a:xfrm>
            <a:off x="685796" y="1572766"/>
            <a:ext cx="822967" cy="6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Oval 4"/>
          <p:cNvSpPr/>
          <p:nvPr/>
        </p:nvSpPr>
        <p:spPr>
          <a:xfrm>
            <a:off x="658368" y="1545336"/>
            <a:ext cx="54864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4" name="Oval 5"/>
          <p:cNvSpPr/>
          <p:nvPr/>
        </p:nvSpPr>
        <p:spPr>
          <a:xfrm>
            <a:off x="106984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Oval 6"/>
          <p:cNvSpPr/>
          <p:nvPr/>
        </p:nvSpPr>
        <p:spPr>
          <a:xfrm>
            <a:off x="1481327" y="1545336"/>
            <a:ext cx="54875" cy="54875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" name="Rectangle 7"/>
          <p:cNvSpPr/>
          <p:nvPr/>
        </p:nvSpPr>
        <p:spPr>
          <a:xfrm>
            <a:off x="2156176" y="1975103"/>
            <a:ext cx="7866906" cy="404165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6B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17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11040" y="2029966"/>
            <a:ext cx="7757178" cy="3931924"/>
          </a:xfrm>
          <a:prstGeom prst="rect">
            <a:avLst/>
          </a:prstGeom>
          <a:ln w="12700">
            <a:miter lim="400000"/>
          </a:ln>
        </p:spPr>
      </p:pic>
      <p:sp>
        <p:nvSpPr>
          <p:cNvPr id="618" name="Rectangle 9"/>
          <p:cNvSpPr/>
          <p:nvPr/>
        </p:nvSpPr>
        <p:spPr>
          <a:xfrm>
            <a:off x="2156174" y="1975103"/>
            <a:ext cx="310902" cy="5487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Rectangle 10"/>
          <p:cNvSpPr/>
          <p:nvPr/>
        </p:nvSpPr>
        <p:spPr>
          <a:xfrm>
            <a:off x="2156174" y="1975103"/>
            <a:ext cx="54870" cy="310902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22" name="Rounded Rectangle 11"/>
          <p:cNvGrpSpPr/>
          <p:nvPr/>
        </p:nvGrpSpPr>
        <p:grpSpPr>
          <a:xfrm>
            <a:off x="2211034" y="6126475"/>
            <a:ext cx="5468125" cy="310910"/>
            <a:chOff x="0" y="0"/>
            <a:chExt cx="5468124" cy="310908"/>
          </a:xfrm>
        </p:grpSpPr>
        <p:sp>
          <p:nvSpPr>
            <p:cNvPr id="620" name="圓角矩形"/>
            <p:cNvSpPr/>
            <p:nvPr/>
          </p:nvSpPr>
          <p:spPr>
            <a:xfrm>
              <a:off x="-1" y="-1"/>
              <a:ext cx="5468125" cy="310909"/>
            </a:xfrm>
            <a:prstGeom prst="roundRect">
              <a:avLst>
                <a:gd name="adj" fmla="val 50000"/>
              </a:avLst>
            </a:prstGeom>
            <a:solidFill>
              <a:srgbClr val="1B2A6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21" name="leader 個人視角：進行中的專案＋指派給我的任務，逾期標紅"/>
            <p:cNvSpPr txBox="1"/>
            <p:nvPr/>
          </p:nvSpPr>
          <p:spPr>
            <a:xfrm>
              <a:off x="577773" y="47498"/>
              <a:ext cx="4312569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leader 個人視角：進行中的專案＋指派給我的任務，逾期標紅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5" name="Connector 2"/>
          <p:cNvSpPr/>
          <p:nvPr/>
        </p:nvSpPr>
        <p:spPr>
          <a:xfrm>
            <a:off x="685800" y="685800"/>
            <a:ext cx="201168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3"/>
          <p:cNvSpPr/>
          <p:nvPr/>
        </p:nvSpPr>
        <p:spPr>
          <a:xfrm>
            <a:off x="658368" y="658368"/>
            <a:ext cx="54864" cy="54864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Oval 4"/>
          <p:cNvSpPr/>
          <p:nvPr/>
        </p:nvSpPr>
        <p:spPr>
          <a:xfrm>
            <a:off x="1664205" y="658368"/>
            <a:ext cx="54875" cy="54864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Oval 5"/>
          <p:cNvSpPr/>
          <p:nvPr/>
        </p:nvSpPr>
        <p:spPr>
          <a:xfrm>
            <a:off x="2670048" y="658368"/>
            <a:ext cx="54875" cy="54864"/>
          </a:xfrm>
          <a:prstGeom prst="ellipse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9" name="TextBox 6"/>
          <p:cNvSpPr txBox="1"/>
          <p:nvPr/>
        </p:nvSpPr>
        <p:spPr>
          <a:xfrm>
            <a:off x="685800" y="960119"/>
            <a:ext cx="1080765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22D3E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寫在最後</a:t>
            </a:r>
          </a:p>
        </p:txBody>
      </p:sp>
      <p:sp>
        <p:nvSpPr>
          <p:cNvPr id="630" name="TextBox 7"/>
          <p:cNvSpPr txBox="1"/>
          <p:nvPr/>
        </p:nvSpPr>
        <p:spPr>
          <a:xfrm>
            <a:off x="685800" y="1325877"/>
            <a:ext cx="10807659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這次做完，我自己比較有感的幾件事</a:t>
            </a:r>
          </a:p>
        </p:txBody>
      </p:sp>
      <p:sp>
        <p:nvSpPr>
          <p:cNvPr id="631" name="Rectangle 8"/>
          <p:cNvSpPr/>
          <p:nvPr/>
        </p:nvSpPr>
        <p:spPr>
          <a:xfrm>
            <a:off x="685798" y="2706622"/>
            <a:ext cx="100591" cy="100586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2" name="TextBox 9"/>
          <p:cNvSpPr txBox="1"/>
          <p:nvPr/>
        </p:nvSpPr>
        <p:spPr>
          <a:xfrm>
            <a:off x="978405" y="2606038"/>
            <a:ext cx="105150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6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AI 省下的是打字跟查資料的時間；要做什麼、方向對不對，還是得自己判斷</a:t>
            </a:r>
          </a:p>
        </p:txBody>
      </p:sp>
      <p:sp>
        <p:nvSpPr>
          <p:cNvPr id="633" name="Rectangle 10"/>
          <p:cNvSpPr/>
          <p:nvPr/>
        </p:nvSpPr>
        <p:spPr>
          <a:xfrm>
            <a:off x="685798" y="3218688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TextBox 11"/>
          <p:cNvSpPr txBox="1"/>
          <p:nvPr/>
        </p:nvSpPr>
        <p:spPr>
          <a:xfrm>
            <a:off x="978405" y="3118104"/>
            <a:ext cx="105150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6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一個人開發最怕沒人幫忙看，讓另一個 AI 來挑毛病，剛好補上這塊</a:t>
            </a:r>
          </a:p>
        </p:txBody>
      </p:sp>
      <p:sp>
        <p:nvSpPr>
          <p:cNvPr id="635" name="Rectangle 12"/>
          <p:cNvSpPr/>
          <p:nvPr/>
        </p:nvSpPr>
        <p:spPr>
          <a:xfrm>
            <a:off x="685798" y="3730752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6" name="TextBox 13"/>
          <p:cNvSpPr txBox="1"/>
          <p:nvPr/>
        </p:nvSpPr>
        <p:spPr>
          <a:xfrm>
            <a:off x="978405" y="3630167"/>
            <a:ext cx="105150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6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最花時間的不是寫程式，是把需求想清楚——這件事 AI 幫不上忙</a:t>
            </a:r>
          </a:p>
        </p:txBody>
      </p:sp>
      <p:sp>
        <p:nvSpPr>
          <p:cNvPr id="637" name="Rectangle 14"/>
          <p:cNvSpPr/>
          <p:nvPr/>
        </p:nvSpPr>
        <p:spPr>
          <a:xfrm>
            <a:off x="685798" y="4242815"/>
            <a:ext cx="100591" cy="100590"/>
          </a:xfrm>
          <a:prstGeom prst="rect">
            <a:avLst/>
          </a:prstGeom>
          <a:solidFill>
            <a:srgbClr val="F5A52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8" name="TextBox 15"/>
          <p:cNvSpPr txBox="1"/>
          <p:nvPr/>
        </p:nvSpPr>
        <p:spPr>
          <a:xfrm>
            <a:off x="978405" y="4142232"/>
            <a:ext cx="105150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6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pPr/>
            <a:r>
              <a:t>兩個月做了四個世代，走的冤枉路比想像多，但每次砍掉重來都比硬撐下去快</a:t>
            </a:r>
          </a:p>
        </p:txBody>
      </p:sp>
      <p:sp>
        <p:nvSpPr>
          <p:cNvPr id="639" name="Connector 16"/>
          <p:cNvSpPr/>
          <p:nvPr/>
        </p:nvSpPr>
        <p:spPr>
          <a:xfrm>
            <a:off x="685796" y="4791454"/>
            <a:ext cx="4983490" cy="6"/>
          </a:xfrm>
          <a:prstGeom prst="line">
            <a:avLst/>
          </a:prstGeom>
          <a:ln w="12700">
            <a:solidFill>
              <a:srgbClr val="22D3E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TextBox 17"/>
          <p:cNvSpPr txBox="1"/>
          <p:nvPr/>
        </p:nvSpPr>
        <p:spPr>
          <a:xfrm>
            <a:off x="685800" y="4974335"/>
            <a:ext cx="1080765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5A524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pPr/>
            <a:r>
              <a:t>謝謝聆聽 · Q &amp; 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