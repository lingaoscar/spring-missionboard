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21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89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lingaoscar.github.io/WbsScaff/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5" name="Connector 2"/>
          <p:cNvSpPr/>
          <p:nvPr/>
        </p:nvSpPr>
        <p:spPr>
          <a:xfrm>
            <a:off x="685795" y="914400"/>
            <a:ext cx="2377448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" name="Oval 3"/>
          <p:cNvSpPr/>
          <p:nvPr/>
        </p:nvSpPr>
        <p:spPr>
          <a:xfrm>
            <a:off x="658368" y="88696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7" name="Oval 4"/>
          <p:cNvSpPr/>
          <p:nvPr/>
        </p:nvSpPr>
        <p:spPr>
          <a:xfrm>
            <a:off x="1450847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8" name="Oval 5"/>
          <p:cNvSpPr/>
          <p:nvPr/>
        </p:nvSpPr>
        <p:spPr>
          <a:xfrm>
            <a:off x="2243327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9" name="Oval 6"/>
          <p:cNvSpPr/>
          <p:nvPr/>
        </p:nvSpPr>
        <p:spPr>
          <a:xfrm>
            <a:off x="3035805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0" name="TextBox 7"/>
          <p:cNvSpPr txBox="1"/>
          <p:nvPr/>
        </p:nvSpPr>
        <p:spPr>
          <a:xfrm>
            <a:off x="685796" y="1280160"/>
            <a:ext cx="10607048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SPRING-MISSIONBOARD  ·  技術回顧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685796" y="1828800"/>
            <a:ext cx="10607048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08000"/>
              </a:lnSpc>
              <a:defRPr sz="46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時間都去哪了？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685796" y="3063239"/>
            <a:ext cx="106070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 HTML 到 SaaS 雜談</a:t>
            </a:r>
          </a:p>
        </p:txBody>
      </p:sp>
      <p:sp>
        <p:nvSpPr>
          <p:cNvPr id="103" name="Connector 10"/>
          <p:cNvSpPr/>
          <p:nvPr/>
        </p:nvSpPr>
        <p:spPr>
          <a:xfrm>
            <a:off x="685791" y="4663440"/>
            <a:ext cx="4983502" cy="13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TextBox 11"/>
          <p:cNvSpPr txBox="1"/>
          <p:nvPr/>
        </p:nvSpPr>
        <p:spPr>
          <a:xfrm>
            <a:off x="685800" y="4846320"/>
            <a:ext cx="82296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2026-06-08 → 2026-08-10   ·   Spring-MissionBoard 及其前身專案</a:t>
            </a:r>
          </a:p>
        </p:txBody>
      </p:sp>
      <p:grpSp>
        <p:nvGrpSpPr>
          <p:cNvPr id="107" name="Rounded Rectangle 12"/>
          <p:cNvGrpSpPr/>
          <p:nvPr/>
        </p:nvGrpSpPr>
        <p:grpSpPr>
          <a:xfrm>
            <a:off x="685783" y="6126463"/>
            <a:ext cx="2999261" cy="310925"/>
            <a:chOff x="0" y="-1"/>
            <a:chExt cx="2999260" cy="310924"/>
          </a:xfrm>
        </p:grpSpPr>
        <p:sp>
          <p:nvSpPr>
            <p:cNvPr id="105" name="圓角矩形"/>
            <p:cNvSpPr/>
            <p:nvPr/>
          </p:nvSpPr>
          <p:spPr>
            <a:xfrm>
              <a:off x="-1" y="-2"/>
              <a:ext cx="2999261" cy="31092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06" name="personal project"/>
            <p:cNvSpPr txBox="1"/>
            <p:nvPr/>
          </p:nvSpPr>
          <p:spPr>
            <a:xfrm>
              <a:off x="820419" y="72901"/>
              <a:ext cx="135840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22D3EE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personal project</a:t>
              </a:r>
            </a:p>
          </p:txBody>
        </p:sp>
      </p:grpSp>
      <p:sp>
        <p:nvSpPr>
          <p:cNvPr id="108" name="Rectangle 107"/>
          <p:cNvSpPr/>
          <p:nvPr/>
        </p:nvSpPr>
        <p:spPr>
          <a:xfrm>
            <a:off x="8778240" y="1371599"/>
            <a:ext cx="2194572" cy="9145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9" name="Rectangle 108"/>
          <p:cNvSpPr/>
          <p:nvPr/>
        </p:nvSpPr>
        <p:spPr>
          <a:xfrm>
            <a:off x="8778240" y="4846320"/>
            <a:ext cx="2194572" cy="9145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0" name="Isosceles Triangle 109"/>
          <p:cNvSpPr/>
          <p:nvPr/>
        </p:nvSpPr>
        <p:spPr>
          <a:xfrm rot="10800000">
            <a:off x="8961118" y="1463037"/>
            <a:ext cx="1828802" cy="1691644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1" name="Isosceles Triangle 110"/>
          <p:cNvSpPr/>
          <p:nvPr/>
        </p:nvSpPr>
        <p:spPr>
          <a:xfrm>
            <a:off x="8961118" y="3154677"/>
            <a:ext cx="1828805" cy="1691647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2" name="Oval 111"/>
          <p:cNvSpPr/>
          <p:nvPr/>
        </p:nvSpPr>
        <p:spPr>
          <a:xfrm>
            <a:off x="9464040" y="4462271"/>
            <a:ext cx="822969" cy="38407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3" name="Oval 112"/>
          <p:cNvSpPr/>
          <p:nvPr/>
        </p:nvSpPr>
        <p:spPr>
          <a:xfrm>
            <a:off x="9674352" y="2971799"/>
            <a:ext cx="402359" cy="14632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4" name="Rectangle 113"/>
          <p:cNvSpPr/>
          <p:nvPr/>
        </p:nvSpPr>
        <p:spPr>
          <a:xfrm>
            <a:off x="9861804" y="3099816"/>
            <a:ext cx="27435" cy="1097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5" name="Connector 114"/>
          <p:cNvSpPr/>
          <p:nvPr/>
        </p:nvSpPr>
        <p:spPr>
          <a:xfrm>
            <a:off x="8503918" y="5486400"/>
            <a:ext cx="822969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Oval 115"/>
          <p:cNvSpPr/>
          <p:nvPr/>
        </p:nvSpPr>
        <p:spPr>
          <a:xfrm>
            <a:off x="8476488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7" name="Oval 116"/>
          <p:cNvSpPr/>
          <p:nvPr/>
        </p:nvSpPr>
        <p:spPr>
          <a:xfrm>
            <a:off x="8887968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8" name="Oval 117"/>
          <p:cNvSpPr/>
          <p:nvPr/>
        </p:nvSpPr>
        <p:spPr>
          <a:xfrm>
            <a:off x="9299447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9" name="TextBox 118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這也要兩個月？！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 txBox="1"/>
          <p:nvPr/>
        </p:nvSpPr>
        <p:spPr>
          <a:xfrm>
            <a:off x="685800" y="640080"/>
            <a:ext cx="10807659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DISCLAIMER</a:t>
            </a:r>
          </a:p>
        </p:txBody>
      </p:sp>
      <p:sp>
        <p:nvSpPr>
          <p:cNvPr id="122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23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5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6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7" name="Oval 7"/>
          <p:cNvSpPr/>
          <p:nvPr/>
        </p:nvSpPr>
        <p:spPr>
          <a:xfrm>
            <a:off x="685800" y="2121405"/>
            <a:ext cx="310896" cy="310927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" name="TextBox 8"/>
          <p:cNvSpPr txBox="1"/>
          <p:nvPr/>
        </p:nvSpPr>
        <p:spPr>
          <a:xfrm>
            <a:off x="685800" y="2176272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9" name="TextBox 9"/>
          <p:cNvSpPr txBox="1"/>
          <p:nvPr/>
        </p:nvSpPr>
        <p:spPr>
          <a:xfrm>
            <a:off x="1188719" y="2130549"/>
            <a:ext cx="10304741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以下介紹之專案（WbsScaff、Spring-WbsScaff、Spring-TaskFlow、Spring-MissionBoard），均為個人興趣開發，非公司指派或授權之專案</a:t>
            </a:r>
          </a:p>
        </p:txBody>
      </p:sp>
      <p:sp>
        <p:nvSpPr>
          <p:cNvPr id="130" name="Oval 10"/>
          <p:cNvSpPr/>
          <p:nvPr/>
        </p:nvSpPr>
        <p:spPr>
          <a:xfrm>
            <a:off x="685800" y="2971800"/>
            <a:ext cx="310896" cy="310924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1" name="TextBox 11"/>
          <p:cNvSpPr txBox="1"/>
          <p:nvPr/>
        </p:nvSpPr>
        <p:spPr>
          <a:xfrm>
            <a:off x="685800" y="3026664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2" name="TextBox 12"/>
          <p:cNvSpPr txBox="1"/>
          <p:nvPr/>
        </p:nvSpPr>
        <p:spPr>
          <a:xfrm>
            <a:off x="1188719" y="2980944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使用之時間與設備均屬個人所有，與現職工作內容無關，亦不代表任何官方立場或部門決策</a:t>
            </a:r>
          </a:p>
        </p:txBody>
      </p:sp>
      <p:sp>
        <p:nvSpPr>
          <p:cNvPr id="133" name="Oval 13"/>
          <p:cNvSpPr/>
          <p:nvPr/>
        </p:nvSpPr>
        <p:spPr>
          <a:xfrm>
            <a:off x="685800" y="3547871"/>
            <a:ext cx="310896" cy="31092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4" name="TextBox 14"/>
          <p:cNvSpPr txBox="1"/>
          <p:nvPr/>
        </p:nvSpPr>
        <p:spPr>
          <a:xfrm>
            <a:off x="685800" y="3602735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5" name="TextBox 15"/>
          <p:cNvSpPr txBox="1"/>
          <p:nvPr/>
        </p:nvSpPr>
        <p:spPr>
          <a:xfrm>
            <a:off x="1188719" y="3557015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目前均為個人技術驗證，未經正式上線審查，畫面所示資安、權限設計均為模擬情境，非真實系統</a:t>
            </a:r>
          </a:p>
        </p:txBody>
      </p:sp>
      <p:sp>
        <p:nvSpPr>
          <p:cNvPr id="136" name="Oval 16"/>
          <p:cNvSpPr/>
          <p:nvPr/>
        </p:nvSpPr>
        <p:spPr>
          <a:xfrm>
            <a:off x="685800" y="4123944"/>
            <a:ext cx="310896" cy="31092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7" name="TextBox 17"/>
          <p:cNvSpPr txBox="1"/>
          <p:nvPr/>
        </p:nvSpPr>
        <p:spPr>
          <a:xfrm>
            <a:off x="685800" y="4178806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8" name="TextBox 18"/>
          <p:cNvSpPr txBox="1"/>
          <p:nvPr/>
        </p:nvSpPr>
        <p:spPr>
          <a:xfrm>
            <a:off x="1188719" y="4133086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本次僅為開發心得分享交流，非提案亦非報告</a:t>
            </a:r>
          </a:p>
        </p:txBody>
      </p:sp>
      <p:sp>
        <p:nvSpPr>
          <p:cNvPr id="139" name="Oval 19"/>
          <p:cNvSpPr/>
          <p:nvPr/>
        </p:nvSpPr>
        <p:spPr>
          <a:xfrm>
            <a:off x="685800" y="4700015"/>
            <a:ext cx="310896" cy="31092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0" name="TextBox 20"/>
          <p:cNvSpPr txBox="1"/>
          <p:nvPr/>
        </p:nvSpPr>
        <p:spPr>
          <a:xfrm>
            <a:off x="685800" y="4754879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1" name="TextBox 21"/>
          <p:cNvSpPr txBox="1"/>
          <p:nvPr/>
        </p:nvSpPr>
        <p:spPr>
          <a:xfrm>
            <a:off x="1188719" y="4709159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若因本簡報內容引發贊助衝動，歡迎抖內支持一位假日還在寫 code 的 AP 工程師</a:t>
            </a:r>
          </a:p>
        </p:txBody>
      </p:sp>
      <p:sp>
        <p:nvSpPr>
          <p:cNvPr id="142" name="Hexagon 140"/>
          <p:cNvSpPr/>
          <p:nvPr/>
        </p:nvSpPr>
        <p:spPr>
          <a:xfrm>
            <a:off x="9098280" y="4663440"/>
            <a:ext cx="1005850" cy="10058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5400" y="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ln w="2222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Moon 141"/>
          <p:cNvSpPr/>
          <p:nvPr/>
        </p:nvSpPr>
        <p:spPr>
          <a:xfrm>
            <a:off x="9381742" y="4928615"/>
            <a:ext cx="438923" cy="438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16765"/>
                  <a:pt x="0" y="10800"/>
                </a:cubicBezTo>
                <a:cubicBezTo>
                  <a:pt x="0" y="4835"/>
                  <a:pt x="9671" y="0"/>
                  <a:pt x="21600" y="0"/>
                </a:cubicBezTo>
                <a:cubicBezTo>
                  <a:pt x="9671" y="4474"/>
                  <a:pt x="7253" y="12935"/>
                  <a:pt x="16200" y="18900"/>
                </a:cubicBezTo>
                <a:cubicBezTo>
                  <a:pt x="17735" y="19923"/>
                  <a:pt x="19553" y="20832"/>
                  <a:pt x="21600" y="21600"/>
                </a:cubicBezTo>
                <a:close/>
              </a:path>
            </a:pathLst>
          </a:cu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Connector 142"/>
          <p:cNvSpPr/>
          <p:nvPr/>
        </p:nvSpPr>
        <p:spPr>
          <a:xfrm>
            <a:off x="9052559" y="5779008"/>
            <a:ext cx="1097291" cy="1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" name="Oval 143"/>
          <p:cNvSpPr/>
          <p:nvPr/>
        </p:nvSpPr>
        <p:spPr>
          <a:xfrm>
            <a:off x="9025128" y="57515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Oval 144"/>
          <p:cNvSpPr/>
          <p:nvPr/>
        </p:nvSpPr>
        <p:spPr>
          <a:xfrm>
            <a:off x="10122406" y="57515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49" name="Rounded Rectangle 145"/>
          <p:cNvGrpSpPr/>
          <p:nvPr/>
        </p:nvGrpSpPr>
        <p:grpSpPr>
          <a:xfrm>
            <a:off x="8412480" y="5961881"/>
            <a:ext cx="2468902" cy="274346"/>
            <a:chOff x="0" y="0"/>
            <a:chExt cx="2468901" cy="274344"/>
          </a:xfrm>
        </p:grpSpPr>
        <p:sp>
          <p:nvSpPr>
            <p:cNvPr id="147" name="圓角矩形"/>
            <p:cNvSpPr/>
            <p:nvPr/>
          </p:nvSpPr>
          <p:spPr>
            <a:xfrm>
              <a:off x="0" y="-1"/>
              <a:ext cx="2468902" cy="274345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OFF DUTY · PERSONAL"/>
            <p:cNvSpPr txBox="1"/>
            <p:nvPr/>
          </p:nvSpPr>
          <p:spPr>
            <a:xfrm>
              <a:off x="501715" y="67313"/>
              <a:ext cx="1465449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OFF DUTY · PERSONAL</a:t>
              </a:r>
            </a:p>
          </p:txBody>
        </p:sp>
      </p:grpSp>
      <p:sp>
        <p:nvSpPr>
          <p:cNvPr id="150" name="TextBox 146"/>
          <p:cNvSpPr txBox="1"/>
          <p:nvPr/>
        </p:nvSpPr>
        <p:spPr>
          <a:xfrm>
            <a:off x="6675118" y="6428232"/>
            <a:ext cx="480060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認真的免責聲明，笑死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先講一下 SaaS</a:t>
            </a:r>
          </a:p>
        </p:txBody>
      </p:sp>
      <p:sp>
        <p:nvSpPr>
          <p:cNvPr id="153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54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東西放在同一個地方，大家連上去看到的都是同一份、也都是最新的</a:t>
            </a:r>
          </a:p>
        </p:txBody>
      </p:sp>
      <p:sp>
        <p:nvSpPr>
          <p:cNvPr id="155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7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8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9" name="Rectangle 8"/>
          <p:cNvSpPr/>
          <p:nvPr/>
        </p:nvSpPr>
        <p:spPr>
          <a:xfrm>
            <a:off x="685798" y="2414016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0" name="TextBox 9"/>
          <p:cNvSpPr txBox="1"/>
          <p:nvPr/>
        </p:nvSpPr>
        <p:spPr>
          <a:xfrm>
            <a:off x="978405" y="232257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開會前要人工合併，常常對到不一樣的版本　→　不用互傳檔案，也不用問「哪一份才是最新的」</a:t>
            </a:r>
          </a:p>
        </p:txBody>
      </p:sp>
      <p:sp>
        <p:nvSpPr>
          <p:cNvPr id="161" name="Rectangle 10"/>
          <p:cNvSpPr/>
          <p:nvPr/>
        </p:nvSpPr>
        <p:spPr>
          <a:xfrm>
            <a:off x="685787" y="2848989"/>
            <a:ext cx="4946658" cy="359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2" name="Rectangle 11"/>
          <p:cNvSpPr/>
          <p:nvPr/>
        </p:nvSpPr>
        <p:spPr>
          <a:xfrm>
            <a:off x="685787" y="2848991"/>
            <a:ext cx="4946658" cy="384065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3" name="TextBox 12"/>
          <p:cNvSpPr txBox="1"/>
          <p:nvPr/>
        </p:nvSpPr>
        <p:spPr>
          <a:xfrm>
            <a:off x="685787" y="2926713"/>
            <a:ext cx="494665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以前 · 各自一份檔案</a:t>
            </a:r>
          </a:p>
        </p:txBody>
      </p:sp>
      <p:sp>
        <p:nvSpPr>
          <p:cNvPr id="164" name="Rectangle 13"/>
          <p:cNvSpPr/>
          <p:nvPr/>
        </p:nvSpPr>
        <p:spPr>
          <a:xfrm>
            <a:off x="6546828" y="2848989"/>
            <a:ext cx="4946647" cy="3597536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5" name="Rectangle 14"/>
          <p:cNvSpPr/>
          <p:nvPr/>
        </p:nvSpPr>
        <p:spPr>
          <a:xfrm>
            <a:off x="6546828" y="2848991"/>
            <a:ext cx="4946647" cy="3840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6" name="TextBox 15"/>
          <p:cNvSpPr txBox="1"/>
          <p:nvPr/>
        </p:nvSpPr>
        <p:spPr>
          <a:xfrm>
            <a:off x="6546828" y="2926713"/>
            <a:ext cx="494664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連到同一個地方</a:t>
            </a:r>
          </a:p>
        </p:txBody>
      </p:sp>
      <p:sp>
        <p:nvSpPr>
          <p:cNvPr id="167" name="Connector 16"/>
          <p:cNvSpPr/>
          <p:nvPr/>
        </p:nvSpPr>
        <p:spPr>
          <a:xfrm>
            <a:off x="5742156" y="4647755"/>
            <a:ext cx="694961" cy="13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8" name="Isosceles Triangle 17"/>
          <p:cNvSpPr/>
          <p:nvPr/>
        </p:nvSpPr>
        <p:spPr>
          <a:xfrm rot="5400000">
            <a:off x="6290786" y="4556307"/>
            <a:ext cx="182901" cy="182899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9" name="TextBox 207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終於要進入正題了</a:t>
            </a:r>
          </a:p>
        </p:txBody>
      </p:sp>
      <p:sp>
        <p:nvSpPr>
          <p:cNvPr id="170" name="Rounded Rectangle 211"/>
          <p:cNvSpPr/>
          <p:nvPr/>
        </p:nvSpPr>
        <p:spPr>
          <a:xfrm rot="21120000">
            <a:off x="1417319" y="4160520"/>
            <a:ext cx="868681" cy="1097290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1" name="Rectangle 212"/>
          <p:cNvSpPr/>
          <p:nvPr/>
        </p:nvSpPr>
        <p:spPr>
          <a:xfrm>
            <a:off x="1554480" y="4416552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2" name="Rectangle 213"/>
          <p:cNvSpPr/>
          <p:nvPr/>
        </p:nvSpPr>
        <p:spPr>
          <a:xfrm>
            <a:off x="1554480" y="4599432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3" name="Rectangle 214"/>
          <p:cNvSpPr/>
          <p:nvPr/>
        </p:nvSpPr>
        <p:spPr>
          <a:xfrm>
            <a:off x="1554480" y="4782310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4" name="Rounded Rectangle 215"/>
          <p:cNvSpPr/>
          <p:nvPr/>
        </p:nvSpPr>
        <p:spPr>
          <a:xfrm rot="300000">
            <a:off x="2606038" y="3794759"/>
            <a:ext cx="868682" cy="1097290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5" name="Rectangle 216"/>
          <p:cNvSpPr/>
          <p:nvPr/>
        </p:nvSpPr>
        <p:spPr>
          <a:xfrm>
            <a:off x="2743200" y="4050791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6" name="Rectangle 217"/>
          <p:cNvSpPr/>
          <p:nvPr/>
        </p:nvSpPr>
        <p:spPr>
          <a:xfrm>
            <a:off x="2743200" y="4233671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7" name="Rectangle 218"/>
          <p:cNvSpPr/>
          <p:nvPr/>
        </p:nvSpPr>
        <p:spPr>
          <a:xfrm>
            <a:off x="2743200" y="4416552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8" name="Rounded Rectangle 219"/>
          <p:cNvSpPr/>
          <p:nvPr/>
        </p:nvSpPr>
        <p:spPr>
          <a:xfrm rot="21300000">
            <a:off x="3794759" y="4206240"/>
            <a:ext cx="868690" cy="1097290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9" name="Rectangle 220"/>
          <p:cNvSpPr/>
          <p:nvPr/>
        </p:nvSpPr>
        <p:spPr>
          <a:xfrm>
            <a:off x="3931920" y="4462271"/>
            <a:ext cx="59437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0" name="Rectangle 221"/>
          <p:cNvSpPr/>
          <p:nvPr/>
        </p:nvSpPr>
        <p:spPr>
          <a:xfrm>
            <a:off x="3931920" y="4645152"/>
            <a:ext cx="59437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1" name="Rectangle 222"/>
          <p:cNvSpPr/>
          <p:nvPr/>
        </p:nvSpPr>
        <p:spPr>
          <a:xfrm>
            <a:off x="3931920" y="4828032"/>
            <a:ext cx="59437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2" name="Oval 223"/>
          <p:cNvSpPr/>
          <p:nvPr/>
        </p:nvSpPr>
        <p:spPr>
          <a:xfrm>
            <a:off x="7278623" y="3529584"/>
            <a:ext cx="164611" cy="164611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3" name="Connector 224"/>
          <p:cNvSpPr/>
          <p:nvPr/>
        </p:nvSpPr>
        <p:spPr>
          <a:xfrm>
            <a:off x="7360918" y="3694176"/>
            <a:ext cx="1659636" cy="740674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4" name="Oval 225"/>
          <p:cNvSpPr/>
          <p:nvPr/>
        </p:nvSpPr>
        <p:spPr>
          <a:xfrm>
            <a:off x="8938259" y="3529584"/>
            <a:ext cx="164611" cy="164611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" name="Connector 226"/>
          <p:cNvSpPr/>
          <p:nvPr/>
        </p:nvSpPr>
        <p:spPr>
          <a:xfrm>
            <a:off x="9020556" y="3694176"/>
            <a:ext cx="10" cy="740674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6" name="Oval 227"/>
          <p:cNvSpPr/>
          <p:nvPr/>
        </p:nvSpPr>
        <p:spPr>
          <a:xfrm>
            <a:off x="10597894" y="3529584"/>
            <a:ext cx="164611" cy="164611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7" name="Connector 228"/>
          <p:cNvSpPr/>
          <p:nvPr/>
        </p:nvSpPr>
        <p:spPr>
          <a:xfrm flipH="1">
            <a:off x="9020558" y="3694176"/>
            <a:ext cx="1659636" cy="740674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90" name="Cloud 229"/>
          <p:cNvGrpSpPr/>
          <p:nvPr/>
        </p:nvGrpSpPr>
        <p:grpSpPr>
          <a:xfrm>
            <a:off x="7953895" y="4438701"/>
            <a:ext cx="2106279" cy="1237078"/>
            <a:chOff x="44" y="-13"/>
            <a:chExt cx="2106278" cy="1237077"/>
          </a:xfrm>
        </p:grpSpPr>
        <p:sp>
          <p:nvSpPr>
            <p:cNvPr id="188" name="形狀"/>
            <p:cNvSpPr/>
            <p:nvPr/>
          </p:nvSpPr>
          <p:spPr>
            <a:xfrm>
              <a:off x="44" y="-14"/>
              <a:ext cx="2106280" cy="12370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fill="norm" stroke="1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89" name="形狀"/>
            <p:cNvSpPr/>
            <p:nvPr/>
          </p:nvSpPr>
          <p:spPr>
            <a:xfrm>
              <a:off x="106580" y="62995"/>
              <a:ext cx="1929733" cy="10501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</p:grpSp>
      <p:sp>
        <p:nvSpPr>
          <p:cNvPr id="191" name="Oval 230"/>
          <p:cNvSpPr/>
          <p:nvPr/>
        </p:nvSpPr>
        <p:spPr>
          <a:xfrm>
            <a:off x="8933687" y="4978908"/>
            <a:ext cx="146323" cy="14632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94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95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6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7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8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9" name="Rectangle 7"/>
          <p:cNvSpPr/>
          <p:nvPr/>
        </p:nvSpPr>
        <p:spPr>
          <a:xfrm>
            <a:off x="685798" y="230428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0" name="TextBox 8"/>
          <p:cNvSpPr txBox="1"/>
          <p:nvPr/>
        </p:nvSpPr>
        <p:spPr>
          <a:xfrm>
            <a:off x="978405" y="2212848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身為一個 AP，開發本身不是最花時間的，最花時間的是每次開會都要重新對一次文件，格式不對齊、資訊分散</a:t>
            </a:r>
          </a:p>
        </p:txBody>
      </p:sp>
      <p:sp>
        <p:nvSpPr>
          <p:cNvPr id="201" name="Rectangle 9"/>
          <p:cNvSpPr/>
          <p:nvPr/>
        </p:nvSpPr>
        <p:spPr>
          <a:xfrm>
            <a:off x="685798" y="2743200"/>
            <a:ext cx="100598" cy="100594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2" name="TextBox 10"/>
          <p:cNvSpPr txBox="1"/>
          <p:nvPr/>
        </p:nvSpPr>
        <p:spPr>
          <a:xfrm>
            <a:off x="978405" y="2651760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換算一下：每週簡報，一人約 2MB，500 人一週約 1,000MB；一年 52 週下來，約 52,000MB（≈52GB）在四處流通、重複對稿</a:t>
            </a:r>
          </a:p>
        </p:txBody>
      </p:sp>
      <p:sp>
        <p:nvSpPr>
          <p:cNvPr id="203" name="Rectangle 11"/>
          <p:cNvSpPr/>
          <p:nvPr/>
        </p:nvSpPr>
        <p:spPr>
          <a:xfrm>
            <a:off x="685798" y="344728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4" name="TextBox 12"/>
          <p:cNvSpPr txBox="1"/>
          <p:nvPr/>
        </p:nvSpPr>
        <p:spPr>
          <a:xfrm>
            <a:off x="978405" y="3355847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其實心裡一直有個嚮往：想親手做出一套真正跑在雲端、大家連上去就能一起用的 SaaS 系統，不只是寫寫離線小工具</a:t>
            </a:r>
          </a:p>
        </p:txBody>
      </p:sp>
      <p:sp>
        <p:nvSpPr>
          <p:cNvPr id="205" name="Rectangle 13"/>
          <p:cNvSpPr/>
          <p:nvPr/>
        </p:nvSpPr>
        <p:spPr>
          <a:xfrm>
            <a:off x="685798" y="3886200"/>
            <a:ext cx="100598" cy="100594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6" name="TextBox 14"/>
          <p:cNvSpPr txBox="1"/>
          <p:nvPr/>
        </p:nvSpPr>
        <p:spPr>
          <a:xfrm>
            <a:off x="978405" y="3794759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想法很單純：能不能用 AI 幫忙，把「做文件、對文件」這件事變輕鬆一點？</a:t>
            </a:r>
          </a:p>
        </p:txBody>
      </p:sp>
      <p:sp>
        <p:nvSpPr>
          <p:cNvPr id="207" name="Rectangle 15"/>
          <p:cNvSpPr/>
          <p:nvPr/>
        </p:nvSpPr>
        <p:spPr>
          <a:xfrm>
            <a:off x="685798" y="4325110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8" name="TextBox 16"/>
          <p:cNvSpPr txBox="1"/>
          <p:nvPr/>
        </p:nvSpPr>
        <p:spPr>
          <a:xfrm>
            <a:off x="978405" y="4233671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所以就動手做了 Spring-MissionBoard</a:t>
            </a:r>
          </a:p>
        </p:txBody>
      </p:sp>
      <p:sp>
        <p:nvSpPr>
          <p:cNvPr id="209" name="Rounded Rectangle 146"/>
          <p:cNvSpPr/>
          <p:nvPr/>
        </p:nvSpPr>
        <p:spPr>
          <a:xfrm rot="21120000">
            <a:off x="822960" y="5303520"/>
            <a:ext cx="566940" cy="73153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0" name="Rectangle 147"/>
          <p:cNvSpPr/>
          <p:nvPr/>
        </p:nvSpPr>
        <p:spPr>
          <a:xfrm>
            <a:off x="914400" y="5449823"/>
            <a:ext cx="384048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1" name="Rectangle 148"/>
          <p:cNvSpPr/>
          <p:nvPr/>
        </p:nvSpPr>
        <p:spPr>
          <a:xfrm>
            <a:off x="914400" y="5596128"/>
            <a:ext cx="384048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2" name="Rectangle 149"/>
          <p:cNvSpPr/>
          <p:nvPr/>
        </p:nvSpPr>
        <p:spPr>
          <a:xfrm>
            <a:off x="914400" y="5742432"/>
            <a:ext cx="384048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3" name="Rounded Rectangle 150"/>
          <p:cNvSpPr/>
          <p:nvPr/>
        </p:nvSpPr>
        <p:spPr>
          <a:xfrm rot="300000">
            <a:off x="1600200" y="5120640"/>
            <a:ext cx="566928" cy="73153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4" name="Rectangle 151"/>
          <p:cNvSpPr/>
          <p:nvPr/>
        </p:nvSpPr>
        <p:spPr>
          <a:xfrm>
            <a:off x="1691638" y="5266944"/>
            <a:ext cx="384060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5" name="Rectangle 152"/>
          <p:cNvSpPr/>
          <p:nvPr/>
        </p:nvSpPr>
        <p:spPr>
          <a:xfrm>
            <a:off x="1691638" y="5413247"/>
            <a:ext cx="384060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6" name="Rectangle 153"/>
          <p:cNvSpPr/>
          <p:nvPr/>
        </p:nvSpPr>
        <p:spPr>
          <a:xfrm>
            <a:off x="1691638" y="5559552"/>
            <a:ext cx="384060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7" name="Rounded Rectangle 154"/>
          <p:cNvSpPr/>
          <p:nvPr/>
        </p:nvSpPr>
        <p:spPr>
          <a:xfrm rot="21360000">
            <a:off x="2331720" y="5349240"/>
            <a:ext cx="566940" cy="73153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8" name="Rectangle 155"/>
          <p:cNvSpPr/>
          <p:nvPr/>
        </p:nvSpPr>
        <p:spPr>
          <a:xfrm>
            <a:off x="2423160" y="5495544"/>
            <a:ext cx="384060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9" name="Rectangle 156"/>
          <p:cNvSpPr/>
          <p:nvPr/>
        </p:nvSpPr>
        <p:spPr>
          <a:xfrm>
            <a:off x="2423160" y="5641847"/>
            <a:ext cx="384060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0" name="Rectangle 157"/>
          <p:cNvSpPr/>
          <p:nvPr/>
        </p:nvSpPr>
        <p:spPr>
          <a:xfrm>
            <a:off x="2423160" y="5788152"/>
            <a:ext cx="384060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1" name="Rounded Rectangle 158"/>
          <p:cNvSpPr/>
          <p:nvPr/>
        </p:nvSpPr>
        <p:spPr>
          <a:xfrm rot="420000">
            <a:off x="3108960" y="5074920"/>
            <a:ext cx="566940" cy="73153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2" name="Rectangle 159"/>
          <p:cNvSpPr/>
          <p:nvPr/>
        </p:nvSpPr>
        <p:spPr>
          <a:xfrm>
            <a:off x="3200400" y="5221223"/>
            <a:ext cx="384048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3" name="Rectangle 160"/>
          <p:cNvSpPr/>
          <p:nvPr/>
        </p:nvSpPr>
        <p:spPr>
          <a:xfrm>
            <a:off x="3200400" y="5367528"/>
            <a:ext cx="384048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4" name="Rectangle 161"/>
          <p:cNvSpPr/>
          <p:nvPr/>
        </p:nvSpPr>
        <p:spPr>
          <a:xfrm>
            <a:off x="3200400" y="5513832"/>
            <a:ext cx="384048" cy="4116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5" name="Chevron 162"/>
          <p:cNvSpPr/>
          <p:nvPr/>
        </p:nvSpPr>
        <p:spPr>
          <a:xfrm>
            <a:off x="4206240" y="5349240"/>
            <a:ext cx="502932" cy="365772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6" name="Chevron 163"/>
          <p:cNvSpPr/>
          <p:nvPr/>
        </p:nvSpPr>
        <p:spPr>
          <a:xfrm>
            <a:off x="4892040" y="5349240"/>
            <a:ext cx="502932" cy="365772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7" name="Chevron 164"/>
          <p:cNvSpPr/>
          <p:nvPr/>
        </p:nvSpPr>
        <p:spPr>
          <a:xfrm>
            <a:off x="5577840" y="5349240"/>
            <a:ext cx="502932" cy="365772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230" name="Cloud 165"/>
          <p:cNvGrpSpPr/>
          <p:nvPr/>
        </p:nvGrpSpPr>
        <p:grpSpPr>
          <a:xfrm>
            <a:off x="6399334" y="5033459"/>
            <a:ext cx="2381095" cy="1374590"/>
            <a:chOff x="50" y="-15"/>
            <a:chExt cx="2381094" cy="1374589"/>
          </a:xfrm>
        </p:grpSpPr>
        <p:sp>
          <p:nvSpPr>
            <p:cNvPr id="228" name="形狀"/>
            <p:cNvSpPr/>
            <p:nvPr/>
          </p:nvSpPr>
          <p:spPr>
            <a:xfrm>
              <a:off x="50" y="-16"/>
              <a:ext cx="2381096" cy="137459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fill="norm" stroke="1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29" name="形狀"/>
            <p:cNvSpPr/>
            <p:nvPr/>
          </p:nvSpPr>
          <p:spPr>
            <a:xfrm>
              <a:off x="120380" y="70029"/>
              <a:ext cx="2181437" cy="11668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</p:grpSp>
      <p:sp>
        <p:nvSpPr>
          <p:cNvPr id="231" name="Oval 166"/>
          <p:cNvSpPr/>
          <p:nvPr/>
        </p:nvSpPr>
        <p:spPr>
          <a:xfrm>
            <a:off x="7525511" y="5650991"/>
            <a:ext cx="128029" cy="12802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2" name="TextBox 167"/>
          <p:cNvSpPr txBox="1"/>
          <p:nvPr/>
        </p:nvSpPr>
        <p:spPr>
          <a:xfrm>
            <a:off x="6400800" y="6473952"/>
            <a:ext cx="237744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SaaS</a:t>
            </a:r>
          </a:p>
        </p:txBody>
      </p:sp>
      <p:sp>
        <p:nvSpPr>
          <p:cNvPr id="233" name="TextBox 189"/>
          <p:cNvSpPr txBox="1"/>
          <p:nvPr/>
        </p:nvSpPr>
        <p:spPr>
          <a:xfrm>
            <a:off x="6675118" y="6428232"/>
            <a:ext cx="480060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52GB 真的不是我瞎掰的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236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237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8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9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0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1" name="Rectangle 7"/>
          <p:cNvSpPr/>
          <p:nvPr/>
        </p:nvSpPr>
        <p:spPr>
          <a:xfrm>
            <a:off x="685798" y="2212848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2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先從一支單一 HTML 檔開始，一個人就能做完，快速驗證想法可不可行，不做過度設計</a:t>
            </a:r>
          </a:p>
        </p:txBody>
      </p:sp>
      <p:sp>
        <p:nvSpPr>
          <p:cNvPr id="243" name="Rectangle 9"/>
          <p:cNvSpPr/>
          <p:nvPr/>
        </p:nvSpPr>
        <p:spPr>
          <a:xfrm>
            <a:off x="685798" y="2665727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4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確定方向對了，才往剛剛講的那種「大家連同一個地方」的系統走</a:t>
            </a:r>
          </a:p>
        </p:txBody>
      </p:sp>
      <p:sp>
        <p:nvSpPr>
          <p:cNvPr id="245" name="Rectangle 11"/>
          <p:cNvSpPr/>
          <p:nvPr/>
        </p:nvSpPr>
        <p:spPr>
          <a:xfrm>
            <a:off x="685798" y="3118610"/>
            <a:ext cx="100602" cy="10060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6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過程就是做出來、自己用用看，好用的留下、不好用的直接砍掉</a:t>
            </a:r>
          </a:p>
        </p:txBody>
      </p:sp>
      <p:sp>
        <p:nvSpPr>
          <p:cNvPr id="247" name="TextBox 220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聽起來很有計畫，其實邊做邊砍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108960" y="4937759"/>
            <a:ext cx="1737363" cy="54864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9" name="TextBox 248"/>
          <p:cNvSpPr txBox="1"/>
          <p:nvPr/>
        </p:nvSpPr>
        <p:spPr>
          <a:xfrm>
            <a:off x="3108960" y="5102352"/>
            <a:ext cx="17373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300">
                <a:solidFill>
                  <a:srgbClr val="10152B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單檔 HTML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5120640" y="4526279"/>
            <a:ext cx="1737363" cy="960123"/>
          </a:xfrm>
          <a:prstGeom prst="rect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TextBox 250"/>
          <p:cNvSpPr txBox="1"/>
          <p:nvPr/>
        </p:nvSpPr>
        <p:spPr>
          <a:xfrm>
            <a:off x="5120640" y="5102352"/>
            <a:ext cx="17373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搬上網路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132318" y="4114800"/>
            <a:ext cx="1737363" cy="1371600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TextBox 252"/>
          <p:cNvSpPr txBox="1"/>
          <p:nvPr/>
        </p:nvSpPr>
        <p:spPr>
          <a:xfrm>
            <a:off x="7132318" y="5102352"/>
            <a:ext cx="17373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任務導向</a:t>
            </a:r>
          </a:p>
        </p:txBody>
      </p:sp>
      <p:sp>
        <p:nvSpPr>
          <p:cNvPr id="254" name="Oval 253"/>
          <p:cNvSpPr/>
          <p:nvPr/>
        </p:nvSpPr>
        <p:spPr>
          <a:xfrm>
            <a:off x="7863840" y="3904486"/>
            <a:ext cx="128021" cy="12802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5" name="Rectangle 254"/>
          <p:cNvSpPr/>
          <p:nvPr/>
        </p:nvSpPr>
        <p:spPr>
          <a:xfrm>
            <a:off x="3108958" y="5480050"/>
            <a:ext cx="5760725" cy="12700"/>
          </a:xfrm>
          <a:prstGeom prst="rect">
            <a:avLst/>
          </a:prstGeom>
          <a:ln w="1905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6" name="TextBox 255"/>
          <p:cNvSpPr txBox="1"/>
          <p:nvPr/>
        </p:nvSpPr>
        <p:spPr>
          <a:xfrm>
            <a:off x="3108958" y="5641847"/>
            <a:ext cx="576072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每一階都先做出來、自己用過，不好用就砍掉重來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259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260" name="Connector 3"/>
          <p:cNvSpPr/>
          <p:nvPr/>
        </p:nvSpPr>
        <p:spPr>
          <a:xfrm>
            <a:off x="685795" y="1527047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1" name="Oval 4"/>
          <p:cNvSpPr/>
          <p:nvPr/>
        </p:nvSpPr>
        <p:spPr>
          <a:xfrm>
            <a:off x="658368" y="149961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2" name="Oval 5"/>
          <p:cNvSpPr/>
          <p:nvPr/>
        </p:nvSpPr>
        <p:spPr>
          <a:xfrm>
            <a:off x="106984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3" name="Oval 6"/>
          <p:cNvSpPr/>
          <p:nvPr/>
        </p:nvSpPr>
        <p:spPr>
          <a:xfrm>
            <a:off x="148132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4" name="Connector 7"/>
          <p:cNvSpPr/>
          <p:nvPr/>
        </p:nvSpPr>
        <p:spPr>
          <a:xfrm>
            <a:off x="685792" y="2606038"/>
            <a:ext cx="10807674" cy="13"/>
          </a:xfrm>
          <a:prstGeom prst="line">
            <a:avLst/>
          </a:prstGeom>
          <a:ln w="254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5" name="Oval 8"/>
          <p:cNvSpPr/>
          <p:nvPr/>
        </p:nvSpPr>
        <p:spPr>
          <a:xfrm>
            <a:off x="1954458" y="2523744"/>
            <a:ext cx="164625" cy="16462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6" name="TextBox 9"/>
          <p:cNvSpPr txBox="1"/>
          <p:nvPr/>
        </p:nvSpPr>
        <p:spPr>
          <a:xfrm>
            <a:off x="685800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267" name="Rectangle 10"/>
          <p:cNvSpPr/>
          <p:nvPr/>
        </p:nvSpPr>
        <p:spPr>
          <a:xfrm>
            <a:off x="795528" y="2926075"/>
            <a:ext cx="2482458" cy="32004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8" name="Rectangle 11"/>
          <p:cNvSpPr/>
          <p:nvPr/>
        </p:nvSpPr>
        <p:spPr>
          <a:xfrm>
            <a:off x="795528" y="2926077"/>
            <a:ext cx="2482458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9" name="TextBox 12"/>
          <p:cNvSpPr txBox="1"/>
          <p:nvPr/>
        </p:nvSpPr>
        <p:spPr>
          <a:xfrm>
            <a:off x="941832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</a:t>
            </a:r>
          </a:p>
        </p:txBody>
      </p:sp>
      <p:sp>
        <p:nvSpPr>
          <p:cNvPr id="270" name="TextBox 13"/>
          <p:cNvSpPr txBox="1"/>
          <p:nvPr/>
        </p:nvSpPr>
        <p:spPr>
          <a:xfrm>
            <a:off x="941832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單檔 HTML WBS 工具，氣隙環境，無伺服器</a:t>
            </a:r>
          </a:p>
        </p:txBody>
      </p:sp>
      <p:sp>
        <p:nvSpPr>
          <p:cNvPr id="271" name="TextBox 14"/>
          <p:cNvSpPr txBox="1"/>
          <p:nvPr/>
        </p:nvSpPr>
        <p:spPr>
          <a:xfrm>
            <a:off x="941832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39 commits · 6 檔 · 0.9MB</a:t>
            </a:r>
          </a:p>
        </p:txBody>
      </p:sp>
      <p:grpSp>
        <p:nvGrpSpPr>
          <p:cNvPr id="274" name="Rounded Rectangle 15"/>
          <p:cNvGrpSpPr/>
          <p:nvPr/>
        </p:nvGrpSpPr>
        <p:grpSpPr>
          <a:xfrm>
            <a:off x="941811" y="5705830"/>
            <a:ext cx="1517949" cy="310937"/>
            <a:chOff x="-1" y="0"/>
            <a:chExt cx="1517948" cy="310935"/>
          </a:xfrm>
        </p:grpSpPr>
        <p:sp>
          <p:nvSpPr>
            <p:cNvPr id="272" name="圓角矩形"/>
            <p:cNvSpPr/>
            <p:nvPr/>
          </p:nvSpPr>
          <p:spPr>
            <a:xfrm>
              <a:off x="-2" y="-1"/>
              <a:ext cx="1517950" cy="31093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73" name="耗時 11 天"/>
            <p:cNvSpPr txBox="1"/>
            <p:nvPr/>
          </p:nvSpPr>
          <p:spPr>
            <a:xfrm>
              <a:off x="409192" y="66553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11 天</a:t>
              </a:r>
            </a:p>
          </p:txBody>
        </p:sp>
      </p:grpSp>
      <p:sp>
        <p:nvSpPr>
          <p:cNvPr id="275" name="Oval 16"/>
          <p:cNvSpPr/>
          <p:nvPr/>
        </p:nvSpPr>
        <p:spPr>
          <a:xfrm>
            <a:off x="4656375" y="2523744"/>
            <a:ext cx="164625" cy="16462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6" name="TextBox 17"/>
          <p:cNvSpPr txBox="1"/>
          <p:nvPr/>
        </p:nvSpPr>
        <p:spPr>
          <a:xfrm>
            <a:off x="3387714" y="2103120"/>
            <a:ext cx="270193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277" name="Rectangle 18"/>
          <p:cNvSpPr/>
          <p:nvPr/>
        </p:nvSpPr>
        <p:spPr>
          <a:xfrm>
            <a:off x="3497441" y="2926075"/>
            <a:ext cx="2482475" cy="32004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8" name="Rectangle 19"/>
          <p:cNvSpPr/>
          <p:nvPr/>
        </p:nvSpPr>
        <p:spPr>
          <a:xfrm>
            <a:off x="3497441" y="2926077"/>
            <a:ext cx="2482475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9" name="TextBox 20"/>
          <p:cNvSpPr txBox="1"/>
          <p:nvPr/>
        </p:nvSpPr>
        <p:spPr>
          <a:xfrm>
            <a:off x="3643745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</a:t>
            </a:r>
          </a:p>
        </p:txBody>
      </p:sp>
      <p:sp>
        <p:nvSpPr>
          <p:cNvPr id="280" name="TextBox 21"/>
          <p:cNvSpPr txBox="1"/>
          <p:nvPr/>
        </p:nvSpPr>
        <p:spPr>
          <a:xfrm>
            <a:off x="3643745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搬上 Web，多人即時協作、部門權限</a:t>
            </a:r>
          </a:p>
        </p:txBody>
      </p:sp>
      <p:sp>
        <p:nvSpPr>
          <p:cNvPr id="281" name="TextBox 22"/>
          <p:cNvSpPr txBox="1"/>
          <p:nvPr/>
        </p:nvSpPr>
        <p:spPr>
          <a:xfrm>
            <a:off x="3643745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97 commits · 152 檔 · 6.9MB</a:t>
            </a:r>
          </a:p>
        </p:txBody>
      </p:sp>
      <p:grpSp>
        <p:nvGrpSpPr>
          <p:cNvPr id="284" name="Rounded Rectangle 23"/>
          <p:cNvGrpSpPr/>
          <p:nvPr/>
        </p:nvGrpSpPr>
        <p:grpSpPr>
          <a:xfrm>
            <a:off x="3643721" y="5705830"/>
            <a:ext cx="1517949" cy="310937"/>
            <a:chOff x="-1" y="0"/>
            <a:chExt cx="1517948" cy="310935"/>
          </a:xfrm>
        </p:grpSpPr>
        <p:sp>
          <p:nvSpPr>
            <p:cNvPr id="282" name="圓角矩形"/>
            <p:cNvSpPr/>
            <p:nvPr/>
          </p:nvSpPr>
          <p:spPr>
            <a:xfrm>
              <a:off x="-2" y="-1"/>
              <a:ext cx="1517950" cy="31093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83" name="耗時 14 天"/>
            <p:cNvSpPr txBox="1"/>
            <p:nvPr/>
          </p:nvSpPr>
          <p:spPr>
            <a:xfrm>
              <a:off x="409192" y="66553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14 天</a:t>
              </a:r>
            </a:p>
          </p:txBody>
        </p:sp>
      </p:grpSp>
      <p:sp>
        <p:nvSpPr>
          <p:cNvPr id="285" name="Oval 24"/>
          <p:cNvSpPr/>
          <p:nvPr/>
        </p:nvSpPr>
        <p:spPr>
          <a:xfrm>
            <a:off x="7358288" y="2523744"/>
            <a:ext cx="164625" cy="16462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6" name="TextBox 25"/>
          <p:cNvSpPr txBox="1"/>
          <p:nvPr/>
        </p:nvSpPr>
        <p:spPr>
          <a:xfrm>
            <a:off x="6089629" y="2103120"/>
            <a:ext cx="2701928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287" name="Rectangle 26"/>
          <p:cNvSpPr/>
          <p:nvPr/>
        </p:nvSpPr>
        <p:spPr>
          <a:xfrm>
            <a:off x="6199356" y="2926075"/>
            <a:ext cx="2482460" cy="32004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8" name="Rectangle 27"/>
          <p:cNvSpPr/>
          <p:nvPr/>
        </p:nvSpPr>
        <p:spPr>
          <a:xfrm>
            <a:off x="6199356" y="2926077"/>
            <a:ext cx="248246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9" name="TextBox 28"/>
          <p:cNvSpPr txBox="1"/>
          <p:nvPr/>
        </p:nvSpPr>
        <p:spPr>
          <a:xfrm>
            <a:off x="6345661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</a:t>
            </a:r>
          </a:p>
        </p:txBody>
      </p:sp>
      <p:sp>
        <p:nvSpPr>
          <p:cNvPr id="290" name="TextBox 29"/>
          <p:cNvSpPr txBox="1"/>
          <p:nvPr/>
        </p:nvSpPr>
        <p:spPr>
          <a:xfrm>
            <a:off x="6345661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拆出獨立看板系統，核心從樹狀改拖曳卡片</a:t>
            </a:r>
          </a:p>
        </p:txBody>
      </p:sp>
      <p:sp>
        <p:nvSpPr>
          <p:cNvPr id="291" name="TextBox 30"/>
          <p:cNvSpPr txBox="1"/>
          <p:nvPr/>
        </p:nvSpPr>
        <p:spPr>
          <a:xfrm>
            <a:off x="6345661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32 commits · 115 檔 · 2.0MB</a:t>
            </a:r>
          </a:p>
        </p:txBody>
      </p:sp>
      <p:grpSp>
        <p:nvGrpSpPr>
          <p:cNvPr id="294" name="Rounded Rectangle 31"/>
          <p:cNvGrpSpPr/>
          <p:nvPr/>
        </p:nvGrpSpPr>
        <p:grpSpPr>
          <a:xfrm>
            <a:off x="6345638" y="5705830"/>
            <a:ext cx="1353361" cy="310937"/>
            <a:chOff x="-1" y="0"/>
            <a:chExt cx="1353360" cy="310935"/>
          </a:xfrm>
        </p:grpSpPr>
        <p:sp>
          <p:nvSpPr>
            <p:cNvPr id="292" name="圓角矩形"/>
            <p:cNvSpPr/>
            <p:nvPr/>
          </p:nvSpPr>
          <p:spPr>
            <a:xfrm>
              <a:off x="-2" y="-1"/>
              <a:ext cx="1353362" cy="31093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93" name="耗時 5 天"/>
            <p:cNvSpPr txBox="1"/>
            <p:nvPr/>
          </p:nvSpPr>
          <p:spPr>
            <a:xfrm>
              <a:off x="365128" y="66553"/>
              <a:ext cx="62308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5 天</a:t>
              </a:r>
            </a:p>
          </p:txBody>
        </p:sp>
      </p:grpSp>
      <p:sp>
        <p:nvSpPr>
          <p:cNvPr id="295" name="Oval 32"/>
          <p:cNvSpPr/>
          <p:nvPr/>
        </p:nvSpPr>
        <p:spPr>
          <a:xfrm>
            <a:off x="10060205" y="2523744"/>
            <a:ext cx="164625" cy="16462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6" name="TextBox 33"/>
          <p:cNvSpPr txBox="1"/>
          <p:nvPr/>
        </p:nvSpPr>
        <p:spPr>
          <a:xfrm>
            <a:off x="8791544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297" name="Rectangle 34"/>
          <p:cNvSpPr/>
          <p:nvPr/>
        </p:nvSpPr>
        <p:spPr>
          <a:xfrm>
            <a:off x="8901272" y="2926075"/>
            <a:ext cx="2482475" cy="32004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8" name="Rectangle 35"/>
          <p:cNvSpPr/>
          <p:nvPr/>
        </p:nvSpPr>
        <p:spPr>
          <a:xfrm>
            <a:off x="8901272" y="2926077"/>
            <a:ext cx="2482475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9" name="TextBox 36"/>
          <p:cNvSpPr txBox="1"/>
          <p:nvPr/>
        </p:nvSpPr>
        <p:spPr>
          <a:xfrm>
            <a:off x="9047574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Spring-MissionBoard</a:t>
            </a:r>
          </a:p>
        </p:txBody>
      </p:sp>
      <p:sp>
        <p:nvSpPr>
          <p:cNvPr id="300" name="TextBox 37"/>
          <p:cNvSpPr txBox="1"/>
          <p:nvPr/>
        </p:nvSpPr>
        <p:spPr>
          <a:xfrm>
            <a:off x="9047574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全新 repo 合併兩者，拆掉節點模型改用任務導向</a:t>
            </a:r>
          </a:p>
        </p:txBody>
      </p:sp>
      <p:sp>
        <p:nvSpPr>
          <p:cNvPr id="301" name="TextBox 38"/>
          <p:cNvSpPr txBox="1"/>
          <p:nvPr/>
        </p:nvSpPr>
        <p:spPr>
          <a:xfrm>
            <a:off x="9047574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73 commits · 83 檔 · 0.49MB</a:t>
            </a:r>
          </a:p>
        </p:txBody>
      </p:sp>
      <p:grpSp>
        <p:nvGrpSpPr>
          <p:cNvPr id="304" name="Rounded Rectangle 39"/>
          <p:cNvGrpSpPr/>
          <p:nvPr/>
        </p:nvGrpSpPr>
        <p:grpSpPr>
          <a:xfrm>
            <a:off x="9047555" y="5705830"/>
            <a:ext cx="1517949" cy="310937"/>
            <a:chOff x="-1" y="0"/>
            <a:chExt cx="1517948" cy="310935"/>
          </a:xfrm>
        </p:grpSpPr>
        <p:sp>
          <p:nvSpPr>
            <p:cNvPr id="302" name="圓角矩形"/>
            <p:cNvSpPr/>
            <p:nvPr/>
          </p:nvSpPr>
          <p:spPr>
            <a:xfrm>
              <a:off x="-2" y="-1"/>
              <a:ext cx="1517950" cy="310936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03" name="耗時 24 天"/>
            <p:cNvSpPr txBox="1"/>
            <p:nvPr/>
          </p:nvSpPr>
          <p:spPr>
            <a:xfrm>
              <a:off x="409192" y="66553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24 天</a:t>
              </a:r>
            </a:p>
          </p:txBody>
        </p:sp>
      </p:grpSp>
      <p:sp>
        <p:nvSpPr>
          <p:cNvPr id="305" name="TextBox 289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兩個月排出四條命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308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309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0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1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2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3" name="Rectangle 7"/>
          <p:cNvSpPr/>
          <p:nvPr/>
        </p:nvSpPr>
        <p:spPr>
          <a:xfrm>
            <a:off x="685798" y="2304288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4" name="TextBox 8"/>
          <p:cNvSpPr txBox="1"/>
          <p:nvPr/>
        </p:nvSpPr>
        <p:spPr>
          <a:xfrm>
            <a:off x="978405" y="221284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→ Spring-WbsScaff：從一支單機 HTML，變成大家連得上、資料存得住的系統</a:t>
            </a:r>
          </a:p>
        </p:txBody>
      </p:sp>
      <p:sp>
        <p:nvSpPr>
          <p:cNvPr id="315" name="Rectangle 9"/>
          <p:cNvSpPr/>
          <p:nvPr/>
        </p:nvSpPr>
        <p:spPr>
          <a:xfrm>
            <a:off x="685798" y="2779776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6" name="TextBox 10"/>
          <p:cNvSpPr txBox="1"/>
          <p:nvPr/>
        </p:nvSpPr>
        <p:spPr>
          <a:xfrm>
            <a:off x="978405" y="2688333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Spring-TaskFlow：把看板做起來，也把開發流程順出來，後面要長新東西就快很多</a:t>
            </a:r>
          </a:p>
        </p:txBody>
      </p:sp>
      <p:sp>
        <p:nvSpPr>
          <p:cNvPr id="317" name="Rectangle 11"/>
          <p:cNvSpPr/>
          <p:nvPr/>
        </p:nvSpPr>
        <p:spPr>
          <a:xfrm>
            <a:off x="685798" y="3255264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8" name="TextBox 12"/>
          <p:cNvSpPr txBox="1"/>
          <p:nvPr/>
        </p:nvSpPr>
        <p:spPr>
          <a:xfrm>
            <a:off x="978405" y="3163821"/>
            <a:ext cx="10515057" cy="664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兩套合併 → Spring-MissionBoard：想把樹狀規劃跟看板指派的特色合在一起時卡住了，目標互相打架，乾脆砍掉重來、重新確立方向——任務天生獨立，分類事後再掛</a:t>
            </a:r>
          </a:p>
        </p:txBody>
      </p:sp>
      <p:sp>
        <p:nvSpPr>
          <p:cNvPr id="319" name="TextBox 302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講得雲淡風輕，其實每次都拆掉重蓋</a:t>
            </a:r>
          </a:p>
        </p:txBody>
      </p:sp>
      <p:sp>
        <p:nvSpPr>
          <p:cNvPr id="320" name="Rectangle 310"/>
          <p:cNvSpPr/>
          <p:nvPr/>
        </p:nvSpPr>
        <p:spPr>
          <a:xfrm>
            <a:off x="685797" y="4069079"/>
            <a:ext cx="10808214" cy="56693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1" name="Rectangle 311"/>
          <p:cNvSpPr/>
          <p:nvPr/>
        </p:nvSpPr>
        <p:spPr>
          <a:xfrm>
            <a:off x="685798" y="4069079"/>
            <a:ext cx="73156" cy="5669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2" name="TextBox 312"/>
          <p:cNvSpPr txBox="1"/>
          <p:nvPr/>
        </p:nvSpPr>
        <p:spPr>
          <a:xfrm>
            <a:off x="941832" y="4233671"/>
            <a:ext cx="102961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每一代都不是加功能，是把核心換掉重蓋；能原封不動沿用的只有登入、權限跟頁面外框。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WBSSCAFF</a:t>
            </a:r>
          </a:p>
        </p:txBody>
      </p:sp>
      <p:sp>
        <p:nvSpPr>
          <p:cNvPr id="32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一支打開就能用的 HTML 檔</a:t>
            </a:r>
          </a:p>
        </p:txBody>
      </p:sp>
      <p:sp>
        <p:nvSpPr>
          <p:cNvPr id="32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327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8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9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0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1" name="Rectangle 8"/>
          <p:cNvSpPr/>
          <p:nvPr/>
        </p:nvSpPr>
        <p:spPr>
          <a:xfrm>
            <a:off x="685798" y="2414016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2" name="TextBox 9"/>
          <p:cNvSpPr txBox="1"/>
          <p:nvPr/>
        </p:nvSpPr>
        <p:spPr>
          <a:xfrm>
            <a:off x="978405" y="2322576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不用安裝、不用連網路，檔案傳給誰都能直接打開來用</a:t>
            </a:r>
          </a:p>
        </p:txBody>
      </p:sp>
      <p:sp>
        <p:nvSpPr>
          <p:cNvPr id="333" name="Rectangle 10"/>
          <p:cNvSpPr/>
          <p:nvPr/>
        </p:nvSpPr>
        <p:spPr>
          <a:xfrm>
            <a:off x="685798" y="2848864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4" name="TextBox 11"/>
          <p:cNvSpPr txBox="1"/>
          <p:nvPr/>
        </p:nvSpPr>
        <p:spPr>
          <a:xfrm>
            <a:off x="978405" y="275742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用樹狀結構把工作拆項目，最多五層，雙擊就能改標題，也能直接拖曳搬位置</a:t>
            </a:r>
          </a:p>
        </p:txBody>
      </p:sp>
      <p:sp>
        <p:nvSpPr>
          <p:cNvPr id="335" name="Rectangle 12"/>
          <p:cNvSpPr/>
          <p:nvPr/>
        </p:nvSpPr>
        <p:spPr>
          <a:xfrm>
            <a:off x="685798" y="3283710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6" name="TextBox 13"/>
          <p:cNvSpPr txBox="1"/>
          <p:nvPr/>
        </p:nvSpPr>
        <p:spPr>
          <a:xfrm>
            <a:off x="978405" y="3192271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上層的完成狀態由下層自動算出來，不能手動亂填——這個設計後來每一代都留著</a:t>
            </a:r>
          </a:p>
        </p:txBody>
      </p:sp>
      <p:sp>
        <p:nvSpPr>
          <p:cNvPr id="337" name="Rectangle 14"/>
          <p:cNvSpPr/>
          <p:nvPr/>
        </p:nvSpPr>
        <p:spPr>
          <a:xfrm>
            <a:off x="685798" y="3718559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8" name="TextBox 15"/>
          <p:cNvSpPr txBox="1"/>
          <p:nvPr/>
        </p:nvSpPr>
        <p:spPr>
          <a:xfrm>
            <a:off x="978405" y="362711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可以匯出入 Excel／CSV，銜接大家原本就在用的檔案流程</a:t>
            </a:r>
          </a:p>
        </p:txBody>
      </p:sp>
      <p:sp>
        <p:nvSpPr>
          <p:cNvPr id="339" name="Rectangle 16"/>
          <p:cNvSpPr/>
          <p:nvPr/>
        </p:nvSpPr>
        <p:spPr>
          <a:xfrm>
            <a:off x="685800" y="4153406"/>
            <a:ext cx="10807659" cy="640097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0" name="TextBox 17"/>
          <p:cNvSpPr txBox="1"/>
          <p:nvPr/>
        </p:nvSpPr>
        <p:spPr>
          <a:xfrm>
            <a:off x="914390" y="4226559"/>
            <a:ext cx="292610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這一代還留著，可以直接玩：</a:t>
            </a:r>
          </a:p>
        </p:txBody>
      </p:sp>
      <p:sp>
        <p:nvSpPr>
          <p:cNvPr id="341" name="TextBox 18"/>
          <p:cNvSpPr txBox="1"/>
          <p:nvPr/>
        </p:nvSpPr>
        <p:spPr>
          <a:xfrm>
            <a:off x="3886198" y="4226559"/>
            <a:ext cx="742438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https://lingaoscar.github.io/WbsScaff/</a:t>
            </a:r>
          </a:p>
        </p:txBody>
      </p:sp>
      <p:sp>
        <p:nvSpPr>
          <p:cNvPr id="342" name="TextBox 321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沒有伺服器，就沒有伺服器問題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畫面</a:t>
            </a:r>
          </a:p>
        </p:txBody>
      </p:sp>
      <p:sp>
        <p:nvSpPr>
          <p:cNvPr id="345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WbsScaff：離線 WBS 樹狀編輯器</a:t>
            </a:r>
          </a:p>
        </p:txBody>
      </p:sp>
      <p:sp>
        <p:nvSpPr>
          <p:cNvPr id="346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7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8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9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0" name="Rectangle 7"/>
          <p:cNvSpPr/>
          <p:nvPr/>
        </p:nvSpPr>
        <p:spPr>
          <a:xfrm>
            <a:off x="2889216" y="1975103"/>
            <a:ext cx="6400829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51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092" y="2029966"/>
            <a:ext cx="6291073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Rectangle 9"/>
          <p:cNvSpPr/>
          <p:nvPr/>
        </p:nvSpPr>
        <p:spPr>
          <a:xfrm>
            <a:off x="2889229" y="1975103"/>
            <a:ext cx="31091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3" name="Rectangle 10"/>
          <p:cNvSpPr/>
          <p:nvPr/>
        </p:nvSpPr>
        <p:spPr>
          <a:xfrm>
            <a:off x="2889229" y="1975103"/>
            <a:ext cx="54870" cy="31091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356" name="Rounded Rectangle 11"/>
          <p:cNvGrpSpPr/>
          <p:nvPr/>
        </p:nvGrpSpPr>
        <p:grpSpPr>
          <a:xfrm>
            <a:off x="4096507" y="6126456"/>
            <a:ext cx="3986825" cy="310936"/>
            <a:chOff x="0" y="-1"/>
            <a:chExt cx="3986823" cy="310935"/>
          </a:xfrm>
        </p:grpSpPr>
        <p:sp>
          <p:nvSpPr>
            <p:cNvPr id="354" name="圓角矩形"/>
            <p:cNvSpPr/>
            <p:nvPr/>
          </p:nvSpPr>
          <p:spPr>
            <a:xfrm>
              <a:off x="-1" y="-2"/>
              <a:ext cx="3986824" cy="31093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55" name="打開瀏覽器就是一支完整的工具，不用裝任何東西"/>
            <p:cNvSpPr txBox="1"/>
            <p:nvPr/>
          </p:nvSpPr>
          <p:spPr>
            <a:xfrm>
              <a:off x="310644" y="47502"/>
              <a:ext cx="3365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打開瀏覽器就是一支完整的工具，不用裝任何東西</a:t>
              </a:r>
            </a:p>
          </p:txBody>
        </p:sp>
      </p:grpSp>
      <p:sp>
        <p:nvSpPr>
          <p:cNvPr id="357" name="TextBox 335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陽春歸陽春，該有的都有</a:t>
            </a:r>
          </a:p>
        </p:txBody>
      </p:sp>
      <p:sp>
        <p:nvSpPr>
          <p:cNvPr id="358" name="TextBox 345"/>
          <p:cNvSpPr txBox="1"/>
          <p:nvPr/>
        </p:nvSpPr>
        <p:spPr>
          <a:xfrm>
            <a:off x="777240" y="3787721"/>
            <a:ext cx="1920240" cy="2883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enlo Regular"/>
                <a:ea typeface="Menlo Regular"/>
                <a:cs typeface="Menlo Regular"/>
                <a:sym typeface="Menlo Regular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看成品 ↗</a:t>
            </a:r>
          </a:p>
        </p:txBody>
      </p:sp>
      <p:sp>
        <p:nvSpPr>
          <p:cNvPr id="359" name="Connector 346"/>
          <p:cNvSpPr/>
          <p:nvPr/>
        </p:nvSpPr>
        <p:spPr>
          <a:xfrm>
            <a:off x="777238" y="3566159"/>
            <a:ext cx="822965" cy="4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0" name="Oval 347"/>
          <p:cNvSpPr/>
          <p:nvPr/>
        </p:nvSpPr>
        <p:spPr>
          <a:xfrm>
            <a:off x="749808" y="3538728"/>
            <a:ext cx="54871" cy="5487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Oval 348"/>
          <p:cNvSpPr/>
          <p:nvPr/>
        </p:nvSpPr>
        <p:spPr>
          <a:xfrm>
            <a:off x="1161288" y="3538728"/>
            <a:ext cx="54871" cy="5487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2" name="Oval 349"/>
          <p:cNvSpPr/>
          <p:nvPr/>
        </p:nvSpPr>
        <p:spPr>
          <a:xfrm>
            <a:off x="1572766" y="3538728"/>
            <a:ext cx="54871" cy="5487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SPRING-WBSSCAFF</a:t>
            </a:r>
          </a:p>
        </p:txBody>
      </p:sp>
      <p:sp>
        <p:nvSpPr>
          <p:cNvPr id="365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366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367" name="Connector 4"/>
          <p:cNvSpPr/>
          <p:nvPr/>
        </p:nvSpPr>
        <p:spPr>
          <a:xfrm>
            <a:off x="685795" y="204825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8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9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0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1" name="Rectangle 8"/>
          <p:cNvSpPr/>
          <p:nvPr/>
        </p:nvSpPr>
        <p:spPr>
          <a:xfrm>
            <a:off x="685798" y="2596894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2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從「自己電腦上的小工具」變成「打開瀏覽器就能用、資料存在同一個地方」</a:t>
            </a:r>
          </a:p>
        </p:txBody>
      </p:sp>
      <p:sp>
        <p:nvSpPr>
          <p:cNvPr id="373" name="Rectangle 10"/>
          <p:cNvSpPr/>
          <p:nvPr/>
        </p:nvSpPr>
        <p:spPr>
          <a:xfrm>
            <a:off x="685798" y="3049777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4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加了登入，也把部門的界線做進去：不同科別看到的東西不一樣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685798" y="3502659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6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多人同時編輯同一張表，別人改了什麼，畫面會即時跟著動</a:t>
            </a:r>
          </a:p>
        </p:txBody>
      </p:sp>
      <p:sp>
        <p:nvSpPr>
          <p:cNvPr id="377" name="Rectangle 14"/>
          <p:cNvSpPr/>
          <p:nvPr/>
        </p:nvSpPr>
        <p:spPr>
          <a:xfrm>
            <a:off x="685798" y="3955541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8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這一步是整條路上第一次真正的升級：從單機檔案變成有帳號、有資料庫的正式系統</a:t>
            </a:r>
          </a:p>
        </p:txBody>
      </p:sp>
      <p:sp>
        <p:nvSpPr>
          <p:cNvPr id="379" name="TextBox 351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多人共編，恭喜開始會壞掉</a:t>
            </a:r>
          </a:p>
        </p:txBody>
      </p:sp>
      <p:sp>
        <p:nvSpPr>
          <p:cNvPr id="380" name="Rectangle 367"/>
          <p:cNvSpPr/>
          <p:nvPr/>
        </p:nvSpPr>
        <p:spPr>
          <a:xfrm>
            <a:off x="685797" y="4526279"/>
            <a:ext cx="10808214" cy="56693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1" name="Rectangle 368"/>
          <p:cNvSpPr/>
          <p:nvPr/>
        </p:nvSpPr>
        <p:spPr>
          <a:xfrm>
            <a:off x="685798" y="4526279"/>
            <a:ext cx="73156" cy="5669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2" name="TextBox 369"/>
          <p:cNvSpPr txBox="1"/>
          <p:nvPr/>
        </p:nvSpPr>
        <p:spPr>
          <a:xfrm>
            <a:off x="941832" y="4690871"/>
            <a:ext cx="102961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這一代開始，資料不再是各自電腦裡的檔案，而是資料庫裡的一筆紀錄——後面兩代都建在這個基礎上。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畫面</a:t>
            </a:r>
          </a:p>
        </p:txBody>
      </p:sp>
      <p:sp>
        <p:nvSpPr>
          <p:cNvPr id="385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Spring-WbsScaff：多人版 WBS 樹狀畫面</a:t>
            </a:r>
          </a:p>
        </p:txBody>
      </p:sp>
      <p:sp>
        <p:nvSpPr>
          <p:cNvPr id="386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87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8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9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0" name="Rectangle 7"/>
          <p:cNvSpPr/>
          <p:nvPr/>
        </p:nvSpPr>
        <p:spPr>
          <a:xfrm>
            <a:off x="3511348" y="1975103"/>
            <a:ext cx="5156561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91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rcRect l="0" t="0" r="0" b="55000"/>
          <a:stretch>
            <a:fillRect/>
          </a:stretch>
        </p:blipFill>
        <p:spPr>
          <a:xfrm>
            <a:off x="3566214" y="2029965"/>
            <a:ext cx="5046832" cy="3931926"/>
          </a:xfrm>
          <a:prstGeom prst="rect">
            <a:avLst/>
          </a:prstGeom>
          <a:ln w="12700">
            <a:miter lim="400000"/>
          </a:ln>
        </p:spPr>
      </p:pic>
      <p:sp>
        <p:nvSpPr>
          <p:cNvPr id="392" name="Rectangle 9"/>
          <p:cNvSpPr/>
          <p:nvPr/>
        </p:nvSpPr>
        <p:spPr>
          <a:xfrm>
            <a:off x="3511350" y="1975103"/>
            <a:ext cx="310911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3" name="Rectangle 10"/>
          <p:cNvSpPr/>
          <p:nvPr/>
        </p:nvSpPr>
        <p:spPr>
          <a:xfrm>
            <a:off x="3511350" y="1975103"/>
            <a:ext cx="54870" cy="31091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396" name="Rounded Rectangle 11"/>
          <p:cNvGrpSpPr/>
          <p:nvPr/>
        </p:nvGrpSpPr>
        <p:grpSpPr>
          <a:xfrm>
            <a:off x="3685027" y="6126456"/>
            <a:ext cx="4809783" cy="310936"/>
            <a:chOff x="0" y="-1"/>
            <a:chExt cx="4809781" cy="310935"/>
          </a:xfrm>
        </p:grpSpPr>
        <p:sp>
          <p:nvSpPr>
            <p:cNvPr id="394" name="圓角矩形"/>
            <p:cNvSpPr/>
            <p:nvPr/>
          </p:nvSpPr>
          <p:spPr>
            <a:xfrm>
              <a:off x="-1" y="-2"/>
              <a:ext cx="4809783" cy="31093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95" name="節點內容更貼近真實場景：主機申請、防火牆開通、資安檢核"/>
            <p:cNvSpPr txBox="1"/>
            <p:nvPr/>
          </p:nvSpPr>
          <p:spPr>
            <a:xfrm>
              <a:off x="341120" y="47502"/>
              <a:ext cx="4127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節點內容更貼近真實場景：主機申請、防火牆開通、資安檢核</a:t>
              </a:r>
            </a:p>
          </p:txBody>
        </p:sp>
      </p:grpSp>
      <p:sp>
        <p:nvSpPr>
          <p:cNvPr id="397" name="TextBox 365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看起來正常，其實後台在燒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SPRING-TASKFLOW</a:t>
            </a:r>
          </a:p>
        </p:txBody>
      </p:sp>
      <p:sp>
        <p:nvSpPr>
          <p:cNvPr id="400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401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402" name="Connector 4"/>
          <p:cNvSpPr/>
          <p:nvPr/>
        </p:nvSpPr>
        <p:spPr>
          <a:xfrm>
            <a:off x="685795" y="204825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03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4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5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6" name="Rectangle 8"/>
          <p:cNvSpPr/>
          <p:nvPr/>
        </p:nvSpPr>
        <p:spPr>
          <a:xfrm>
            <a:off x="685798" y="2596894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7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畫面換成待辦／進行中／完成三欄，工作變成一張張卡片，用拖的改狀態</a:t>
            </a:r>
          </a:p>
        </p:txBody>
      </p:sp>
      <p:sp>
        <p:nvSpPr>
          <p:cNvPr id="408" name="Rectangle 10"/>
          <p:cNvSpPr/>
          <p:nvPr/>
        </p:nvSpPr>
        <p:spPr>
          <a:xfrm>
            <a:off x="685798" y="3049777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9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卡片可以指派給人、設優先度跟日期，一眼看得出誰手上有什麼</a:t>
            </a:r>
          </a:p>
        </p:txBody>
      </p:sp>
      <p:sp>
        <p:nvSpPr>
          <p:cNvPr id="410" name="Rectangle 12"/>
          <p:cNvSpPr/>
          <p:nvPr/>
        </p:nvSpPr>
        <p:spPr>
          <a:xfrm>
            <a:off x="685798" y="3502659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11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登入、部門權限、頁面外框直接沿用上一代，省下重新驗證的時間</a:t>
            </a:r>
          </a:p>
        </p:txBody>
      </p:sp>
      <p:sp>
        <p:nvSpPr>
          <p:cNvPr id="412" name="Rectangle 14"/>
          <p:cNvSpPr/>
          <p:nvPr/>
        </p:nvSpPr>
        <p:spPr>
          <a:xfrm>
            <a:off x="685798" y="3955541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13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做完這一步，手上同時有「樹」跟「看板」兩套東西——也就是後面想合併的起因</a:t>
            </a:r>
          </a:p>
        </p:txBody>
      </p:sp>
      <p:sp>
        <p:nvSpPr>
          <p:cNvPr id="414" name="TextBox 381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終於學會拖拖樂</a:t>
            </a:r>
          </a:p>
        </p:txBody>
      </p:sp>
      <p:sp>
        <p:nvSpPr>
          <p:cNvPr id="415" name="Rectangle 399"/>
          <p:cNvSpPr/>
          <p:nvPr/>
        </p:nvSpPr>
        <p:spPr>
          <a:xfrm>
            <a:off x="685797" y="4526279"/>
            <a:ext cx="10808214" cy="56693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6" name="Rectangle 400"/>
          <p:cNvSpPr/>
          <p:nvPr/>
        </p:nvSpPr>
        <p:spPr>
          <a:xfrm>
            <a:off x="685798" y="4526279"/>
            <a:ext cx="73156" cy="5669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7" name="TextBox 401"/>
          <p:cNvSpPr txBox="1"/>
          <p:nvPr/>
        </p:nvSpPr>
        <p:spPr>
          <a:xfrm>
            <a:off x="941832" y="4690871"/>
            <a:ext cx="102961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看板做完，手上同時有「樹」跟「看板」兩套東西——下一頁就是它們打架的現場。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畫面</a:t>
            </a:r>
          </a:p>
        </p:txBody>
      </p:sp>
      <p:sp>
        <p:nvSpPr>
          <p:cNvPr id="420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Spring-TaskFlow：待辦／進行中／完成三欄看板</a:t>
            </a:r>
          </a:p>
        </p:txBody>
      </p:sp>
      <p:sp>
        <p:nvSpPr>
          <p:cNvPr id="421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2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3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4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5" name="Rectangle 7"/>
          <p:cNvSpPr/>
          <p:nvPr/>
        </p:nvSpPr>
        <p:spPr>
          <a:xfrm>
            <a:off x="3176538" y="1975103"/>
            <a:ext cx="5826181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26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31406" y="2029966"/>
            <a:ext cx="5716445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427" name="Rectangle 9"/>
          <p:cNvSpPr/>
          <p:nvPr/>
        </p:nvSpPr>
        <p:spPr>
          <a:xfrm>
            <a:off x="3176540" y="1975103"/>
            <a:ext cx="31091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8" name="Rectangle 10"/>
          <p:cNvSpPr/>
          <p:nvPr/>
        </p:nvSpPr>
        <p:spPr>
          <a:xfrm>
            <a:off x="3176540" y="1975103"/>
            <a:ext cx="54870" cy="31091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431" name="Rounded Rectangle 11"/>
          <p:cNvGrpSpPr/>
          <p:nvPr/>
        </p:nvGrpSpPr>
        <p:grpSpPr>
          <a:xfrm>
            <a:off x="3515863" y="6126456"/>
            <a:ext cx="5138971" cy="310936"/>
            <a:chOff x="0" y="-1"/>
            <a:chExt cx="5138970" cy="310935"/>
          </a:xfrm>
        </p:grpSpPr>
        <p:sp>
          <p:nvSpPr>
            <p:cNvPr id="429" name="圓角矩形"/>
            <p:cNvSpPr/>
            <p:nvPr/>
          </p:nvSpPr>
          <p:spPr>
            <a:xfrm>
              <a:off x="-1" y="-2"/>
              <a:ext cx="5138971" cy="31093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430" name="從「一棵樹」變成「三個欄位＋卡片」，成為最終系統的核心體驗"/>
            <p:cNvSpPr txBox="1"/>
            <p:nvPr/>
          </p:nvSpPr>
          <p:spPr>
            <a:xfrm>
              <a:off x="353315" y="47502"/>
              <a:ext cx="443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從「一棵樹」變成「三個欄位＋卡片」，成為最終系統的核心體驗</a:t>
              </a:r>
            </a:p>
          </p:txBody>
        </p:sp>
      </p:grpSp>
      <p:sp>
        <p:nvSpPr>
          <p:cNvPr id="432" name="TextBox 395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三欄看板，療癒系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43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43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437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8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9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0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1" name="Rectangle 8"/>
          <p:cNvSpPr/>
          <p:nvPr/>
        </p:nvSpPr>
        <p:spPr>
          <a:xfrm>
            <a:off x="685798" y="2414016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2" name="TextBox 9"/>
          <p:cNvSpPr txBox="1"/>
          <p:nvPr/>
        </p:nvSpPr>
        <p:spPr>
          <a:xfrm>
            <a:off x="978405" y="2322576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做得好的是樹狀規劃；Spring-TaskFlow 做得好的是看板指派——硬把兩者合在一起，變成要先搭骨架才能建任務；使用者實際要的是先建任務、事後再歸類，所以拆掉樹狀階層，任務改成天生獨立</a:t>
            </a:r>
          </a:p>
        </p:txBody>
      </p:sp>
      <p:sp>
        <p:nvSpPr>
          <p:cNvPr id="443" name="Rectangle 10"/>
          <p:cNvSpPr/>
          <p:nvPr/>
        </p:nvSpPr>
        <p:spPr>
          <a:xfrm>
            <a:off x="685787" y="3408045"/>
            <a:ext cx="4946658" cy="30384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4" name="Rectangle 11"/>
          <p:cNvSpPr/>
          <p:nvPr/>
        </p:nvSpPr>
        <p:spPr>
          <a:xfrm>
            <a:off x="685787" y="3408045"/>
            <a:ext cx="4946658" cy="384065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5" name="TextBox 12"/>
          <p:cNvSpPr txBox="1"/>
          <p:nvPr/>
        </p:nvSpPr>
        <p:spPr>
          <a:xfrm>
            <a:off x="685787" y="3485769"/>
            <a:ext cx="494665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之前 · WBS 樹狀規劃</a:t>
            </a:r>
          </a:p>
        </p:txBody>
      </p:sp>
      <p:sp>
        <p:nvSpPr>
          <p:cNvPr id="446" name="Rectangle 13"/>
          <p:cNvSpPr/>
          <p:nvPr/>
        </p:nvSpPr>
        <p:spPr>
          <a:xfrm>
            <a:off x="6546828" y="3408045"/>
            <a:ext cx="4946647" cy="3038492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7" name="Rectangle 14"/>
          <p:cNvSpPr/>
          <p:nvPr/>
        </p:nvSpPr>
        <p:spPr>
          <a:xfrm>
            <a:off x="6546828" y="3408045"/>
            <a:ext cx="4946647" cy="38406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8" name="TextBox 15"/>
          <p:cNvSpPr txBox="1"/>
          <p:nvPr/>
        </p:nvSpPr>
        <p:spPr>
          <a:xfrm>
            <a:off x="6546828" y="3485769"/>
            <a:ext cx="494664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任務導向看板</a:t>
            </a:r>
          </a:p>
        </p:txBody>
      </p:sp>
      <p:sp>
        <p:nvSpPr>
          <p:cNvPr id="449" name="Connector 16"/>
          <p:cNvSpPr/>
          <p:nvPr/>
        </p:nvSpPr>
        <p:spPr>
          <a:xfrm>
            <a:off x="5742156" y="5074920"/>
            <a:ext cx="694961" cy="13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0" name="Isosceles Triangle 17"/>
          <p:cNvSpPr/>
          <p:nvPr/>
        </p:nvSpPr>
        <p:spPr>
          <a:xfrm rot="5400000">
            <a:off x="6290792" y="4983478"/>
            <a:ext cx="182899" cy="182897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51" name="Picture 18" descr="Picture 18"/>
          <p:cNvPicPr>
            <a:picLocks noChangeAspect="1"/>
          </p:cNvPicPr>
          <p:nvPr/>
        </p:nvPicPr>
        <p:blipFill>
          <a:blip r:embed="rId2">
            <a:extLst/>
          </a:blip>
          <a:srcRect l="0" t="0" r="0" b="55000"/>
          <a:stretch>
            <a:fillRect/>
          </a:stretch>
        </p:blipFill>
        <p:spPr>
          <a:xfrm>
            <a:off x="1633465" y="3886200"/>
            <a:ext cx="3051575" cy="23774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52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18604" y="3886200"/>
            <a:ext cx="3803907" cy="2377440"/>
          </a:xfrm>
          <a:prstGeom prst="rect">
            <a:avLst/>
          </a:prstGeom>
          <a:ln w="12700">
            <a:miter lim="400000"/>
          </a:ln>
        </p:spPr>
      </p:pic>
      <p:sp>
        <p:nvSpPr>
          <p:cNvPr id="453" name="TextBox 415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兩個都好，合起來就崩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我怎麼用 AI</a:t>
            </a:r>
          </a:p>
        </p:txBody>
      </p:sp>
      <p:sp>
        <p:nvSpPr>
          <p:cNvPr id="456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457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8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9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0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1" name="Rectangle 7"/>
          <p:cNvSpPr/>
          <p:nvPr/>
        </p:nvSpPr>
        <p:spPr>
          <a:xfrm>
            <a:off x="685798" y="2075688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2" name="TextBox 8"/>
          <p:cNvSpPr txBox="1"/>
          <p:nvPr/>
        </p:nvSpPr>
        <p:spPr>
          <a:xfrm>
            <a:off x="978405" y="1984248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動手前，我會先讓 AI 把舊專案的程式碼讀過一遍，比我自己憑印象猜準很多</a:t>
            </a:r>
          </a:p>
        </p:txBody>
      </p:sp>
      <p:sp>
        <p:nvSpPr>
          <p:cNvPr id="463" name="Rectangle 9"/>
          <p:cNvSpPr/>
          <p:nvPr/>
        </p:nvSpPr>
        <p:spPr>
          <a:xfrm>
            <a:off x="685798" y="2428619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4" name="TextBox 10"/>
          <p:cNvSpPr txBox="1"/>
          <p:nvPr/>
        </p:nvSpPr>
        <p:spPr>
          <a:xfrm>
            <a:off x="978405" y="2337180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一個任務開一個新對話，不讓前面累積的雜訊影響判斷</a:t>
            </a:r>
          </a:p>
        </p:txBody>
      </p:sp>
      <p:sp>
        <p:nvSpPr>
          <p:cNvPr id="465" name="Rectangle 11"/>
          <p:cNvSpPr/>
          <p:nvPr/>
        </p:nvSpPr>
        <p:spPr>
          <a:xfrm>
            <a:off x="685798" y="2781554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6" name="TextBox 12"/>
          <p:cNvSpPr txBox="1"/>
          <p:nvPr/>
        </p:nvSpPr>
        <p:spPr>
          <a:xfrm>
            <a:off x="978405" y="2690114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寫的跟審的分開：同一段東西，我另外開一個 AI 來挑毛病，不讓它自己審自己</a:t>
            </a:r>
          </a:p>
        </p:txBody>
      </p:sp>
      <p:sp>
        <p:nvSpPr>
          <p:cNvPr id="467" name="Rectangle 13"/>
          <p:cNvSpPr/>
          <p:nvPr/>
        </p:nvSpPr>
        <p:spPr>
          <a:xfrm>
            <a:off x="685798" y="3134485"/>
            <a:ext cx="100602" cy="10060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8" name="TextBox 14"/>
          <p:cNvSpPr txBox="1"/>
          <p:nvPr/>
        </p:nvSpPr>
        <p:spPr>
          <a:xfrm>
            <a:off x="978405" y="3043046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簡單的抄寫用便宜快的，需要判斷的才換強的，額度留給真的難的地方</a:t>
            </a:r>
          </a:p>
        </p:txBody>
      </p:sp>
      <p:sp>
        <p:nvSpPr>
          <p:cNvPr id="469" name="Rectangle 15"/>
          <p:cNvSpPr/>
          <p:nvPr/>
        </p:nvSpPr>
        <p:spPr>
          <a:xfrm>
            <a:off x="685798" y="3487420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0" name="TextBox 16"/>
          <p:cNvSpPr txBox="1"/>
          <p:nvPr/>
        </p:nvSpPr>
        <p:spPr>
          <a:xfrm>
            <a:off x="978405" y="3395979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進度另外記一份檔案，對話斷掉重開，看記錄就能接著做</a:t>
            </a:r>
          </a:p>
        </p:txBody>
      </p:sp>
      <p:sp>
        <p:nvSpPr>
          <p:cNvPr id="471" name="Rectangle 17"/>
          <p:cNvSpPr/>
          <p:nvPr/>
        </p:nvSpPr>
        <p:spPr>
          <a:xfrm>
            <a:off x="685800" y="4206113"/>
            <a:ext cx="10807659" cy="566945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2" name="Rectangle 18"/>
          <p:cNvSpPr/>
          <p:nvPr/>
        </p:nvSpPr>
        <p:spPr>
          <a:xfrm>
            <a:off x="685798" y="4206113"/>
            <a:ext cx="73170" cy="56694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3" name="TextBox 19"/>
          <p:cNvSpPr txBox="1"/>
          <p:nvPr/>
        </p:nvSpPr>
        <p:spPr>
          <a:xfrm>
            <a:off x="941830" y="4375275"/>
            <a:ext cx="103504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  <p:sp>
        <p:nvSpPr>
          <p:cNvPr id="474" name="TextBox 435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認真臉講幹話的時間到了</a:t>
            </a:r>
          </a:p>
        </p:txBody>
      </p:sp>
      <p:sp>
        <p:nvSpPr>
          <p:cNvPr id="475" name="Rectangle 456"/>
          <p:cNvSpPr/>
          <p:nvPr/>
        </p:nvSpPr>
        <p:spPr>
          <a:xfrm>
            <a:off x="685798" y="3840479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6" name="TextBox 457"/>
          <p:cNvSpPr txBox="1"/>
          <p:nvPr/>
        </p:nvSpPr>
        <p:spPr>
          <a:xfrm>
            <a:off x="978408" y="3749037"/>
            <a:ext cx="10515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可疑的結論不聽解釋，直接要求重現一次給我看——它說沒問題，實際不一定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踩過的坑 · 例子一</a:t>
            </a:r>
          </a:p>
        </p:txBody>
      </p:sp>
      <p:sp>
        <p:nvSpPr>
          <p:cNvPr id="479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480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sp>
        <p:nvSpPr>
          <p:cNvPr id="481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2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3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4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5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6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7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88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「請繼續完成系統建制」</a:t>
            </a:r>
          </a:p>
        </p:txBody>
      </p:sp>
      <p:sp>
        <p:nvSpPr>
          <p:cNvPr id="489" name="Rectangle 12"/>
          <p:cNvSpPr/>
          <p:nvPr/>
        </p:nvSpPr>
        <p:spPr>
          <a:xfrm>
            <a:off x="685800" y="3127248"/>
            <a:ext cx="10807659" cy="1645925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0" name="Rectangle 13"/>
          <p:cNvSpPr/>
          <p:nvPr/>
        </p:nvSpPr>
        <p:spPr>
          <a:xfrm>
            <a:off x="685800" y="3127248"/>
            <a:ext cx="54864" cy="164592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1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92" name="TextBox 15"/>
          <p:cNvSpPr txBox="1"/>
          <p:nvPr/>
        </p:nvSpPr>
        <p:spPr>
          <a:xfrm>
            <a:off x="960118" y="3511296"/>
            <a:ext cx="10259023" cy="810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「繼續完成系統建制」指的是哪個方向？兩者路線互斥（重構會移除現有樹編輯器）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① 執行任務導向重構（推薦）— 看板變預設首頁，移除舊三分頁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② 在現有 WBS 樹模型上補完 — 樹狀模型不變，把佔位符分頁做出來</a:t>
            </a:r>
          </a:p>
        </p:txBody>
      </p:sp>
      <p:sp>
        <p:nvSpPr>
          <p:cNvPr id="493" name="Rectangle 16"/>
          <p:cNvSpPr/>
          <p:nvPr/>
        </p:nvSpPr>
        <p:spPr>
          <a:xfrm>
            <a:off x="685800" y="4983479"/>
            <a:ext cx="10807659" cy="594377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4" name="TextBox 17"/>
          <p:cNvSpPr txBox="1"/>
          <p:nvPr/>
        </p:nvSpPr>
        <p:spPr>
          <a:xfrm>
            <a:off x="914400" y="5172709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95" name="TextBox 18"/>
          <p:cNvSpPr txBox="1"/>
          <p:nvPr/>
        </p:nvSpPr>
        <p:spPr>
          <a:xfrm>
            <a:off x="1737360" y="5172709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選了①，後續做出 11 個任務、73 commits，104/104 測試通過，才有現在的 Spring-MissionBoard</a:t>
            </a:r>
          </a:p>
        </p:txBody>
      </p:sp>
      <p:sp>
        <p:nvSpPr>
          <p:cNvPr id="496" name="TextBox 465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一句話拆出兩條路，血條 -1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踩過的坑 · 例子二</a:t>
            </a:r>
          </a:p>
        </p:txBody>
      </p:sp>
      <p:sp>
        <p:nvSpPr>
          <p:cNvPr id="499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沒報錯，不等於寫對了</a:t>
            </a:r>
          </a:p>
        </p:txBody>
      </p:sp>
      <p:sp>
        <p:nvSpPr>
          <p:cNvPr id="500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 拖曳偶爾會跳回舊分類，但 HTTP 全是 200、console 也乾乾淨淨</a:t>
            </a:r>
          </a:p>
        </p:txBody>
      </p:sp>
      <p:sp>
        <p:nvSpPr>
          <p:cNvPr id="501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2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3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4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5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6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7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508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「WBS 拖曳有時候改完，分類會自己跳回原本那個」</a:t>
            </a:r>
          </a:p>
        </p:txBody>
      </p:sp>
      <p:sp>
        <p:nvSpPr>
          <p:cNvPr id="509" name="Rectangle 12"/>
          <p:cNvSpPr/>
          <p:nvPr/>
        </p:nvSpPr>
        <p:spPr>
          <a:xfrm>
            <a:off x="685800" y="3127248"/>
            <a:ext cx="10807659" cy="1901952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0" name="Rectangle 13"/>
          <p:cNvSpPr/>
          <p:nvPr/>
        </p:nvSpPr>
        <p:spPr>
          <a:xfrm>
            <a:off x="685800" y="3127248"/>
            <a:ext cx="54864" cy="190195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1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512" name="TextBox 15"/>
          <p:cNvSpPr txBox="1"/>
          <p:nvPr/>
        </p:nvSpPr>
        <p:spPr>
          <a:xfrm>
            <a:off x="960118" y="3511296"/>
            <a:ext cx="10259023" cy="810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樂觀更新＋失敗回滾都照著寫，攔不到任何錯誤——因為根本沒有錯誤可以攔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① 同一張卡連續拖兩下，兩個 PUT 同時在飛，後回來的那個帶著拖曳前的舊快照整包寫回去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② 兩個請求都回 200，前端沒有東西可以報，畫面就這樣安靜地退回舊值</a:t>
            </a:r>
          </a:p>
        </p:txBody>
      </p:sp>
      <p:sp>
        <p:nvSpPr>
          <p:cNvPr id="513" name="Rectangle 16"/>
          <p:cNvSpPr/>
          <p:nvPr/>
        </p:nvSpPr>
        <p:spPr>
          <a:xfrm>
            <a:off x="685800" y="5239510"/>
            <a:ext cx="10807659" cy="594365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4" name="TextBox 17"/>
          <p:cNvSpPr txBox="1"/>
          <p:nvPr/>
        </p:nvSpPr>
        <p:spPr>
          <a:xfrm>
            <a:off x="914400" y="5428741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515" name="TextBox 18"/>
          <p:cNvSpPr txBox="1"/>
          <p:nvPr/>
        </p:nvSpPr>
        <p:spPr>
          <a:xfrm>
            <a:off x="1737360" y="5428741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加上 taskWriteQueue：同一個 task id 的寫入串成 Promise 鏈排隊，後一次等前一次跑完才送，payload 才帶得到最新的值</a:t>
            </a:r>
          </a:p>
        </p:txBody>
      </p:sp>
      <p:sp>
        <p:nvSpPr>
          <p:cNvPr id="516" name="TextBox 484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200 OK 是最會騙人的三個字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519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520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1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22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23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24" name="Rectangle 7"/>
          <p:cNvSpPr/>
          <p:nvPr/>
        </p:nvSpPr>
        <p:spPr>
          <a:xfrm>
            <a:off x="685798" y="2212848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25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有畫面的功能，一定要截圖給我看，不接受只說「已完成」</a:t>
            </a:r>
          </a:p>
        </p:txBody>
      </p:sp>
      <p:sp>
        <p:nvSpPr>
          <p:cNvPr id="526" name="Rectangle 9"/>
          <p:cNvSpPr/>
          <p:nvPr/>
        </p:nvSpPr>
        <p:spPr>
          <a:xfrm>
            <a:off x="685798" y="2665727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27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要推上遠端，一律要我親自點頭才行，AI 不能自己決定</a:t>
            </a:r>
          </a:p>
        </p:txBody>
      </p:sp>
      <p:sp>
        <p:nvSpPr>
          <p:cNvPr id="528" name="Rectangle 11"/>
          <p:cNvSpPr/>
          <p:nvPr/>
        </p:nvSpPr>
        <p:spPr>
          <a:xfrm>
            <a:off x="685798" y="3118610"/>
            <a:ext cx="100602" cy="10060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29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測試沒過就是還沒做完，沒有例外</a:t>
            </a:r>
          </a:p>
        </p:txBody>
      </p:sp>
      <p:sp>
        <p:nvSpPr>
          <p:cNvPr id="530" name="TextBox 497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條條都是血淚換來的</a:t>
            </a:r>
          </a:p>
        </p:txBody>
      </p:sp>
      <p:sp>
        <p:nvSpPr>
          <p:cNvPr id="531" name="Rectangle 522"/>
          <p:cNvSpPr/>
          <p:nvPr/>
        </p:nvSpPr>
        <p:spPr>
          <a:xfrm>
            <a:off x="685797" y="3840479"/>
            <a:ext cx="10808214" cy="56693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2" name="Rectangle 523"/>
          <p:cNvSpPr/>
          <p:nvPr/>
        </p:nvSpPr>
        <p:spPr>
          <a:xfrm>
            <a:off x="685798" y="3840479"/>
            <a:ext cx="73156" cy="5669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3" name="TextBox 524"/>
          <p:cNvSpPr txBox="1"/>
          <p:nvPr/>
        </p:nvSpPr>
        <p:spPr>
          <a:xfrm>
            <a:off x="941832" y="4005071"/>
            <a:ext cx="102961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這三條後來都寫成 hook：沒有放行標記就推不出去，破壞性指令直接攔下——不靠自律，靠攔截。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ageBG"/>
          <p:cNvSpPr/>
          <p:nvPr/>
        </p:nvSpPr>
        <p:spPr>
          <a:xfrm>
            <a:off x="0" y="0"/>
            <a:ext cx="12179259" cy="6858000"/>
          </a:xfrm>
          <a:prstGeom prst="rect">
            <a:avLst/>
          </a:prstGeom>
          <a:solidFill>
            <a:srgbClr val="F7F8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6" name="TextBox 2"/>
          <p:cNvSpPr txBox="1"/>
          <p:nvPr/>
        </p:nvSpPr>
        <p:spPr>
          <a:xfrm>
            <a:off x="685797" y="502919"/>
            <a:ext cx="10808214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開發制度</a:t>
            </a:r>
          </a:p>
        </p:txBody>
      </p:sp>
      <p:sp>
        <p:nvSpPr>
          <p:cNvPr id="537" name="TextBox 3"/>
          <p:cNvSpPr txBox="1"/>
          <p:nvPr/>
        </p:nvSpPr>
        <p:spPr>
          <a:xfrm>
            <a:off x="685797" y="868680"/>
            <a:ext cx="10808214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規矩靠自律會破功，所以把它寫成程式</a:t>
            </a:r>
          </a:p>
        </p:txBody>
      </p:sp>
      <p:sp>
        <p:nvSpPr>
          <p:cNvPr id="538" name="TextBox 4"/>
          <p:cNvSpPr txBox="1"/>
          <p:nvPr/>
        </p:nvSpPr>
        <p:spPr>
          <a:xfrm>
            <a:off x="685797" y="1527047"/>
            <a:ext cx="10808214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從一支 HTML 走到跑在雲端的系統，後來卡住我的不是寫程式，是每次都要重講一遍的流程</a:t>
            </a:r>
          </a:p>
        </p:txBody>
      </p:sp>
      <p:sp>
        <p:nvSpPr>
          <p:cNvPr id="539" name="Rectangle 5"/>
          <p:cNvSpPr/>
          <p:nvPr/>
        </p:nvSpPr>
        <p:spPr>
          <a:xfrm>
            <a:off x="685797" y="1904744"/>
            <a:ext cx="822965" cy="12703"/>
          </a:xfrm>
          <a:prstGeom prst="rect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0" name="Oval 6"/>
          <p:cNvSpPr/>
          <p:nvPr/>
        </p:nvSpPr>
        <p:spPr>
          <a:xfrm>
            <a:off x="658368" y="1883664"/>
            <a:ext cx="54864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1" name="Oval 7"/>
          <p:cNvSpPr/>
          <p:nvPr/>
        </p:nvSpPr>
        <p:spPr>
          <a:xfrm>
            <a:off x="1069847" y="1883664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2" name="Oval 8"/>
          <p:cNvSpPr/>
          <p:nvPr/>
        </p:nvSpPr>
        <p:spPr>
          <a:xfrm>
            <a:off x="1481327" y="1883664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3" name="Rectangle 9"/>
          <p:cNvSpPr/>
          <p:nvPr/>
        </p:nvSpPr>
        <p:spPr>
          <a:xfrm>
            <a:off x="685798" y="2505455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4" name="TextBox 10"/>
          <p:cNvSpPr txBox="1"/>
          <p:nvPr/>
        </p:nvSpPr>
        <p:spPr>
          <a:xfrm>
            <a:off x="978408" y="2414016"/>
            <a:ext cx="10515601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同一句叮嚀講到第三次就知道不對勁：與其每次提醒 AI「先寫測試」「不要亂推」，不如把規則變成它讀得到、也擋得住的東西</a:t>
            </a:r>
          </a:p>
        </p:txBody>
      </p:sp>
      <p:sp>
        <p:nvSpPr>
          <p:cNvPr id="545" name="Rectangle 11"/>
          <p:cNvSpPr/>
          <p:nvPr/>
        </p:nvSpPr>
        <p:spPr>
          <a:xfrm>
            <a:off x="685798" y="3209544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6" name="TextBox 12"/>
          <p:cNvSpPr txBox="1"/>
          <p:nvPr/>
        </p:nvSpPr>
        <p:spPr>
          <a:xfrm>
            <a:off x="978408" y="3118104"/>
            <a:ext cx="1051560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guide 是「怎麼做」的長期記憶——分層寫法、派工門檻、完成判準寫死在檔案裡，新對話一開就有共識</a:t>
            </a:r>
          </a:p>
        </p:txBody>
      </p:sp>
      <p:sp>
        <p:nvSpPr>
          <p:cNvPr id="547" name="Rectangle 13"/>
          <p:cNvSpPr/>
          <p:nvPr/>
        </p:nvSpPr>
        <p:spPr>
          <a:xfrm>
            <a:off x="685798" y="3648454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8" name="TextBox 14"/>
          <p:cNvSpPr txBox="1"/>
          <p:nvPr/>
        </p:nvSpPr>
        <p:spPr>
          <a:xfrm>
            <a:off x="978408" y="3557015"/>
            <a:ext cx="1051560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skill 是「照著走」的固定流程——巡檢、發版、同步文件各一支，不用每次重講一遍步驟</a:t>
            </a:r>
          </a:p>
        </p:txBody>
      </p:sp>
      <p:sp>
        <p:nvSpPr>
          <p:cNvPr id="549" name="Rectangle 15"/>
          <p:cNvSpPr/>
          <p:nvPr/>
        </p:nvSpPr>
        <p:spPr>
          <a:xfrm>
            <a:off x="685798" y="4087367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0" name="TextBox 16"/>
          <p:cNvSpPr txBox="1"/>
          <p:nvPr/>
        </p:nvSpPr>
        <p:spPr>
          <a:xfrm>
            <a:off x="978408" y="3995928"/>
            <a:ext cx="1051560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hook 是「不准做」的硬界線——不是提醒，是直接把指令攔下來；自律會累，程式不會</a:t>
            </a:r>
          </a:p>
        </p:txBody>
      </p:sp>
      <p:sp>
        <p:nvSpPr>
          <p:cNvPr id="551" name="Rectangle 17"/>
          <p:cNvSpPr/>
          <p:nvPr/>
        </p:nvSpPr>
        <p:spPr>
          <a:xfrm>
            <a:off x="685797" y="4663440"/>
            <a:ext cx="10808214" cy="56693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2" name="Rectangle 18"/>
          <p:cNvSpPr/>
          <p:nvPr/>
        </p:nvSpPr>
        <p:spPr>
          <a:xfrm>
            <a:off x="685798" y="4663440"/>
            <a:ext cx="73156" cy="5669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3" name="TextBox 19"/>
          <p:cNvSpPr txBox="1"/>
          <p:nvPr/>
        </p:nvSpPr>
        <p:spPr>
          <a:xfrm>
            <a:off x="941832" y="4828030"/>
            <a:ext cx="102961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叮嚀會忘、流程會漏；寫成檔案跟 hook 就不會。這一套是這兩個月被自己坑出來的。</a:t>
            </a:r>
          </a:p>
        </p:txBody>
      </p:sp>
      <p:sp>
        <p:nvSpPr>
          <p:cNvPr id="554" name="TextBox 20"/>
          <p:cNvSpPr txBox="1"/>
          <p:nvPr/>
        </p:nvSpPr>
        <p:spPr>
          <a:xfrm>
            <a:off x="6675118" y="6428232"/>
            <a:ext cx="480060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講第三次就知道該寫成檔案了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ageBG"/>
          <p:cNvSpPr/>
          <p:nvPr/>
        </p:nvSpPr>
        <p:spPr>
          <a:xfrm>
            <a:off x="0" y="0"/>
            <a:ext cx="12179259" cy="6858000"/>
          </a:xfrm>
          <a:prstGeom prst="rect">
            <a:avLst/>
          </a:prstGeom>
          <a:solidFill>
            <a:srgbClr val="F7F8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7" name="TextBox 2"/>
          <p:cNvSpPr txBox="1"/>
          <p:nvPr/>
        </p:nvSpPr>
        <p:spPr>
          <a:xfrm>
            <a:off x="685797" y="502919"/>
            <a:ext cx="10808214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制度家當</a:t>
            </a:r>
          </a:p>
        </p:txBody>
      </p:sp>
      <p:sp>
        <p:nvSpPr>
          <p:cNvPr id="558" name="TextBox 3"/>
          <p:cNvSpPr txBox="1"/>
          <p:nvPr/>
        </p:nvSpPr>
        <p:spPr>
          <a:xfrm>
            <a:off x="685797" y="868680"/>
            <a:ext cx="10808214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現在手上這一套，長這樣</a:t>
            </a:r>
          </a:p>
        </p:txBody>
      </p:sp>
      <p:sp>
        <p:nvSpPr>
          <p:cNvPr id="559" name="TextBox 4"/>
          <p:cNvSpPr txBox="1"/>
          <p:nvPr/>
        </p:nvSpPr>
        <p:spPr>
          <a:xfrm>
            <a:off x="685797" y="1527047"/>
            <a:ext cx="10808214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都是邊做邊長出來的，不是先規劃好才開始——每一條規則背後都有一次踩坑</a:t>
            </a:r>
          </a:p>
        </p:txBody>
      </p:sp>
      <p:sp>
        <p:nvSpPr>
          <p:cNvPr id="560" name="Rectangle 5"/>
          <p:cNvSpPr/>
          <p:nvPr/>
        </p:nvSpPr>
        <p:spPr>
          <a:xfrm>
            <a:off x="685797" y="1904744"/>
            <a:ext cx="822965" cy="12703"/>
          </a:xfrm>
          <a:prstGeom prst="rect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1" name="Oval 6"/>
          <p:cNvSpPr/>
          <p:nvPr/>
        </p:nvSpPr>
        <p:spPr>
          <a:xfrm>
            <a:off x="658368" y="1883664"/>
            <a:ext cx="54864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2" name="Oval 7"/>
          <p:cNvSpPr/>
          <p:nvPr/>
        </p:nvSpPr>
        <p:spPr>
          <a:xfrm>
            <a:off x="1069847" y="1883664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3" name="Oval 8"/>
          <p:cNvSpPr/>
          <p:nvPr/>
        </p:nvSpPr>
        <p:spPr>
          <a:xfrm>
            <a:off x="1481327" y="1883664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4" name="Rectangle 9"/>
          <p:cNvSpPr/>
          <p:nvPr/>
        </p:nvSpPr>
        <p:spPr>
          <a:xfrm>
            <a:off x="685797" y="2414015"/>
            <a:ext cx="3538734" cy="208483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5" name="Rectangle 10"/>
          <p:cNvSpPr/>
          <p:nvPr/>
        </p:nvSpPr>
        <p:spPr>
          <a:xfrm>
            <a:off x="685797" y="2414016"/>
            <a:ext cx="3538734" cy="5486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6" name="TextBox 11"/>
          <p:cNvSpPr txBox="1"/>
          <p:nvPr/>
        </p:nvSpPr>
        <p:spPr>
          <a:xfrm>
            <a:off x="905255" y="2651760"/>
            <a:ext cx="3099818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0B113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guide · 7 份</a:t>
            </a:r>
          </a:p>
        </p:txBody>
      </p:sp>
      <p:sp>
        <p:nvSpPr>
          <p:cNvPr id="567" name="TextBox 12"/>
          <p:cNvSpPr txBox="1"/>
          <p:nvPr/>
        </p:nvSpPr>
        <p:spPr>
          <a:xfrm>
            <a:off x="905255" y="3127248"/>
            <a:ext cx="3099818" cy="798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派工門檻與模型分層、完成判準、後端與前端撰寫標準、制度維護規則。動手前先讀對應那份，不憑印象寫。</a:t>
            </a:r>
          </a:p>
        </p:txBody>
      </p:sp>
      <p:sp>
        <p:nvSpPr>
          <p:cNvPr id="568" name="Rectangle 13"/>
          <p:cNvSpPr/>
          <p:nvPr/>
        </p:nvSpPr>
        <p:spPr>
          <a:xfrm>
            <a:off x="4297679" y="2414015"/>
            <a:ext cx="3538732" cy="208483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9" name="Rectangle 14"/>
          <p:cNvSpPr/>
          <p:nvPr/>
        </p:nvSpPr>
        <p:spPr>
          <a:xfrm>
            <a:off x="4297679" y="2414016"/>
            <a:ext cx="3538732" cy="5486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0" name="TextBox 15"/>
          <p:cNvSpPr txBox="1"/>
          <p:nvPr/>
        </p:nvSpPr>
        <p:spPr>
          <a:xfrm>
            <a:off x="4517135" y="2651760"/>
            <a:ext cx="309981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0B113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skill · 5 支 ＋ 指令 3 支</a:t>
            </a:r>
          </a:p>
        </p:txBody>
      </p:sp>
      <p:sp>
        <p:nvSpPr>
          <p:cNvPr id="571" name="TextBox 16"/>
          <p:cNvSpPr txBox="1"/>
          <p:nvPr/>
        </p:nvSpPr>
        <p:spPr>
          <a:xfrm>
            <a:off x="4517135" y="3127248"/>
            <a:ext cx="3099819" cy="798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/health-check 巡檢、/release 發版、/sync-docs 同步文件、/new-system 建專案。一個指令生出能跑的骨架，不是空資料夾。</a:t>
            </a:r>
          </a:p>
        </p:txBody>
      </p:sp>
      <p:sp>
        <p:nvSpPr>
          <p:cNvPr id="572" name="Rectangle 17"/>
          <p:cNvSpPr/>
          <p:nvPr/>
        </p:nvSpPr>
        <p:spPr>
          <a:xfrm>
            <a:off x="7909559" y="2414015"/>
            <a:ext cx="3538731" cy="208483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3" name="Rectangle 18"/>
          <p:cNvSpPr/>
          <p:nvPr/>
        </p:nvSpPr>
        <p:spPr>
          <a:xfrm>
            <a:off x="7909559" y="2414016"/>
            <a:ext cx="3538731" cy="5486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4" name="TextBox 19"/>
          <p:cNvSpPr txBox="1"/>
          <p:nvPr/>
        </p:nvSpPr>
        <p:spPr>
          <a:xfrm>
            <a:off x="8129016" y="2651760"/>
            <a:ext cx="309981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0B113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hook · 3 支</a:t>
            </a:r>
          </a:p>
        </p:txBody>
      </p:sp>
      <p:sp>
        <p:nvSpPr>
          <p:cNvPr id="575" name="TextBox 20"/>
          <p:cNvSpPr txBox="1"/>
          <p:nvPr/>
        </p:nvSpPr>
        <p:spPr>
          <a:xfrm>
            <a:off x="8129016" y="3127248"/>
            <a:ext cx="3099819" cy="798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push 前必須有放行標記、破壞性指令先攔下、制度檔案與 .env 禁止直接改寫。被擋下來的當下，才知道規矩有用。</a:t>
            </a:r>
          </a:p>
        </p:txBody>
      </p:sp>
      <p:sp>
        <p:nvSpPr>
          <p:cNvPr id="576" name="Rectangle 21"/>
          <p:cNvSpPr/>
          <p:nvPr/>
        </p:nvSpPr>
        <p:spPr>
          <a:xfrm>
            <a:off x="685797" y="4892040"/>
            <a:ext cx="10808214" cy="56693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7" name="Rectangle 22"/>
          <p:cNvSpPr/>
          <p:nvPr/>
        </p:nvSpPr>
        <p:spPr>
          <a:xfrm>
            <a:off x="685798" y="4892040"/>
            <a:ext cx="73156" cy="5669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8" name="TextBox 23"/>
          <p:cNvSpPr txBox="1"/>
          <p:nvPr/>
        </p:nvSpPr>
        <p:spPr>
          <a:xfrm>
            <a:off x="941832" y="5056630"/>
            <a:ext cx="102961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1 份 CLAUDE.md 當總則，底下 5 份全域設定、15 份規則與技能，全部放在 ~/.claude 裡跟著我走。</a:t>
            </a:r>
          </a:p>
        </p:txBody>
      </p:sp>
      <p:sp>
        <p:nvSpPr>
          <p:cNvPr id="579" name="TextBox 24"/>
          <p:cNvSpPr txBox="1"/>
          <p:nvPr/>
        </p:nvSpPr>
        <p:spPr>
          <a:xfrm>
            <a:off x="6675118" y="6428232"/>
            <a:ext cx="480060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兩個月長出來的家當，全塞在一個資料夾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582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583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不只寫程式，分析、測試、文件也是流程裡固定要做的一步，不是事後才想到</a:t>
            </a:r>
          </a:p>
        </p:txBody>
      </p:sp>
      <p:sp>
        <p:nvSpPr>
          <p:cNvPr id="584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5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6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7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8" name="Rectangle 8"/>
          <p:cNvSpPr/>
          <p:nvPr/>
        </p:nvSpPr>
        <p:spPr>
          <a:xfrm>
            <a:off x="685800" y="2304288"/>
            <a:ext cx="10807659" cy="14173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9" name="Rectangle 9"/>
          <p:cNvSpPr/>
          <p:nvPr/>
        </p:nvSpPr>
        <p:spPr>
          <a:xfrm>
            <a:off x="685798" y="2304288"/>
            <a:ext cx="73168" cy="1417324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92" name="Rounded Rectangle 10"/>
          <p:cNvGrpSpPr/>
          <p:nvPr/>
        </p:nvGrpSpPr>
        <p:grpSpPr>
          <a:xfrm>
            <a:off x="941817" y="2468861"/>
            <a:ext cx="1051594" cy="310931"/>
            <a:chOff x="-1" y="0"/>
            <a:chExt cx="1051592" cy="310929"/>
          </a:xfrm>
        </p:grpSpPr>
        <p:sp>
          <p:nvSpPr>
            <p:cNvPr id="590" name="圓角矩形"/>
            <p:cNvSpPr/>
            <p:nvPr/>
          </p:nvSpPr>
          <p:spPr>
            <a:xfrm>
              <a:off x="-2" y="-1"/>
              <a:ext cx="1051594" cy="310930"/>
            </a:xfrm>
            <a:prstGeom prst="roundRect">
              <a:avLst>
                <a:gd name="adj" fmla="val 50000"/>
              </a:avLst>
            </a:prstGeom>
            <a:solidFill>
              <a:srgbClr val="0B11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91" name="cc-new"/>
            <p:cNvSpPr txBox="1"/>
            <p:nvPr/>
          </p:nvSpPr>
          <p:spPr>
            <a:xfrm>
              <a:off x="290835" y="47503"/>
              <a:ext cx="4699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路由表</a:t>
              </a:r>
            </a:p>
          </p:txBody>
        </p:sp>
      </p:grpSp>
      <p:sp>
        <p:nvSpPr>
          <p:cNvPr id="593" name="TextBox 11"/>
          <p:cNvSpPr txBox="1"/>
          <p:nvPr/>
        </p:nvSpPr>
        <p:spPr>
          <a:xfrm>
            <a:off x="2148839" y="2441448"/>
            <a:ext cx="90703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這四步不是我喊爽的，是寫在 CLAUDE.md 的任務路由表裡，AI 自己照表操課</a:t>
            </a:r>
          </a:p>
        </p:txBody>
      </p:sp>
      <p:sp>
        <p:nvSpPr>
          <p:cNvPr id="594" name="Rectangle 12"/>
          <p:cNvSpPr/>
          <p:nvPr/>
        </p:nvSpPr>
        <p:spPr>
          <a:xfrm>
            <a:off x="941832" y="2953511"/>
            <a:ext cx="82311" cy="822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5" name="TextBox 13"/>
          <p:cNvSpPr txBox="1"/>
          <p:nvPr/>
        </p:nvSpPr>
        <p:spPr>
          <a:xfrm>
            <a:off x="1106423" y="2871216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分析：先跑 brainstorming 把需求講清楚，spec 沒核准不動手</a:t>
            </a:r>
          </a:p>
        </p:txBody>
      </p:sp>
      <p:sp>
        <p:nvSpPr>
          <p:cNvPr id="596" name="Rectangle 14"/>
          <p:cNvSpPr/>
          <p:nvPr/>
        </p:nvSpPr>
        <p:spPr>
          <a:xfrm>
            <a:off x="941832" y="3227832"/>
            <a:ext cx="82311" cy="8231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7" name="TextBox 15"/>
          <p:cNvSpPr txBox="1"/>
          <p:nvPr/>
        </p:nvSpPr>
        <p:spPr>
          <a:xfrm>
            <a:off x="1106423" y="3145533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測試：mvn test 全綠、應用實際啟動、有畫面就要截圖，缺一不算完成</a:t>
            </a:r>
          </a:p>
        </p:txBody>
      </p:sp>
      <p:sp>
        <p:nvSpPr>
          <p:cNvPr id="598" name="Rectangle 16"/>
          <p:cNvSpPr/>
          <p:nvPr/>
        </p:nvSpPr>
        <p:spPr>
          <a:xfrm>
            <a:off x="941832" y="3502152"/>
            <a:ext cx="82311" cy="8231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9" name="TextBox 17"/>
          <p:cNvSpPr txBox="1"/>
          <p:nvPr/>
        </p:nvSpPr>
        <p:spPr>
          <a:xfrm>
            <a:off x="1106423" y="3419854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文件：收工前跑 /sync-docs 同步 README 與 dev.md，不是事後才補</a:t>
            </a:r>
          </a:p>
        </p:txBody>
      </p:sp>
      <p:sp>
        <p:nvSpPr>
          <p:cNvPr id="600" name="Oval 18"/>
          <p:cNvSpPr/>
          <p:nvPr/>
        </p:nvSpPr>
        <p:spPr>
          <a:xfrm>
            <a:off x="2729207" y="4041647"/>
            <a:ext cx="1371629" cy="1371629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1" name="TextBox 19"/>
          <p:cNvSpPr txBox="1"/>
          <p:nvPr/>
        </p:nvSpPr>
        <p:spPr>
          <a:xfrm>
            <a:off x="2729207" y="4169664"/>
            <a:ext cx="13716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602" name="TextBox 20"/>
          <p:cNvSpPr txBox="1"/>
          <p:nvPr/>
        </p:nvSpPr>
        <p:spPr>
          <a:xfrm>
            <a:off x="2729207" y="4575047"/>
            <a:ext cx="1371614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分析</a:t>
            </a:r>
          </a:p>
        </p:txBody>
      </p:sp>
      <p:sp>
        <p:nvSpPr>
          <p:cNvPr id="603" name="Connector 21"/>
          <p:cNvSpPr/>
          <p:nvPr/>
        </p:nvSpPr>
        <p:spPr>
          <a:xfrm>
            <a:off x="4100807" y="4727447"/>
            <a:ext cx="411486" cy="13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04" name="Oval 22"/>
          <p:cNvSpPr/>
          <p:nvPr/>
        </p:nvSpPr>
        <p:spPr>
          <a:xfrm>
            <a:off x="4512288" y="4041647"/>
            <a:ext cx="1371629" cy="137162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5" name="TextBox 23"/>
          <p:cNvSpPr txBox="1"/>
          <p:nvPr/>
        </p:nvSpPr>
        <p:spPr>
          <a:xfrm>
            <a:off x="4512288" y="4169664"/>
            <a:ext cx="137161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606" name="TextBox 24"/>
          <p:cNvSpPr txBox="1"/>
          <p:nvPr/>
        </p:nvSpPr>
        <p:spPr>
          <a:xfrm>
            <a:off x="4512288" y="4575047"/>
            <a:ext cx="1371615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實作</a:t>
            </a:r>
          </a:p>
        </p:txBody>
      </p:sp>
      <p:sp>
        <p:nvSpPr>
          <p:cNvPr id="607" name="Connector 25"/>
          <p:cNvSpPr/>
          <p:nvPr/>
        </p:nvSpPr>
        <p:spPr>
          <a:xfrm>
            <a:off x="5883888" y="4727447"/>
            <a:ext cx="411486" cy="13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08" name="Oval 26"/>
          <p:cNvSpPr/>
          <p:nvPr/>
        </p:nvSpPr>
        <p:spPr>
          <a:xfrm>
            <a:off x="6295368" y="4041647"/>
            <a:ext cx="1371629" cy="1371629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9" name="TextBox 27"/>
          <p:cNvSpPr txBox="1"/>
          <p:nvPr/>
        </p:nvSpPr>
        <p:spPr>
          <a:xfrm>
            <a:off x="6295368" y="4169664"/>
            <a:ext cx="13716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610" name="TextBox 28"/>
          <p:cNvSpPr txBox="1"/>
          <p:nvPr/>
        </p:nvSpPr>
        <p:spPr>
          <a:xfrm>
            <a:off x="6295368" y="4575047"/>
            <a:ext cx="1371614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測試</a:t>
            </a:r>
          </a:p>
        </p:txBody>
      </p:sp>
      <p:sp>
        <p:nvSpPr>
          <p:cNvPr id="611" name="Connector 29"/>
          <p:cNvSpPr/>
          <p:nvPr/>
        </p:nvSpPr>
        <p:spPr>
          <a:xfrm>
            <a:off x="7666969" y="4727447"/>
            <a:ext cx="411486" cy="13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12" name="Oval 30"/>
          <p:cNvSpPr/>
          <p:nvPr/>
        </p:nvSpPr>
        <p:spPr>
          <a:xfrm>
            <a:off x="8078447" y="4041647"/>
            <a:ext cx="1371629" cy="137162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3" name="TextBox 31"/>
          <p:cNvSpPr txBox="1"/>
          <p:nvPr/>
        </p:nvSpPr>
        <p:spPr>
          <a:xfrm>
            <a:off x="8078447" y="4169664"/>
            <a:ext cx="1371616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614" name="TextBox 32"/>
          <p:cNvSpPr txBox="1"/>
          <p:nvPr/>
        </p:nvSpPr>
        <p:spPr>
          <a:xfrm>
            <a:off x="8078447" y="4575047"/>
            <a:ext cx="1371616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文件</a:t>
            </a:r>
          </a:p>
        </p:txBody>
      </p:sp>
      <p:sp>
        <p:nvSpPr>
          <p:cNvPr id="615" name="TextBox 33"/>
          <p:cNvSpPr txBox="1"/>
          <p:nvPr/>
        </p:nvSpPr>
        <p:spPr>
          <a:xfrm>
            <a:off x="685800" y="5669279"/>
            <a:ext cx="10807659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每一代（WbsScaff、Spring-WbsScaff、Spring-TaskFlow、Spring-MissionBoard）都走這四步，不是後來才補上的規矩</a:t>
            </a:r>
          </a:p>
        </p:txBody>
      </p:sp>
      <p:sp>
        <p:nvSpPr>
          <p:cNvPr id="616" name="TextBox 533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四步驟聽起來很潮，其實就是不想再重來一次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619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620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1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2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3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4" name="Rectangle 7"/>
          <p:cNvSpPr/>
          <p:nvPr/>
        </p:nvSpPr>
        <p:spPr>
          <a:xfrm>
            <a:off x="685798" y="2212848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5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為了貼近實際狀況，我用現在工作上真的會遇到的情境來設計：主機申請、防火牆開通、資安檢核這類項目</a:t>
            </a:r>
          </a:p>
        </p:txBody>
      </p:sp>
      <p:sp>
        <p:nvSpPr>
          <p:cNvPr id="626" name="Rectangle 9"/>
          <p:cNvSpPr/>
          <p:nvPr/>
        </p:nvSpPr>
        <p:spPr>
          <a:xfrm>
            <a:off x="685798" y="2972305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7" name="TextBox 10"/>
          <p:cNvSpPr txBox="1"/>
          <p:nvPr/>
        </p:nvSpPr>
        <p:spPr>
          <a:xfrm>
            <a:off x="978405" y="2880866"/>
            <a:ext cx="10515057" cy="664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角色也照實際職務分：長官跨科看得到但不能改、科長科內全權、專案負責人管自己的案子、成員只看得到自己參與的</a:t>
            </a:r>
          </a:p>
        </p:txBody>
      </p:sp>
      <p:sp>
        <p:nvSpPr>
          <p:cNvPr id="628" name="Rectangle 11"/>
          <p:cNvSpPr/>
          <p:nvPr/>
        </p:nvSpPr>
        <p:spPr>
          <a:xfrm>
            <a:off x="685798" y="3731767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9" name="TextBox 12"/>
          <p:cNvSpPr txBox="1"/>
          <p:nvPr/>
        </p:nvSpPr>
        <p:spPr>
          <a:xfrm>
            <a:off x="978405" y="364032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科別之間互相看不到，每個動作都會再確認一次「這個人有沒有資格動這筆資料」</a:t>
            </a:r>
          </a:p>
        </p:txBody>
      </p:sp>
      <p:sp>
        <p:nvSpPr>
          <p:cNvPr id="630" name="Rectangle 13"/>
          <p:cNvSpPr/>
          <p:nvPr/>
        </p:nvSpPr>
        <p:spPr>
          <a:xfrm>
            <a:off x="685798" y="4184648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31" name="TextBox 14"/>
          <p:cNvSpPr txBox="1"/>
          <p:nvPr/>
        </p:nvSpPr>
        <p:spPr>
          <a:xfrm>
            <a:off x="978405" y="4093209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權限畫得細，反而增加了協作的自由度：大家可以放心一起動同一份資料</a:t>
            </a:r>
          </a:p>
        </p:txBody>
      </p:sp>
      <p:sp>
        <p:nvSpPr>
          <p:cNvPr id="632" name="TextBox 548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連權限都設計得比某些系統嚴謹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5" name="TextBox 2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636" name="TextBox 3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637" name="Connector 4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8" name="Oval 5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9" name="Oval 6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0" name="Oval 7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1" name="TextBox 8"/>
          <p:cNvSpPr txBox="1"/>
          <p:nvPr/>
        </p:nvSpPr>
        <p:spPr>
          <a:xfrm>
            <a:off x="960119" y="2468877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642" name="TextBox 9"/>
          <p:cNvSpPr txBox="1"/>
          <p:nvPr/>
        </p:nvSpPr>
        <p:spPr>
          <a:xfrm>
            <a:off x="960119" y="3337559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總 commit 數（四個 repo 合計）</a:t>
            </a:r>
          </a:p>
        </p:txBody>
      </p:sp>
      <p:sp>
        <p:nvSpPr>
          <p:cNvPr id="643" name="Connector 10"/>
          <p:cNvSpPr/>
          <p:nvPr/>
        </p:nvSpPr>
        <p:spPr>
          <a:xfrm>
            <a:off x="4288351" y="2606037"/>
            <a:ext cx="13" cy="1325896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4" name="TextBox 11"/>
          <p:cNvSpPr txBox="1"/>
          <p:nvPr/>
        </p:nvSpPr>
        <p:spPr>
          <a:xfrm>
            <a:off x="4562671" y="2468877"/>
            <a:ext cx="30539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645" name="TextBox 12"/>
          <p:cNvSpPr txBox="1"/>
          <p:nvPr/>
        </p:nvSpPr>
        <p:spPr>
          <a:xfrm>
            <a:off x="4562671" y="3337559"/>
            <a:ext cx="3053928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 md 文件（四個 repo 合計）</a:t>
            </a:r>
          </a:p>
        </p:txBody>
      </p:sp>
      <p:sp>
        <p:nvSpPr>
          <p:cNvPr id="646" name="Connector 13"/>
          <p:cNvSpPr/>
          <p:nvPr/>
        </p:nvSpPr>
        <p:spPr>
          <a:xfrm>
            <a:off x="7890905" y="2606037"/>
            <a:ext cx="13" cy="1325896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7" name="TextBox 14"/>
          <p:cNvSpPr txBox="1"/>
          <p:nvPr/>
        </p:nvSpPr>
        <p:spPr>
          <a:xfrm>
            <a:off x="8165224" y="2468877"/>
            <a:ext cx="3053927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648" name="TextBox 15"/>
          <p:cNvSpPr txBox="1"/>
          <p:nvPr/>
        </p:nvSpPr>
        <p:spPr>
          <a:xfrm>
            <a:off x="8165224" y="3337559"/>
            <a:ext cx="3053927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個世代 / 階段</a:t>
            </a:r>
          </a:p>
        </p:txBody>
      </p:sp>
      <p:sp>
        <p:nvSpPr>
          <p:cNvPr id="649" name="TextBox 16"/>
          <p:cNvSpPr txBox="1"/>
          <p:nvPr/>
        </p:nvSpPr>
        <p:spPr>
          <a:xfrm>
            <a:off x="960119" y="4206240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650" name="TextBox 17"/>
          <p:cNvSpPr txBox="1"/>
          <p:nvPr/>
        </p:nvSpPr>
        <p:spPr>
          <a:xfrm>
            <a:off x="960119" y="5074920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個拆分給 AI 做的任務</a:t>
            </a:r>
          </a:p>
        </p:txBody>
      </p:sp>
      <p:sp>
        <p:nvSpPr>
          <p:cNvPr id="651" name="Connector 18"/>
          <p:cNvSpPr/>
          <p:nvPr/>
        </p:nvSpPr>
        <p:spPr>
          <a:xfrm>
            <a:off x="4288351" y="4343398"/>
            <a:ext cx="13" cy="1325895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2" name="TextBox 19"/>
          <p:cNvSpPr txBox="1"/>
          <p:nvPr/>
        </p:nvSpPr>
        <p:spPr>
          <a:xfrm>
            <a:off x="4562671" y="4206240"/>
            <a:ext cx="30539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653" name="TextBox 20"/>
          <p:cNvSpPr txBox="1"/>
          <p:nvPr/>
        </p:nvSpPr>
        <p:spPr>
          <a:xfrm>
            <a:off x="4562671" y="5074920"/>
            <a:ext cx="3053928" cy="464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份全域 Claude 設定（CLAUDE.md／hooks／settings.json）</a:t>
            </a:r>
          </a:p>
        </p:txBody>
      </p:sp>
      <p:sp>
        <p:nvSpPr>
          <p:cNvPr id="654" name="Connector 21"/>
          <p:cNvSpPr/>
          <p:nvPr/>
        </p:nvSpPr>
        <p:spPr>
          <a:xfrm>
            <a:off x="7890905" y="4343398"/>
            <a:ext cx="13" cy="1325895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5" name="TextBox 22"/>
          <p:cNvSpPr txBox="1"/>
          <p:nvPr/>
        </p:nvSpPr>
        <p:spPr>
          <a:xfrm>
            <a:off x="8165224" y="4206240"/>
            <a:ext cx="3053927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656" name="TextBox 23"/>
          <p:cNvSpPr txBox="1"/>
          <p:nvPr/>
        </p:nvSpPr>
        <p:spPr>
          <a:xfrm>
            <a:off x="8165224" y="5074920"/>
            <a:ext cx="3053927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份開發規則與 skill（guides／skills／指令）</a:t>
            </a:r>
          </a:p>
        </p:txBody>
      </p:sp>
      <p:sp>
        <p:nvSpPr>
          <p:cNvPr id="657" name="TextBox 572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241 個 commit，肝出來的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660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現在的 Spring-MissionBoard</a:t>
            </a:r>
          </a:p>
        </p:txBody>
      </p:sp>
      <p:sp>
        <p:nvSpPr>
          <p:cNvPr id="661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2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3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4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5" name="Rectangle 7"/>
          <p:cNvSpPr/>
          <p:nvPr/>
        </p:nvSpPr>
        <p:spPr>
          <a:xfrm>
            <a:off x="630936" y="1975103"/>
            <a:ext cx="5330677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6" name="Rectangle 9"/>
          <p:cNvSpPr/>
          <p:nvPr/>
        </p:nvSpPr>
        <p:spPr>
          <a:xfrm>
            <a:off x="630934" y="1975103"/>
            <a:ext cx="310911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7" name="Rectangle 10"/>
          <p:cNvSpPr/>
          <p:nvPr/>
        </p:nvSpPr>
        <p:spPr>
          <a:xfrm>
            <a:off x="630936" y="1975103"/>
            <a:ext cx="54870" cy="31091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670" name="Rounded Rectangle 11"/>
          <p:cNvGrpSpPr/>
          <p:nvPr/>
        </p:nvGrpSpPr>
        <p:grpSpPr>
          <a:xfrm>
            <a:off x="685783" y="5457629"/>
            <a:ext cx="1024163" cy="310936"/>
            <a:chOff x="-1" y="-1"/>
            <a:chExt cx="1024162" cy="310935"/>
          </a:xfrm>
        </p:grpSpPr>
        <p:sp>
          <p:nvSpPr>
            <p:cNvPr id="668" name="圓角矩形"/>
            <p:cNvSpPr/>
            <p:nvPr/>
          </p:nvSpPr>
          <p:spPr>
            <a:xfrm>
              <a:off x="-2" y="-2"/>
              <a:ext cx="1024163" cy="31093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669" name="分類管理"/>
            <p:cNvSpPr txBox="1"/>
            <p:nvPr/>
          </p:nvSpPr>
          <p:spPr>
            <a:xfrm>
              <a:off x="169812" y="47502"/>
              <a:ext cx="68451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檢視</a:t>
              </a:r>
            </a:p>
          </p:txBody>
        </p:sp>
      </p:grpSp>
      <p:sp>
        <p:nvSpPr>
          <p:cNvPr id="671" name="Rectangle 12"/>
          <p:cNvSpPr/>
          <p:nvPr/>
        </p:nvSpPr>
        <p:spPr>
          <a:xfrm>
            <a:off x="6217644" y="1975103"/>
            <a:ext cx="5330681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72" name="Rectangle 14"/>
          <p:cNvSpPr/>
          <p:nvPr/>
        </p:nvSpPr>
        <p:spPr>
          <a:xfrm>
            <a:off x="6217644" y="1975103"/>
            <a:ext cx="31091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73" name="Rectangle 15"/>
          <p:cNvSpPr/>
          <p:nvPr/>
        </p:nvSpPr>
        <p:spPr>
          <a:xfrm>
            <a:off x="6217644" y="1975103"/>
            <a:ext cx="54870" cy="31091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676" name="Rounded Rectangle 16"/>
          <p:cNvGrpSpPr/>
          <p:nvPr/>
        </p:nvGrpSpPr>
        <p:grpSpPr>
          <a:xfrm>
            <a:off x="6272482" y="5457629"/>
            <a:ext cx="1024169" cy="310936"/>
            <a:chOff x="0" y="-1"/>
            <a:chExt cx="1024168" cy="310935"/>
          </a:xfrm>
        </p:grpSpPr>
        <p:sp>
          <p:nvSpPr>
            <p:cNvPr id="674" name="圓角矩形"/>
            <p:cNvSpPr/>
            <p:nvPr/>
          </p:nvSpPr>
          <p:spPr>
            <a:xfrm>
              <a:off x="-1" y="-2"/>
              <a:ext cx="1024169" cy="31093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675" name="任務看板"/>
            <p:cNvSpPr txBox="1"/>
            <p:nvPr/>
          </p:nvSpPr>
          <p:spPr>
            <a:xfrm>
              <a:off x="200922" y="47502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任務看板</a:t>
              </a:r>
            </a:p>
          </p:txBody>
        </p:sp>
      </p:grpSp>
      <p:sp>
        <p:nvSpPr>
          <p:cNvPr id="677" name="TextBox 241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先看圖，比較不無聊</a:t>
            </a:r>
          </a:p>
        </p:txBody>
      </p:sp>
      <p:grpSp>
        <p:nvGrpSpPr>
          <p:cNvPr id="680" name="Rounded Rectangle 269"/>
          <p:cNvGrpSpPr/>
          <p:nvPr/>
        </p:nvGrpSpPr>
        <p:grpSpPr>
          <a:xfrm>
            <a:off x="685790" y="1691633"/>
            <a:ext cx="1353330" cy="292627"/>
            <a:chOff x="0" y="-1"/>
            <a:chExt cx="1353329" cy="292626"/>
          </a:xfrm>
        </p:grpSpPr>
        <p:sp>
          <p:nvSpPr>
            <p:cNvPr id="678" name="圓角矩形"/>
            <p:cNvSpPr/>
            <p:nvPr/>
          </p:nvSpPr>
          <p:spPr>
            <a:xfrm>
              <a:off x="-1" y="-2"/>
              <a:ext cx="1353330" cy="292628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79" name="白色簡約視覺"/>
            <p:cNvSpPr txBox="1"/>
            <p:nvPr/>
          </p:nvSpPr>
          <p:spPr>
            <a:xfrm>
              <a:off x="251208" y="44704"/>
              <a:ext cx="8509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白色簡約視覺</a:t>
              </a:r>
            </a:p>
          </p:txBody>
        </p:sp>
      </p:grpSp>
      <p:grpSp>
        <p:nvGrpSpPr>
          <p:cNvPr id="683" name="Rounded Rectangle 270"/>
          <p:cNvGrpSpPr/>
          <p:nvPr/>
        </p:nvGrpSpPr>
        <p:grpSpPr>
          <a:xfrm>
            <a:off x="2203697" y="1691633"/>
            <a:ext cx="1517925" cy="292627"/>
            <a:chOff x="-1" y="-1"/>
            <a:chExt cx="1517924" cy="292626"/>
          </a:xfrm>
        </p:grpSpPr>
        <p:sp>
          <p:nvSpPr>
            <p:cNvPr id="681" name="圓角矩形"/>
            <p:cNvSpPr/>
            <p:nvPr/>
          </p:nvSpPr>
          <p:spPr>
            <a:xfrm>
              <a:off x="-2" y="-2"/>
              <a:ext cx="1517925" cy="292628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82" name="側邊欄導覽重構"/>
            <p:cNvSpPr txBox="1"/>
            <p:nvPr/>
          </p:nvSpPr>
          <p:spPr>
            <a:xfrm>
              <a:off x="263655" y="44704"/>
              <a:ext cx="9906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側邊欄導覽重構</a:t>
              </a:r>
            </a:p>
          </p:txBody>
        </p:sp>
      </p:grpSp>
      <p:grpSp>
        <p:nvGrpSpPr>
          <p:cNvPr id="686" name="Rounded Rectangle 271"/>
          <p:cNvGrpSpPr/>
          <p:nvPr/>
        </p:nvGrpSpPr>
        <p:grpSpPr>
          <a:xfrm>
            <a:off x="3886200" y="1691633"/>
            <a:ext cx="1682503" cy="292627"/>
            <a:chOff x="0" y="-1"/>
            <a:chExt cx="1682502" cy="292626"/>
          </a:xfrm>
        </p:grpSpPr>
        <p:sp>
          <p:nvSpPr>
            <p:cNvPr id="684" name="圓角矩形"/>
            <p:cNvSpPr/>
            <p:nvPr/>
          </p:nvSpPr>
          <p:spPr>
            <a:xfrm>
              <a:off x="0" y="-2"/>
              <a:ext cx="1682503" cy="292628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85" name="WBS 新增大項"/>
            <p:cNvSpPr txBox="1"/>
            <p:nvPr/>
          </p:nvSpPr>
          <p:spPr>
            <a:xfrm>
              <a:off x="387284" y="44704"/>
              <a:ext cx="907927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新增大項</a:t>
              </a:r>
            </a:p>
          </p:txBody>
        </p:sp>
      </p:grpSp>
      <p:grpSp>
        <p:nvGrpSpPr>
          <p:cNvPr id="689" name="Rounded Rectangle 272"/>
          <p:cNvGrpSpPr/>
          <p:nvPr/>
        </p:nvGrpSpPr>
        <p:grpSpPr>
          <a:xfrm>
            <a:off x="5733278" y="1691633"/>
            <a:ext cx="1517924" cy="292627"/>
            <a:chOff x="-1" y="-1"/>
            <a:chExt cx="1517923" cy="292626"/>
          </a:xfrm>
        </p:grpSpPr>
        <p:sp>
          <p:nvSpPr>
            <p:cNvPr id="687" name="圓角矩形"/>
            <p:cNvSpPr/>
            <p:nvPr/>
          </p:nvSpPr>
          <p:spPr>
            <a:xfrm>
              <a:off x="-2" y="-2"/>
              <a:ext cx="1517925" cy="292628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88" name="首頁儀表板三層"/>
            <p:cNvSpPr txBox="1"/>
            <p:nvPr/>
          </p:nvSpPr>
          <p:spPr>
            <a:xfrm>
              <a:off x="263655" y="44704"/>
              <a:ext cx="9906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首頁儀表板三層</a:t>
              </a:r>
            </a:p>
          </p:txBody>
        </p:sp>
      </p:grpSp>
      <p:pic>
        <p:nvPicPr>
          <p:cNvPr id="690" name="Picture 281" descr="Picture 28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50" cy="3263097"/>
          </a:xfrm>
          <a:prstGeom prst="rect">
            <a:avLst/>
          </a:prstGeom>
          <a:ln w="12700">
            <a:miter lim="400000"/>
          </a:ln>
        </p:spPr>
      </p:pic>
      <p:pic>
        <p:nvPicPr>
          <p:cNvPr id="691" name="Picture 282" descr="Picture 28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7" y="2029966"/>
            <a:ext cx="5220952" cy="32630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94" name="Connector 2"/>
          <p:cNvSpPr/>
          <p:nvPr/>
        </p:nvSpPr>
        <p:spPr>
          <a:xfrm>
            <a:off x="685800" y="685800"/>
            <a:ext cx="2011680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95" name="Oval 3"/>
          <p:cNvSpPr/>
          <p:nvPr/>
        </p:nvSpPr>
        <p:spPr>
          <a:xfrm>
            <a:off x="658368" y="658368"/>
            <a:ext cx="54864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96" name="Oval 4"/>
          <p:cNvSpPr/>
          <p:nvPr/>
        </p:nvSpPr>
        <p:spPr>
          <a:xfrm>
            <a:off x="1664205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97" name="Oval 5"/>
          <p:cNvSpPr/>
          <p:nvPr/>
        </p:nvSpPr>
        <p:spPr>
          <a:xfrm>
            <a:off x="2670048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98" name="TextBox 6"/>
          <p:cNvSpPr txBox="1"/>
          <p:nvPr/>
        </p:nvSpPr>
        <p:spPr>
          <a:xfrm>
            <a:off x="685800" y="9601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699" name="TextBox 7"/>
          <p:cNvSpPr txBox="1"/>
          <p:nvPr/>
        </p:nvSpPr>
        <p:spPr>
          <a:xfrm>
            <a:off x="685800" y="1325877"/>
            <a:ext cx="10807659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700" name="Rectangle 8"/>
          <p:cNvSpPr/>
          <p:nvPr/>
        </p:nvSpPr>
        <p:spPr>
          <a:xfrm>
            <a:off x="685798" y="2706622"/>
            <a:ext cx="100602" cy="100586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01" name="TextBox 9"/>
          <p:cNvSpPr txBox="1"/>
          <p:nvPr/>
        </p:nvSpPr>
        <p:spPr>
          <a:xfrm>
            <a:off x="978405" y="260603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AI 省下的是打字跟查資料的時間；要做什麼、方向對不對，還是得自己判斷</a:t>
            </a:r>
          </a:p>
        </p:txBody>
      </p:sp>
      <p:sp>
        <p:nvSpPr>
          <p:cNvPr id="702" name="Rectangle 10"/>
          <p:cNvSpPr/>
          <p:nvPr/>
        </p:nvSpPr>
        <p:spPr>
          <a:xfrm>
            <a:off x="685798" y="3218688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03" name="TextBox 11"/>
          <p:cNvSpPr txBox="1"/>
          <p:nvPr/>
        </p:nvSpPr>
        <p:spPr>
          <a:xfrm>
            <a:off x="978405" y="3118104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一個人開發最怕沒人幫忙看，讓另一個 AI 來挑毛病，剛好補上這塊</a:t>
            </a:r>
          </a:p>
        </p:txBody>
      </p:sp>
      <p:sp>
        <p:nvSpPr>
          <p:cNvPr id="704" name="Rectangle 12"/>
          <p:cNvSpPr/>
          <p:nvPr/>
        </p:nvSpPr>
        <p:spPr>
          <a:xfrm>
            <a:off x="685798" y="3730752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05" name="TextBox 13"/>
          <p:cNvSpPr txBox="1"/>
          <p:nvPr/>
        </p:nvSpPr>
        <p:spPr>
          <a:xfrm>
            <a:off x="978405" y="3630167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最花時間的不是寫程式，是把需求想清楚——這件事 AI 幫不上忙</a:t>
            </a:r>
          </a:p>
        </p:txBody>
      </p:sp>
      <p:sp>
        <p:nvSpPr>
          <p:cNvPr id="706" name="Rectangle 14"/>
          <p:cNvSpPr/>
          <p:nvPr/>
        </p:nvSpPr>
        <p:spPr>
          <a:xfrm>
            <a:off x="685798" y="4242815"/>
            <a:ext cx="100602" cy="1006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07" name="TextBox 15"/>
          <p:cNvSpPr txBox="1"/>
          <p:nvPr/>
        </p:nvSpPr>
        <p:spPr>
          <a:xfrm>
            <a:off x="978405" y="414223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兩個月做了四個世代，走的冤枉路比想像多，但每次砍掉重來都比硬撐下去快</a:t>
            </a:r>
          </a:p>
        </p:txBody>
      </p:sp>
      <p:sp>
        <p:nvSpPr>
          <p:cNvPr id="708" name="Connector 16"/>
          <p:cNvSpPr/>
          <p:nvPr/>
        </p:nvSpPr>
        <p:spPr>
          <a:xfrm>
            <a:off x="685788" y="4791454"/>
            <a:ext cx="4983509" cy="13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09" name="TextBox 17"/>
          <p:cNvSpPr txBox="1"/>
          <p:nvPr/>
        </p:nvSpPr>
        <p:spPr>
          <a:xfrm>
            <a:off x="685800" y="4974335"/>
            <a:ext cx="10807659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謝謝聆聽 · Q &amp; A</a:t>
            </a:r>
          </a:p>
        </p:txBody>
      </p:sp>
      <p:sp>
        <p:nvSpPr>
          <p:cNvPr id="710" name="TextBox 640"/>
          <p:cNvSpPr txBox="1"/>
          <p:nvPr/>
        </p:nvSpPr>
        <p:spPr>
          <a:xfrm>
            <a:off x="6675118" y="6428232"/>
            <a:ext cx="480061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沒了嗎？可以休息啦！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