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21" name="內文層級一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大標題文字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大標題文字</a:t>
            </a:r>
          </a:p>
        </p:txBody>
      </p:sp>
      <p:sp>
        <p:nvSpPr>
          <p:cNvPr id="30" name="內文層級一…"/>
          <p:cNvSpPr txBox="1"/>
          <p:nvPr>
            <p:ph type="body" sz="quarter" idx="1"/>
          </p:nvPr>
        </p:nvSpPr>
        <p:spPr>
          <a:xfrm>
            <a:off x="722312" y="2906713"/>
            <a:ext cx="7772401" cy="150020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9" name="內文層級一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48" name="內文層級一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8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58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大標題文字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73" name="內文層級一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大標題文字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大標題文字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4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內文層級一…"/>
          <p:cNvSpPr txBox="1"/>
          <p:nvPr>
            <p:ph type="body" sz="quarter" idx="1"/>
          </p:nvPr>
        </p:nvSpPr>
        <p:spPr>
          <a:xfrm>
            <a:off x="1792288" y="5367337"/>
            <a:ext cx="5486404" cy="80488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5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Connector 2"/>
          <p:cNvSpPr/>
          <p:nvPr/>
        </p:nvSpPr>
        <p:spPr>
          <a:xfrm>
            <a:off x="685795" y="914400"/>
            <a:ext cx="2377448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96" name="Oval 3"/>
          <p:cNvSpPr/>
          <p:nvPr/>
        </p:nvSpPr>
        <p:spPr>
          <a:xfrm>
            <a:off x="658368" y="88696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Oval 4"/>
          <p:cNvSpPr/>
          <p:nvPr/>
        </p:nvSpPr>
        <p:spPr>
          <a:xfrm>
            <a:off x="1450847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8" name="Oval 5"/>
          <p:cNvSpPr/>
          <p:nvPr/>
        </p:nvSpPr>
        <p:spPr>
          <a:xfrm>
            <a:off x="2243327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9" name="Oval 6"/>
          <p:cNvSpPr/>
          <p:nvPr/>
        </p:nvSpPr>
        <p:spPr>
          <a:xfrm>
            <a:off x="3035805" y="88696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0" name="TextBox 7"/>
          <p:cNvSpPr txBox="1"/>
          <p:nvPr/>
        </p:nvSpPr>
        <p:spPr>
          <a:xfrm>
            <a:off x="685796" y="1280160"/>
            <a:ext cx="10607048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SPRING-MISSIONBOARD  ·  技術回顧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685796" y="1828800"/>
            <a:ext cx="10607048" cy="82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08000"/>
              </a:lnSpc>
              <a:defRPr sz="46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時間都去哪了？</a:t>
            </a:r>
          </a:p>
        </p:txBody>
      </p:sp>
      <p:sp>
        <p:nvSpPr>
          <p:cNvPr id="102" name="TextBox 9"/>
          <p:cNvSpPr txBox="1"/>
          <p:nvPr/>
        </p:nvSpPr>
        <p:spPr>
          <a:xfrm>
            <a:off x="685796" y="3063239"/>
            <a:ext cx="106070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400">
                <a:solidFill>
                  <a:srgbClr val="F5A524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 HTML 到 SaaS 雜談</a:t>
            </a:r>
          </a:p>
        </p:txBody>
      </p:sp>
      <p:sp>
        <p:nvSpPr>
          <p:cNvPr id="103" name="Connector 10"/>
          <p:cNvSpPr/>
          <p:nvPr/>
        </p:nvSpPr>
        <p:spPr>
          <a:xfrm>
            <a:off x="685794" y="4663440"/>
            <a:ext cx="4983495" cy="9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04" name="TextBox 11"/>
          <p:cNvSpPr txBox="1"/>
          <p:nvPr/>
        </p:nvSpPr>
        <p:spPr>
          <a:xfrm>
            <a:off x="685800" y="4846320"/>
            <a:ext cx="822960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4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2026-06-08 → 2026-08-10   ·   Spring-MissionBoard 及其前身專案</a:t>
            </a:r>
          </a:p>
        </p:txBody>
      </p:sp>
      <p:grpSp>
        <p:nvGrpSpPr>
          <p:cNvPr id="107" name="Rounded Rectangle 12"/>
          <p:cNvGrpSpPr/>
          <p:nvPr/>
        </p:nvGrpSpPr>
        <p:grpSpPr>
          <a:xfrm>
            <a:off x="685788" y="6126470"/>
            <a:ext cx="2999253" cy="310916"/>
            <a:chOff x="-1" y="0"/>
            <a:chExt cx="2999251" cy="310915"/>
          </a:xfrm>
        </p:grpSpPr>
        <p:sp>
          <p:nvSpPr>
            <p:cNvPr id="105" name="圓角矩形"/>
            <p:cNvSpPr/>
            <p:nvPr/>
          </p:nvSpPr>
          <p:spPr>
            <a:xfrm>
              <a:off x="-2" y="-1"/>
              <a:ext cx="2999253" cy="31091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6" name="personal project"/>
            <p:cNvSpPr txBox="1"/>
            <p:nvPr/>
          </p:nvSpPr>
          <p:spPr>
            <a:xfrm>
              <a:off x="820417" y="72900"/>
              <a:ext cx="135840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22D3EE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personal project</a:t>
              </a:r>
            </a:p>
          </p:txBody>
        </p:sp>
      </p:grpSp>
      <p:sp>
        <p:nvSpPr>
          <p:cNvPr id="108" name="Rectangle 107"/>
          <p:cNvSpPr/>
          <p:nvPr/>
        </p:nvSpPr>
        <p:spPr>
          <a:xfrm>
            <a:off x="8778240" y="1371599"/>
            <a:ext cx="2194568" cy="91449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Rectangle 108"/>
          <p:cNvSpPr/>
          <p:nvPr/>
        </p:nvSpPr>
        <p:spPr>
          <a:xfrm>
            <a:off x="8778240" y="4846320"/>
            <a:ext cx="2194568" cy="9144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0" name="Isosceles Triangle 109"/>
          <p:cNvSpPr/>
          <p:nvPr/>
        </p:nvSpPr>
        <p:spPr>
          <a:xfrm rot="10800000">
            <a:off x="8961118" y="1463037"/>
            <a:ext cx="1828802" cy="1691644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Isosceles Triangle 110"/>
          <p:cNvSpPr/>
          <p:nvPr/>
        </p:nvSpPr>
        <p:spPr>
          <a:xfrm>
            <a:off x="8961118" y="3154677"/>
            <a:ext cx="1828805" cy="1691647"/>
          </a:xfrm>
          <a:prstGeom prst="triangle">
            <a:avLst/>
          </a:prstGeom>
          <a:ln w="285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Oval 111"/>
          <p:cNvSpPr/>
          <p:nvPr/>
        </p:nvSpPr>
        <p:spPr>
          <a:xfrm>
            <a:off x="9464040" y="4462271"/>
            <a:ext cx="822969" cy="384063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Oval 112"/>
          <p:cNvSpPr/>
          <p:nvPr/>
        </p:nvSpPr>
        <p:spPr>
          <a:xfrm>
            <a:off x="9674352" y="2971799"/>
            <a:ext cx="402351" cy="14631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Rectangle 113"/>
          <p:cNvSpPr/>
          <p:nvPr/>
        </p:nvSpPr>
        <p:spPr>
          <a:xfrm>
            <a:off x="9861804" y="3099816"/>
            <a:ext cx="27435" cy="10973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Connector 114"/>
          <p:cNvSpPr/>
          <p:nvPr/>
        </p:nvSpPr>
        <p:spPr>
          <a:xfrm>
            <a:off x="8503918" y="5486400"/>
            <a:ext cx="822968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16" name="Oval 115"/>
          <p:cNvSpPr/>
          <p:nvPr/>
        </p:nvSpPr>
        <p:spPr>
          <a:xfrm>
            <a:off x="8476488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Oval 116"/>
          <p:cNvSpPr/>
          <p:nvPr/>
        </p:nvSpPr>
        <p:spPr>
          <a:xfrm>
            <a:off x="8887968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Oval 117"/>
          <p:cNvSpPr/>
          <p:nvPr/>
        </p:nvSpPr>
        <p:spPr>
          <a:xfrm>
            <a:off x="9299447" y="5458967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118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這也要兩個月？！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 txBox="1"/>
          <p:nvPr/>
        </p:nvSpPr>
        <p:spPr>
          <a:xfrm>
            <a:off x="685800" y="640080"/>
            <a:ext cx="10807659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DISCLAIMER</a:t>
            </a:r>
          </a:p>
        </p:txBody>
      </p:sp>
      <p:sp>
        <p:nvSpPr>
          <p:cNvPr id="122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這份簡報的所有內容，都是我個人興趣開發</a:t>
            </a:r>
          </a:p>
        </p:txBody>
      </p:sp>
      <p:sp>
        <p:nvSpPr>
          <p:cNvPr id="123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Oval 7"/>
          <p:cNvSpPr/>
          <p:nvPr/>
        </p:nvSpPr>
        <p:spPr>
          <a:xfrm>
            <a:off x="685800" y="2121404"/>
            <a:ext cx="310896" cy="310919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8"/>
          <p:cNvSpPr txBox="1"/>
          <p:nvPr/>
        </p:nvSpPr>
        <p:spPr>
          <a:xfrm>
            <a:off x="685800" y="2175255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9" name="TextBox 9"/>
          <p:cNvSpPr txBox="1"/>
          <p:nvPr/>
        </p:nvSpPr>
        <p:spPr>
          <a:xfrm>
            <a:off x="1188719" y="2130549"/>
            <a:ext cx="10304741" cy="54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以下介紹之專案（WbsScaff、Spring-WbsScaff、Spring-TaskFlow、Spring-MissionBoard），均為個人興趣開發，非公司指派或授權之專案</a:t>
            </a:r>
          </a:p>
        </p:txBody>
      </p:sp>
      <p:sp>
        <p:nvSpPr>
          <p:cNvPr id="130" name="Oval 10"/>
          <p:cNvSpPr/>
          <p:nvPr/>
        </p:nvSpPr>
        <p:spPr>
          <a:xfrm>
            <a:off x="685800" y="2834638"/>
            <a:ext cx="310896" cy="310921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TextBox 11"/>
          <p:cNvSpPr txBox="1"/>
          <p:nvPr/>
        </p:nvSpPr>
        <p:spPr>
          <a:xfrm>
            <a:off x="685800" y="2888487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2" name="TextBox 12"/>
          <p:cNvSpPr txBox="1"/>
          <p:nvPr/>
        </p:nvSpPr>
        <p:spPr>
          <a:xfrm>
            <a:off x="1188719" y="2843783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使用之時間與設備均屬個人所有，與現職工作內容無關，亦不代表任何官方立場或部門決策</a:t>
            </a:r>
          </a:p>
        </p:txBody>
      </p:sp>
      <p:sp>
        <p:nvSpPr>
          <p:cNvPr id="133" name="Oval 13"/>
          <p:cNvSpPr/>
          <p:nvPr/>
        </p:nvSpPr>
        <p:spPr>
          <a:xfrm>
            <a:off x="685800" y="3547871"/>
            <a:ext cx="310896" cy="310921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4" name="TextBox 14"/>
          <p:cNvSpPr txBox="1"/>
          <p:nvPr/>
        </p:nvSpPr>
        <p:spPr>
          <a:xfrm>
            <a:off x="685800" y="3601718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5" name="TextBox 15"/>
          <p:cNvSpPr txBox="1"/>
          <p:nvPr/>
        </p:nvSpPr>
        <p:spPr>
          <a:xfrm>
            <a:off x="1188719" y="3557015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目前均為個人技術驗證，未經正式上線審查，畫面所示資安、權限設計均為模擬情境，非真實系統</a:t>
            </a:r>
          </a:p>
        </p:txBody>
      </p:sp>
      <p:sp>
        <p:nvSpPr>
          <p:cNvPr id="136" name="Oval 16"/>
          <p:cNvSpPr/>
          <p:nvPr/>
        </p:nvSpPr>
        <p:spPr>
          <a:xfrm>
            <a:off x="685800" y="4261103"/>
            <a:ext cx="310896" cy="310921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TextBox 17"/>
          <p:cNvSpPr txBox="1"/>
          <p:nvPr/>
        </p:nvSpPr>
        <p:spPr>
          <a:xfrm>
            <a:off x="685800" y="4314950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8" name="TextBox 18"/>
          <p:cNvSpPr txBox="1"/>
          <p:nvPr/>
        </p:nvSpPr>
        <p:spPr>
          <a:xfrm>
            <a:off x="1188719" y="4270247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本次僅為開發心得分享交流，非提案亦非報告</a:t>
            </a:r>
          </a:p>
        </p:txBody>
      </p:sp>
      <p:sp>
        <p:nvSpPr>
          <p:cNvPr id="139" name="Oval 19"/>
          <p:cNvSpPr/>
          <p:nvPr/>
        </p:nvSpPr>
        <p:spPr>
          <a:xfrm>
            <a:off x="685800" y="4974335"/>
            <a:ext cx="310896" cy="310921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TextBox 20"/>
          <p:cNvSpPr txBox="1"/>
          <p:nvPr/>
        </p:nvSpPr>
        <p:spPr>
          <a:xfrm>
            <a:off x="685800" y="5028183"/>
            <a:ext cx="310896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1" name="TextBox 21"/>
          <p:cNvSpPr txBox="1"/>
          <p:nvPr/>
        </p:nvSpPr>
        <p:spPr>
          <a:xfrm>
            <a:off x="1188719" y="4983479"/>
            <a:ext cx="1030474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若因本簡報內容引發贊助衝動，歡迎抖內支持一位假日還在寫 code 的 AP 工程師</a:t>
            </a:r>
          </a:p>
        </p:txBody>
      </p:sp>
      <p:sp>
        <p:nvSpPr>
          <p:cNvPr id="142" name="Hexagon 140"/>
          <p:cNvSpPr/>
          <p:nvPr/>
        </p:nvSpPr>
        <p:spPr>
          <a:xfrm>
            <a:off x="9098280" y="5349240"/>
            <a:ext cx="1005846" cy="10058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5400" y="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5400" y="21600"/>
                </a:lnTo>
                <a:close/>
              </a:path>
            </a:pathLst>
          </a:custGeom>
          <a:ln w="2222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3" name="Moon 141"/>
          <p:cNvSpPr/>
          <p:nvPr/>
        </p:nvSpPr>
        <p:spPr>
          <a:xfrm>
            <a:off x="9381742" y="5614415"/>
            <a:ext cx="438919" cy="43891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9671" y="21600"/>
                  <a:pt x="0" y="16765"/>
                  <a:pt x="0" y="10800"/>
                </a:cubicBezTo>
                <a:cubicBezTo>
                  <a:pt x="0" y="4835"/>
                  <a:pt x="9671" y="0"/>
                  <a:pt x="21600" y="0"/>
                </a:cubicBezTo>
                <a:cubicBezTo>
                  <a:pt x="9671" y="4474"/>
                  <a:pt x="7253" y="12935"/>
                  <a:pt x="16200" y="18900"/>
                </a:cubicBezTo>
                <a:cubicBezTo>
                  <a:pt x="17735" y="19923"/>
                  <a:pt x="19553" y="20832"/>
                  <a:pt x="21600" y="21600"/>
                </a:cubicBezTo>
                <a:close/>
              </a:path>
            </a:pathLst>
          </a:cu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4" name="Connector 142"/>
          <p:cNvSpPr/>
          <p:nvPr/>
        </p:nvSpPr>
        <p:spPr>
          <a:xfrm>
            <a:off x="9052559" y="6464808"/>
            <a:ext cx="1097287" cy="7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45" name="Oval 143"/>
          <p:cNvSpPr/>
          <p:nvPr/>
        </p:nvSpPr>
        <p:spPr>
          <a:xfrm>
            <a:off x="9025128" y="64373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146" name="Oval 144"/>
          <p:cNvSpPr/>
          <p:nvPr/>
        </p:nvSpPr>
        <p:spPr>
          <a:xfrm>
            <a:off x="10122406" y="64373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grpSp>
        <p:nvGrpSpPr>
          <p:cNvPr id="149" name="Rounded Rectangle 145"/>
          <p:cNvGrpSpPr/>
          <p:nvPr/>
        </p:nvGrpSpPr>
        <p:grpSpPr>
          <a:xfrm>
            <a:off x="8412480" y="6647688"/>
            <a:ext cx="2468894" cy="274334"/>
            <a:chOff x="0" y="0"/>
            <a:chExt cx="2468892" cy="274333"/>
          </a:xfrm>
        </p:grpSpPr>
        <p:sp>
          <p:nvSpPr>
            <p:cNvPr id="147" name="圓角矩形"/>
            <p:cNvSpPr/>
            <p:nvPr/>
          </p:nvSpPr>
          <p:spPr>
            <a:xfrm>
              <a:off x="0" y="-1"/>
              <a:ext cx="2468893" cy="274335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148" name="OFF DUTY · PERSONAL"/>
            <p:cNvSpPr txBox="1"/>
            <p:nvPr/>
          </p:nvSpPr>
          <p:spPr>
            <a:xfrm>
              <a:off x="501715" y="67310"/>
              <a:ext cx="1465449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OFF DUTY · PERSONAL</a:t>
              </a:r>
            </a:p>
          </p:txBody>
        </p:sp>
      </p:grpSp>
      <p:sp>
        <p:nvSpPr>
          <p:cNvPr id="150" name="TextBox 146"/>
          <p:cNvSpPr txBox="1"/>
          <p:nvPr/>
        </p:nvSpPr>
        <p:spPr>
          <a:xfrm>
            <a:off x="685800" y="6355079"/>
            <a:ext cx="502920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認真的免責聲明，笑死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起點</a:t>
            </a:r>
          </a:p>
        </p:txBody>
      </p:sp>
      <p:sp>
        <p:nvSpPr>
          <p:cNvPr id="153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一切的起點：會議都在等文件</a:t>
            </a:r>
          </a:p>
        </p:txBody>
      </p:sp>
      <p:sp>
        <p:nvSpPr>
          <p:cNvPr id="154" name="Connector 3"/>
          <p:cNvSpPr/>
          <p:nvPr/>
        </p:nvSpPr>
        <p:spPr>
          <a:xfrm>
            <a:off x="685795" y="1664205"/>
            <a:ext cx="822969" cy="9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5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6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Rectangle 7"/>
          <p:cNvSpPr/>
          <p:nvPr/>
        </p:nvSpPr>
        <p:spPr>
          <a:xfrm>
            <a:off x="685798" y="2212848"/>
            <a:ext cx="100594" cy="10059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8"/>
          <p:cNvSpPr txBox="1"/>
          <p:nvPr/>
        </p:nvSpPr>
        <p:spPr>
          <a:xfrm>
            <a:off x="978405" y="212140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身為一個 AP，開發本身不是最花時間的，最花時間的是每次開會都要重新對一次文件，格式不對齊、資訊分散</a:t>
            </a:r>
          </a:p>
        </p:txBody>
      </p:sp>
      <p:sp>
        <p:nvSpPr>
          <p:cNvPr id="160" name="Rectangle 9"/>
          <p:cNvSpPr/>
          <p:nvPr/>
        </p:nvSpPr>
        <p:spPr>
          <a:xfrm>
            <a:off x="685798" y="2638679"/>
            <a:ext cx="100594" cy="10059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1" name="TextBox 10"/>
          <p:cNvSpPr txBox="1"/>
          <p:nvPr/>
        </p:nvSpPr>
        <p:spPr>
          <a:xfrm>
            <a:off x="978405" y="2547239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換算一下：每週簡報，一人約 2MB，500 人一週約 1,000MB；一年 52 週下來，約 52,000MB（≈52GB）在四處流通、重複對稿</a:t>
            </a:r>
          </a:p>
        </p:txBody>
      </p:sp>
      <p:sp>
        <p:nvSpPr>
          <p:cNvPr id="162" name="Rectangle 11"/>
          <p:cNvSpPr/>
          <p:nvPr/>
        </p:nvSpPr>
        <p:spPr>
          <a:xfrm>
            <a:off x="685798" y="3344035"/>
            <a:ext cx="100594" cy="10059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3" name="TextBox 12"/>
          <p:cNvSpPr txBox="1"/>
          <p:nvPr/>
        </p:nvSpPr>
        <p:spPr>
          <a:xfrm>
            <a:off x="978405" y="325259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其實心裡一直有個嚮往：想親手做出一套真正跑在雲端、大家連上去就能一起用的 SaaS 系統，不只是寫寫離線小工具</a:t>
            </a:r>
          </a:p>
        </p:txBody>
      </p:sp>
      <p:sp>
        <p:nvSpPr>
          <p:cNvPr id="164" name="Rectangle 13"/>
          <p:cNvSpPr/>
          <p:nvPr/>
        </p:nvSpPr>
        <p:spPr>
          <a:xfrm>
            <a:off x="685798" y="4049393"/>
            <a:ext cx="100594" cy="10059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14"/>
          <p:cNvSpPr txBox="1"/>
          <p:nvPr/>
        </p:nvSpPr>
        <p:spPr>
          <a:xfrm>
            <a:off x="978405" y="3957954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想法很單純：能不能用 AI 幫忙，把「做文件、對文件」這件事變輕鬆一點？</a:t>
            </a:r>
          </a:p>
        </p:txBody>
      </p:sp>
      <p:sp>
        <p:nvSpPr>
          <p:cNvPr id="166" name="Rectangle 15"/>
          <p:cNvSpPr/>
          <p:nvPr/>
        </p:nvSpPr>
        <p:spPr>
          <a:xfrm>
            <a:off x="685798" y="4475224"/>
            <a:ext cx="100594" cy="100593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7" name="TextBox 16"/>
          <p:cNvSpPr txBox="1"/>
          <p:nvPr/>
        </p:nvSpPr>
        <p:spPr>
          <a:xfrm>
            <a:off x="978405" y="4383785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所以就動手做了 Spring-MissionBoard</a:t>
            </a:r>
          </a:p>
        </p:txBody>
      </p:sp>
      <p:sp>
        <p:nvSpPr>
          <p:cNvPr id="168" name="Rounded Rectangle 146"/>
          <p:cNvSpPr/>
          <p:nvPr/>
        </p:nvSpPr>
        <p:spPr>
          <a:xfrm rot="21120000">
            <a:off x="822960" y="5303520"/>
            <a:ext cx="566936" cy="731528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147"/>
          <p:cNvSpPr/>
          <p:nvPr/>
        </p:nvSpPr>
        <p:spPr>
          <a:xfrm>
            <a:off x="914400" y="5449823"/>
            <a:ext cx="384048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Rectangle 148"/>
          <p:cNvSpPr/>
          <p:nvPr/>
        </p:nvSpPr>
        <p:spPr>
          <a:xfrm>
            <a:off x="914400" y="5596128"/>
            <a:ext cx="384048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Rectangle 149"/>
          <p:cNvSpPr/>
          <p:nvPr/>
        </p:nvSpPr>
        <p:spPr>
          <a:xfrm>
            <a:off x="914400" y="5742432"/>
            <a:ext cx="384048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2" name="Rounded Rectangle 150"/>
          <p:cNvSpPr/>
          <p:nvPr/>
        </p:nvSpPr>
        <p:spPr>
          <a:xfrm rot="300000">
            <a:off x="1600200" y="5120640"/>
            <a:ext cx="566928" cy="731528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Rectangle 151"/>
          <p:cNvSpPr/>
          <p:nvPr/>
        </p:nvSpPr>
        <p:spPr>
          <a:xfrm>
            <a:off x="1691638" y="5266944"/>
            <a:ext cx="384056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Rectangle 152"/>
          <p:cNvSpPr/>
          <p:nvPr/>
        </p:nvSpPr>
        <p:spPr>
          <a:xfrm>
            <a:off x="1691638" y="5413247"/>
            <a:ext cx="384056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Rectangle 153"/>
          <p:cNvSpPr/>
          <p:nvPr/>
        </p:nvSpPr>
        <p:spPr>
          <a:xfrm>
            <a:off x="1691638" y="5559552"/>
            <a:ext cx="384056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ounded Rectangle 154"/>
          <p:cNvSpPr/>
          <p:nvPr/>
        </p:nvSpPr>
        <p:spPr>
          <a:xfrm rot="21360000">
            <a:off x="2331720" y="5349240"/>
            <a:ext cx="566936" cy="731528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Rectangle 155"/>
          <p:cNvSpPr/>
          <p:nvPr/>
        </p:nvSpPr>
        <p:spPr>
          <a:xfrm>
            <a:off x="2423160" y="5495544"/>
            <a:ext cx="384056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8" name="Rectangle 156"/>
          <p:cNvSpPr/>
          <p:nvPr/>
        </p:nvSpPr>
        <p:spPr>
          <a:xfrm>
            <a:off x="2423160" y="5641847"/>
            <a:ext cx="384056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9" name="Rectangle 157"/>
          <p:cNvSpPr/>
          <p:nvPr/>
        </p:nvSpPr>
        <p:spPr>
          <a:xfrm>
            <a:off x="2423160" y="5788152"/>
            <a:ext cx="384056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Rounded Rectangle 158"/>
          <p:cNvSpPr/>
          <p:nvPr/>
        </p:nvSpPr>
        <p:spPr>
          <a:xfrm rot="420000">
            <a:off x="3108960" y="5074920"/>
            <a:ext cx="566936" cy="731528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Rectangle 159"/>
          <p:cNvSpPr/>
          <p:nvPr/>
        </p:nvSpPr>
        <p:spPr>
          <a:xfrm>
            <a:off x="3200400" y="5221223"/>
            <a:ext cx="384048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Rectangle 160"/>
          <p:cNvSpPr/>
          <p:nvPr/>
        </p:nvSpPr>
        <p:spPr>
          <a:xfrm>
            <a:off x="3200400" y="5367528"/>
            <a:ext cx="384048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Rectangle 161"/>
          <p:cNvSpPr/>
          <p:nvPr/>
        </p:nvSpPr>
        <p:spPr>
          <a:xfrm>
            <a:off x="3200400" y="5513832"/>
            <a:ext cx="384048" cy="41156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4" name="Chevron 162"/>
          <p:cNvSpPr/>
          <p:nvPr/>
        </p:nvSpPr>
        <p:spPr>
          <a:xfrm>
            <a:off x="4206240" y="5349240"/>
            <a:ext cx="502928" cy="365768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Chevron 163"/>
          <p:cNvSpPr/>
          <p:nvPr/>
        </p:nvSpPr>
        <p:spPr>
          <a:xfrm>
            <a:off x="4892040" y="5349240"/>
            <a:ext cx="502928" cy="365768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6" name="Chevron 164"/>
          <p:cNvSpPr/>
          <p:nvPr/>
        </p:nvSpPr>
        <p:spPr>
          <a:xfrm>
            <a:off x="5577840" y="5349240"/>
            <a:ext cx="502928" cy="365768"/>
          </a:xfrm>
          <a:prstGeom prst="chevron">
            <a:avLst>
              <a:gd name="adj" fmla="val 50000"/>
            </a:avLst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9" name="Cloud 165"/>
          <p:cNvGrpSpPr/>
          <p:nvPr/>
        </p:nvGrpSpPr>
        <p:grpSpPr>
          <a:xfrm>
            <a:off x="6399134" y="5033521"/>
            <a:ext cx="2380912" cy="1374472"/>
            <a:chOff x="50" y="-15"/>
            <a:chExt cx="2380911" cy="1374471"/>
          </a:xfrm>
        </p:grpSpPr>
        <p:sp>
          <p:nvSpPr>
            <p:cNvPr id="187" name="形狀"/>
            <p:cNvSpPr/>
            <p:nvPr/>
          </p:nvSpPr>
          <p:spPr>
            <a:xfrm>
              <a:off x="50" y="-16"/>
              <a:ext cx="2380913" cy="137447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fill="norm" stroke="1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8" name="形狀"/>
            <p:cNvSpPr/>
            <p:nvPr/>
          </p:nvSpPr>
          <p:spPr>
            <a:xfrm>
              <a:off x="120581" y="69969"/>
              <a:ext cx="2181429" cy="11668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190" name="Oval 166"/>
          <p:cNvSpPr/>
          <p:nvPr/>
        </p:nvSpPr>
        <p:spPr>
          <a:xfrm>
            <a:off x="7525511" y="5650991"/>
            <a:ext cx="128029" cy="128029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1" name="TextBox 167"/>
          <p:cNvSpPr txBox="1"/>
          <p:nvPr/>
        </p:nvSpPr>
        <p:spPr>
          <a:xfrm>
            <a:off x="6400800" y="6473952"/>
            <a:ext cx="237744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300">
                <a:solidFill>
                  <a:srgbClr val="7DE3F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SaaS</a:t>
            </a:r>
          </a:p>
        </p:txBody>
      </p:sp>
      <p:sp>
        <p:nvSpPr>
          <p:cNvPr id="192" name="TextBox 189"/>
          <p:cNvSpPr txBox="1"/>
          <p:nvPr/>
        </p:nvSpPr>
        <p:spPr>
          <a:xfrm>
            <a:off x="8961118" y="6428232"/>
            <a:ext cx="251460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52GB 真的不是我瞎掰的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先講一下 SAAS</a:t>
            </a:r>
          </a:p>
        </p:txBody>
      </p:sp>
      <p:sp>
        <p:nvSpPr>
          <p:cNvPr id="195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不用自己裝，開瀏覽器就能用</a:t>
            </a:r>
          </a:p>
        </p:txBody>
      </p:sp>
      <p:sp>
        <p:nvSpPr>
          <p:cNvPr id="196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東西放在同一個地方，大家連上去看到的都是同一份、也都是最新的</a:t>
            </a:r>
          </a:p>
        </p:txBody>
      </p:sp>
      <p:sp>
        <p:nvSpPr>
          <p:cNvPr id="197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8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0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1" name="Rectangle 8"/>
          <p:cNvSpPr/>
          <p:nvPr/>
        </p:nvSpPr>
        <p:spPr>
          <a:xfrm>
            <a:off x="685798" y="2414016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2" name="TextBox 9"/>
          <p:cNvSpPr txBox="1"/>
          <p:nvPr/>
        </p:nvSpPr>
        <p:spPr>
          <a:xfrm>
            <a:off x="978405" y="2322576"/>
            <a:ext cx="10515057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開會前要人工合併，常常對到不一樣的版本　→　不用互傳檔案，也不用問「哪一份才是最新的」</a:t>
            </a:r>
          </a:p>
        </p:txBody>
      </p:sp>
      <p:sp>
        <p:nvSpPr>
          <p:cNvPr id="203" name="Rectangle 10"/>
          <p:cNvSpPr/>
          <p:nvPr/>
        </p:nvSpPr>
        <p:spPr>
          <a:xfrm>
            <a:off x="685790" y="2848989"/>
            <a:ext cx="4946651" cy="35975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4" name="Rectangle 11"/>
          <p:cNvSpPr/>
          <p:nvPr/>
        </p:nvSpPr>
        <p:spPr>
          <a:xfrm>
            <a:off x="685790" y="2848991"/>
            <a:ext cx="4946651" cy="384061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5" name="TextBox 12"/>
          <p:cNvSpPr txBox="1"/>
          <p:nvPr/>
        </p:nvSpPr>
        <p:spPr>
          <a:xfrm>
            <a:off x="685790" y="2926713"/>
            <a:ext cx="494665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以前 · 各自一份檔案</a:t>
            </a:r>
          </a:p>
        </p:txBody>
      </p:sp>
      <p:sp>
        <p:nvSpPr>
          <p:cNvPr id="206" name="Rectangle 13"/>
          <p:cNvSpPr/>
          <p:nvPr/>
        </p:nvSpPr>
        <p:spPr>
          <a:xfrm>
            <a:off x="6546828" y="2848989"/>
            <a:ext cx="4946643" cy="3597536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7" name="Rectangle 14"/>
          <p:cNvSpPr/>
          <p:nvPr/>
        </p:nvSpPr>
        <p:spPr>
          <a:xfrm>
            <a:off x="6546828" y="2848991"/>
            <a:ext cx="4946643" cy="38406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8" name="TextBox 15"/>
          <p:cNvSpPr txBox="1"/>
          <p:nvPr/>
        </p:nvSpPr>
        <p:spPr>
          <a:xfrm>
            <a:off x="6546828" y="2926713"/>
            <a:ext cx="494664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連到同一個地方</a:t>
            </a:r>
          </a:p>
        </p:txBody>
      </p:sp>
      <p:sp>
        <p:nvSpPr>
          <p:cNvPr id="209" name="Connector 16"/>
          <p:cNvSpPr/>
          <p:nvPr/>
        </p:nvSpPr>
        <p:spPr>
          <a:xfrm>
            <a:off x="5742156" y="4647755"/>
            <a:ext cx="694957" cy="13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Isosceles Triangle 17"/>
          <p:cNvSpPr/>
          <p:nvPr/>
        </p:nvSpPr>
        <p:spPr>
          <a:xfrm rot="5400000">
            <a:off x="6290787" y="4556310"/>
            <a:ext cx="182900" cy="182893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1" name="TextBox 207"/>
          <p:cNvSpPr txBox="1"/>
          <p:nvPr/>
        </p:nvSpPr>
        <p:spPr>
          <a:xfrm>
            <a:off x="6675118" y="6537959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終於要進入正題了</a:t>
            </a:r>
          </a:p>
        </p:txBody>
      </p:sp>
      <p:sp>
        <p:nvSpPr>
          <p:cNvPr id="212" name="Rounded Rectangle 211"/>
          <p:cNvSpPr/>
          <p:nvPr/>
        </p:nvSpPr>
        <p:spPr>
          <a:xfrm rot="21120000">
            <a:off x="1417319" y="4160520"/>
            <a:ext cx="868681" cy="1097286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12"/>
          <p:cNvSpPr/>
          <p:nvPr/>
        </p:nvSpPr>
        <p:spPr>
          <a:xfrm>
            <a:off x="1554480" y="4416552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4" name="Rectangle 213"/>
          <p:cNvSpPr/>
          <p:nvPr/>
        </p:nvSpPr>
        <p:spPr>
          <a:xfrm>
            <a:off x="1554480" y="4599432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5" name="Rectangle 214"/>
          <p:cNvSpPr/>
          <p:nvPr/>
        </p:nvSpPr>
        <p:spPr>
          <a:xfrm>
            <a:off x="1554480" y="4782310"/>
            <a:ext cx="594365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6" name="Rounded Rectangle 215"/>
          <p:cNvSpPr/>
          <p:nvPr/>
        </p:nvSpPr>
        <p:spPr>
          <a:xfrm rot="300000">
            <a:off x="2606038" y="3794759"/>
            <a:ext cx="868682" cy="1097286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7" name="Rectangle 216"/>
          <p:cNvSpPr/>
          <p:nvPr/>
        </p:nvSpPr>
        <p:spPr>
          <a:xfrm>
            <a:off x="2743200" y="4050791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Rectangle 217"/>
          <p:cNvSpPr/>
          <p:nvPr/>
        </p:nvSpPr>
        <p:spPr>
          <a:xfrm>
            <a:off x="2743200" y="4233671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Rectangle 218"/>
          <p:cNvSpPr/>
          <p:nvPr/>
        </p:nvSpPr>
        <p:spPr>
          <a:xfrm>
            <a:off x="2743200" y="4416552"/>
            <a:ext cx="594360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Rounded Rectangle 219"/>
          <p:cNvSpPr/>
          <p:nvPr/>
        </p:nvSpPr>
        <p:spPr>
          <a:xfrm rot="21300000">
            <a:off x="3794759" y="4206240"/>
            <a:ext cx="868686" cy="1097286"/>
          </a:xfrm>
          <a:prstGeom prst="roundRect">
            <a:avLst>
              <a:gd name="adj" fmla="val 10000"/>
            </a:avLst>
          </a:prstGeom>
          <a:solidFill>
            <a:srgbClr val="F7F8FC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Rectangle 220"/>
          <p:cNvSpPr/>
          <p:nvPr/>
        </p:nvSpPr>
        <p:spPr>
          <a:xfrm>
            <a:off x="3931920" y="4462271"/>
            <a:ext cx="594366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Rectangle 221"/>
          <p:cNvSpPr/>
          <p:nvPr/>
        </p:nvSpPr>
        <p:spPr>
          <a:xfrm>
            <a:off x="3931920" y="4645152"/>
            <a:ext cx="594366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3" name="Rectangle 222"/>
          <p:cNvSpPr/>
          <p:nvPr/>
        </p:nvSpPr>
        <p:spPr>
          <a:xfrm>
            <a:off x="3931920" y="4828032"/>
            <a:ext cx="594366" cy="54870"/>
          </a:xfrm>
          <a:prstGeom prst="rect">
            <a:avLst/>
          </a:prstGeom>
          <a:solidFill>
            <a:srgbClr val="E2E5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Oval 223"/>
          <p:cNvSpPr/>
          <p:nvPr/>
        </p:nvSpPr>
        <p:spPr>
          <a:xfrm>
            <a:off x="7278623" y="3529584"/>
            <a:ext cx="164603" cy="164603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Connector 224"/>
          <p:cNvSpPr/>
          <p:nvPr/>
        </p:nvSpPr>
        <p:spPr>
          <a:xfrm>
            <a:off x="7360918" y="3694176"/>
            <a:ext cx="1659636" cy="740670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Oval 225"/>
          <p:cNvSpPr/>
          <p:nvPr/>
        </p:nvSpPr>
        <p:spPr>
          <a:xfrm>
            <a:off x="8938259" y="3529584"/>
            <a:ext cx="164603" cy="164603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7" name="Connector 226"/>
          <p:cNvSpPr/>
          <p:nvPr/>
        </p:nvSpPr>
        <p:spPr>
          <a:xfrm>
            <a:off x="9020556" y="3694176"/>
            <a:ext cx="6" cy="740670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8" name="Oval 227"/>
          <p:cNvSpPr/>
          <p:nvPr/>
        </p:nvSpPr>
        <p:spPr>
          <a:xfrm>
            <a:off x="10597894" y="3529584"/>
            <a:ext cx="164603" cy="164603"/>
          </a:xfrm>
          <a:prstGeom prst="ellipse">
            <a:avLst/>
          </a:prstGeom>
          <a:solidFill>
            <a:srgbClr val="7DE3F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Connector 228"/>
          <p:cNvSpPr/>
          <p:nvPr/>
        </p:nvSpPr>
        <p:spPr>
          <a:xfrm flipH="1">
            <a:off x="9020558" y="3694176"/>
            <a:ext cx="1659636" cy="740670"/>
          </a:xfrm>
          <a:prstGeom prst="line">
            <a:avLst/>
          </a:prstGeom>
          <a:ln w="15875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32" name="Cloud 229"/>
          <p:cNvGrpSpPr/>
          <p:nvPr/>
        </p:nvGrpSpPr>
        <p:grpSpPr>
          <a:xfrm>
            <a:off x="7953718" y="4438757"/>
            <a:ext cx="2106116" cy="1236972"/>
            <a:chOff x="44" y="-13"/>
            <a:chExt cx="2106114" cy="1236971"/>
          </a:xfrm>
        </p:grpSpPr>
        <p:sp>
          <p:nvSpPr>
            <p:cNvPr id="230" name="形狀"/>
            <p:cNvSpPr/>
            <p:nvPr/>
          </p:nvSpPr>
          <p:spPr>
            <a:xfrm>
              <a:off x="44" y="-14"/>
              <a:ext cx="2106116" cy="1236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879" h="20684" fill="norm" stroke="1" extrusionOk="0">
                  <a:moveTo>
                    <a:pt x="1901" y="6800"/>
                  </a:moveTo>
                  <a:cubicBezTo>
                    <a:pt x="1658" y="4397"/>
                    <a:pt x="2907" y="2184"/>
                    <a:pt x="4691" y="1857"/>
                  </a:cubicBezTo>
                  <a:cubicBezTo>
                    <a:pt x="5414" y="1724"/>
                    <a:pt x="6149" y="1922"/>
                    <a:pt x="6778" y="2419"/>
                  </a:cubicBezTo>
                  <a:cubicBezTo>
                    <a:pt x="7445" y="725"/>
                    <a:pt x="9003" y="82"/>
                    <a:pt x="10259" y="981"/>
                  </a:cubicBezTo>
                  <a:cubicBezTo>
                    <a:pt x="10478" y="1139"/>
                    <a:pt x="10680" y="1338"/>
                    <a:pt x="10857" y="1573"/>
                  </a:cubicBezTo>
                  <a:cubicBezTo>
                    <a:pt x="11377" y="169"/>
                    <a:pt x="12642" y="-401"/>
                    <a:pt x="13683" y="299"/>
                  </a:cubicBezTo>
                  <a:cubicBezTo>
                    <a:pt x="13971" y="493"/>
                    <a:pt x="14223" y="774"/>
                    <a:pt x="14418" y="1119"/>
                  </a:cubicBezTo>
                  <a:cubicBezTo>
                    <a:pt x="15255" y="-209"/>
                    <a:pt x="16734" y="-373"/>
                    <a:pt x="17722" y="753"/>
                  </a:cubicBezTo>
                  <a:cubicBezTo>
                    <a:pt x="18137" y="1226"/>
                    <a:pt x="18417" y="1878"/>
                    <a:pt x="18513" y="2598"/>
                  </a:cubicBezTo>
                  <a:cubicBezTo>
                    <a:pt x="19885" y="3102"/>
                    <a:pt x="20694" y="5013"/>
                    <a:pt x="20321" y="6865"/>
                  </a:cubicBezTo>
                  <a:cubicBezTo>
                    <a:pt x="20289" y="7020"/>
                    <a:pt x="20250" y="7173"/>
                    <a:pt x="20203" y="7321"/>
                  </a:cubicBezTo>
                  <a:cubicBezTo>
                    <a:pt x="21303" y="9251"/>
                    <a:pt x="21034" y="12017"/>
                    <a:pt x="19601" y="13499"/>
                  </a:cubicBezTo>
                  <a:cubicBezTo>
                    <a:pt x="19156" y="13961"/>
                    <a:pt x="18629" y="14259"/>
                    <a:pt x="18072" y="14367"/>
                  </a:cubicBezTo>
                  <a:cubicBezTo>
                    <a:pt x="18072" y="16443"/>
                    <a:pt x="16822" y="18126"/>
                    <a:pt x="15280" y="18126"/>
                  </a:cubicBezTo>
                  <a:cubicBezTo>
                    <a:pt x="14757" y="18126"/>
                    <a:pt x="14245" y="17928"/>
                    <a:pt x="13801" y="17556"/>
                  </a:cubicBezTo>
                  <a:cubicBezTo>
                    <a:pt x="13280" y="19883"/>
                    <a:pt x="11460" y="21199"/>
                    <a:pt x="9738" y="20494"/>
                  </a:cubicBezTo>
                  <a:cubicBezTo>
                    <a:pt x="9016" y="20199"/>
                    <a:pt x="8392" y="19574"/>
                    <a:pt x="7973" y="18727"/>
                  </a:cubicBezTo>
                  <a:cubicBezTo>
                    <a:pt x="6209" y="20160"/>
                    <a:pt x="3920" y="19389"/>
                    <a:pt x="2859" y="17004"/>
                  </a:cubicBezTo>
                  <a:cubicBezTo>
                    <a:pt x="2846" y="16974"/>
                    <a:pt x="2833" y="16944"/>
                    <a:pt x="2820" y="16914"/>
                  </a:cubicBezTo>
                  <a:cubicBezTo>
                    <a:pt x="1666" y="17096"/>
                    <a:pt x="620" y="15986"/>
                    <a:pt x="485" y="14435"/>
                  </a:cubicBezTo>
                  <a:cubicBezTo>
                    <a:pt x="412" y="13608"/>
                    <a:pt x="615" y="12780"/>
                    <a:pt x="1038" y="12172"/>
                  </a:cubicBezTo>
                  <a:cubicBezTo>
                    <a:pt x="39" y="11379"/>
                    <a:pt x="-297" y="9639"/>
                    <a:pt x="288" y="8285"/>
                  </a:cubicBezTo>
                  <a:cubicBezTo>
                    <a:pt x="626" y="7504"/>
                    <a:pt x="1218" y="6988"/>
                    <a:pt x="1883" y="6895"/>
                  </a:cubicBezTo>
                  <a:close/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1" name="形狀"/>
            <p:cNvSpPr/>
            <p:nvPr/>
          </p:nvSpPr>
          <p:spPr>
            <a:xfrm>
              <a:off x="106757" y="62943"/>
              <a:ext cx="1929725" cy="10501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05" y="12890"/>
                    <a:pt x="19193" y="14504"/>
                    <a:pt x="19193" y="16273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8575" cap="flat">
              <a:solidFill>
                <a:srgbClr val="22D3EE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233" name="Oval 230"/>
          <p:cNvSpPr/>
          <p:nvPr/>
        </p:nvSpPr>
        <p:spPr>
          <a:xfrm>
            <a:off x="8933687" y="4978908"/>
            <a:ext cx="146315" cy="146315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系統定位</a:t>
            </a:r>
          </a:p>
        </p:txBody>
      </p:sp>
      <p:sp>
        <p:nvSpPr>
          <p:cNvPr id="236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沒想過一次到位，是一步步走過來的</a:t>
            </a:r>
          </a:p>
        </p:txBody>
      </p:sp>
      <p:sp>
        <p:nvSpPr>
          <p:cNvPr id="237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8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1" name="Rectangle 7"/>
          <p:cNvSpPr/>
          <p:nvPr/>
        </p:nvSpPr>
        <p:spPr>
          <a:xfrm>
            <a:off x="685798" y="221284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先從一支單一 HTML 檔開始，一個人就能做完，快速驗證想法可不可行，不做過度設計</a:t>
            </a:r>
          </a:p>
        </p:txBody>
      </p:sp>
      <p:sp>
        <p:nvSpPr>
          <p:cNvPr id="243" name="Rectangle 9"/>
          <p:cNvSpPr/>
          <p:nvPr/>
        </p:nvSpPr>
        <p:spPr>
          <a:xfrm>
            <a:off x="685798" y="2665727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確定方向對了，才往剛剛講的那種「大家連同一個地方」的系統走</a:t>
            </a:r>
          </a:p>
        </p:txBody>
      </p:sp>
      <p:sp>
        <p:nvSpPr>
          <p:cNvPr id="245" name="Rectangle 11"/>
          <p:cNvSpPr/>
          <p:nvPr/>
        </p:nvSpPr>
        <p:spPr>
          <a:xfrm>
            <a:off x="685798" y="3118610"/>
            <a:ext cx="100598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6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過程就是做出來、自己用用看，好用的留下、不好用的直接砍掉</a:t>
            </a:r>
          </a:p>
        </p:txBody>
      </p:sp>
      <p:sp>
        <p:nvSpPr>
          <p:cNvPr id="247" name="TextBox 220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聽起來很有計畫，其實邊做邊砍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開發歷程</a:t>
            </a:r>
          </a:p>
        </p:txBody>
      </p:sp>
      <p:sp>
        <p:nvSpPr>
          <p:cNvPr id="250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四個階段，一條時間軸</a:t>
            </a:r>
          </a:p>
        </p:txBody>
      </p:sp>
      <p:sp>
        <p:nvSpPr>
          <p:cNvPr id="251" name="Connector 3"/>
          <p:cNvSpPr/>
          <p:nvPr/>
        </p:nvSpPr>
        <p:spPr>
          <a:xfrm>
            <a:off x="685795" y="1527047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Oval 4"/>
          <p:cNvSpPr/>
          <p:nvPr/>
        </p:nvSpPr>
        <p:spPr>
          <a:xfrm>
            <a:off x="658368" y="149961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Oval 5"/>
          <p:cNvSpPr/>
          <p:nvPr/>
        </p:nvSpPr>
        <p:spPr>
          <a:xfrm>
            <a:off x="106984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4" name="Oval 6"/>
          <p:cNvSpPr/>
          <p:nvPr/>
        </p:nvSpPr>
        <p:spPr>
          <a:xfrm>
            <a:off x="1481327" y="149961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5" name="Connector 7"/>
          <p:cNvSpPr/>
          <p:nvPr/>
        </p:nvSpPr>
        <p:spPr>
          <a:xfrm>
            <a:off x="685792" y="2606038"/>
            <a:ext cx="10807674" cy="13"/>
          </a:xfrm>
          <a:prstGeom prst="line">
            <a:avLst/>
          </a:prstGeom>
          <a:ln w="254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6" name="Oval 8"/>
          <p:cNvSpPr/>
          <p:nvPr/>
        </p:nvSpPr>
        <p:spPr>
          <a:xfrm>
            <a:off x="1954458" y="2523744"/>
            <a:ext cx="164617" cy="16461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7" name="TextBox 9"/>
          <p:cNvSpPr txBox="1"/>
          <p:nvPr/>
        </p:nvSpPr>
        <p:spPr>
          <a:xfrm>
            <a:off x="685800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06-08 → 06-19</a:t>
            </a:r>
          </a:p>
        </p:txBody>
      </p:sp>
      <p:sp>
        <p:nvSpPr>
          <p:cNvPr id="258" name="Rectangle 10"/>
          <p:cNvSpPr/>
          <p:nvPr/>
        </p:nvSpPr>
        <p:spPr>
          <a:xfrm>
            <a:off x="795528" y="2926075"/>
            <a:ext cx="2482458" cy="320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9" name="Rectangle 11"/>
          <p:cNvSpPr/>
          <p:nvPr/>
        </p:nvSpPr>
        <p:spPr>
          <a:xfrm>
            <a:off x="795528" y="2926077"/>
            <a:ext cx="2482458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TextBox 12"/>
          <p:cNvSpPr txBox="1"/>
          <p:nvPr/>
        </p:nvSpPr>
        <p:spPr>
          <a:xfrm>
            <a:off x="941832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</a:t>
            </a:r>
          </a:p>
        </p:txBody>
      </p:sp>
      <p:sp>
        <p:nvSpPr>
          <p:cNvPr id="261" name="TextBox 13"/>
          <p:cNvSpPr txBox="1"/>
          <p:nvPr/>
        </p:nvSpPr>
        <p:spPr>
          <a:xfrm>
            <a:off x="941832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單檔 HTML WBS 工具，氣隙環境，無伺服器</a:t>
            </a:r>
          </a:p>
        </p:txBody>
      </p:sp>
      <p:sp>
        <p:nvSpPr>
          <p:cNvPr id="262" name="TextBox 14"/>
          <p:cNvSpPr txBox="1"/>
          <p:nvPr/>
        </p:nvSpPr>
        <p:spPr>
          <a:xfrm>
            <a:off x="941832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38 commits · 6 檔 · 0.9MB</a:t>
            </a:r>
          </a:p>
        </p:txBody>
      </p:sp>
      <p:grpSp>
        <p:nvGrpSpPr>
          <p:cNvPr id="265" name="Rounded Rectangle 15"/>
          <p:cNvGrpSpPr/>
          <p:nvPr/>
        </p:nvGrpSpPr>
        <p:grpSpPr>
          <a:xfrm>
            <a:off x="941817" y="5705837"/>
            <a:ext cx="1517938" cy="310926"/>
            <a:chOff x="-1" y="0"/>
            <a:chExt cx="1517936" cy="310924"/>
          </a:xfrm>
        </p:grpSpPr>
        <p:sp>
          <p:nvSpPr>
            <p:cNvPr id="263" name="圓角矩形"/>
            <p:cNvSpPr/>
            <p:nvPr/>
          </p:nvSpPr>
          <p:spPr>
            <a:xfrm>
              <a:off x="-2" y="-1"/>
              <a:ext cx="1517938" cy="310925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4" name="耗時 11 天"/>
            <p:cNvSpPr txBox="1"/>
            <p:nvPr/>
          </p:nvSpPr>
          <p:spPr>
            <a:xfrm>
              <a:off x="409188" y="66551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11 天</a:t>
              </a:r>
            </a:p>
          </p:txBody>
        </p:sp>
      </p:grpSp>
      <p:sp>
        <p:nvSpPr>
          <p:cNvPr id="266" name="Oval 16"/>
          <p:cNvSpPr/>
          <p:nvPr/>
        </p:nvSpPr>
        <p:spPr>
          <a:xfrm>
            <a:off x="4656375" y="2523744"/>
            <a:ext cx="164617" cy="16461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7" name="TextBox 17"/>
          <p:cNvSpPr txBox="1"/>
          <p:nvPr/>
        </p:nvSpPr>
        <p:spPr>
          <a:xfrm>
            <a:off x="3387714" y="2103120"/>
            <a:ext cx="2701927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06-19 → 07-03</a:t>
            </a:r>
          </a:p>
        </p:txBody>
      </p:sp>
      <p:sp>
        <p:nvSpPr>
          <p:cNvPr id="268" name="Rectangle 18"/>
          <p:cNvSpPr/>
          <p:nvPr/>
        </p:nvSpPr>
        <p:spPr>
          <a:xfrm>
            <a:off x="3497441" y="2926075"/>
            <a:ext cx="2482471" cy="320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9" name="Rectangle 19"/>
          <p:cNvSpPr/>
          <p:nvPr/>
        </p:nvSpPr>
        <p:spPr>
          <a:xfrm>
            <a:off x="3497441" y="2926077"/>
            <a:ext cx="2482471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0" name="TextBox 20"/>
          <p:cNvSpPr txBox="1"/>
          <p:nvPr/>
        </p:nvSpPr>
        <p:spPr>
          <a:xfrm>
            <a:off x="3643745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</a:t>
            </a:r>
          </a:p>
        </p:txBody>
      </p:sp>
      <p:sp>
        <p:nvSpPr>
          <p:cNvPr id="271" name="TextBox 21"/>
          <p:cNvSpPr txBox="1"/>
          <p:nvPr/>
        </p:nvSpPr>
        <p:spPr>
          <a:xfrm>
            <a:off x="3643745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搬上 Web，多人即時協作、部門權限</a:t>
            </a:r>
          </a:p>
        </p:txBody>
      </p:sp>
      <p:sp>
        <p:nvSpPr>
          <p:cNvPr id="272" name="TextBox 22"/>
          <p:cNvSpPr txBox="1"/>
          <p:nvPr/>
        </p:nvSpPr>
        <p:spPr>
          <a:xfrm>
            <a:off x="3643745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97 commits · 152 檔 · 6.9MB</a:t>
            </a:r>
          </a:p>
        </p:txBody>
      </p:sp>
      <p:grpSp>
        <p:nvGrpSpPr>
          <p:cNvPr id="275" name="Rounded Rectangle 23"/>
          <p:cNvGrpSpPr/>
          <p:nvPr/>
        </p:nvGrpSpPr>
        <p:grpSpPr>
          <a:xfrm>
            <a:off x="3643728" y="5705837"/>
            <a:ext cx="1517938" cy="310926"/>
            <a:chOff x="-1" y="0"/>
            <a:chExt cx="1517936" cy="310924"/>
          </a:xfrm>
        </p:grpSpPr>
        <p:sp>
          <p:nvSpPr>
            <p:cNvPr id="273" name="圓角矩形"/>
            <p:cNvSpPr/>
            <p:nvPr/>
          </p:nvSpPr>
          <p:spPr>
            <a:xfrm>
              <a:off x="-2" y="-1"/>
              <a:ext cx="1517938" cy="310925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4" name="耗時 14 天"/>
            <p:cNvSpPr txBox="1"/>
            <p:nvPr/>
          </p:nvSpPr>
          <p:spPr>
            <a:xfrm>
              <a:off x="409188" y="66551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14 天</a:t>
              </a:r>
            </a:p>
          </p:txBody>
        </p:sp>
      </p:grpSp>
      <p:sp>
        <p:nvSpPr>
          <p:cNvPr id="276" name="Oval 24"/>
          <p:cNvSpPr/>
          <p:nvPr/>
        </p:nvSpPr>
        <p:spPr>
          <a:xfrm>
            <a:off x="7358288" y="2523744"/>
            <a:ext cx="164617" cy="16461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7" name="TextBox 25"/>
          <p:cNvSpPr txBox="1"/>
          <p:nvPr/>
        </p:nvSpPr>
        <p:spPr>
          <a:xfrm>
            <a:off x="6089629" y="2103120"/>
            <a:ext cx="2701927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07-03 → 07-08</a:t>
            </a:r>
          </a:p>
        </p:txBody>
      </p:sp>
      <p:sp>
        <p:nvSpPr>
          <p:cNvPr id="278" name="Rectangle 26"/>
          <p:cNvSpPr/>
          <p:nvPr/>
        </p:nvSpPr>
        <p:spPr>
          <a:xfrm>
            <a:off x="6199356" y="2926075"/>
            <a:ext cx="2482460" cy="320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9" name="Rectangle 27"/>
          <p:cNvSpPr/>
          <p:nvPr/>
        </p:nvSpPr>
        <p:spPr>
          <a:xfrm>
            <a:off x="6199356" y="2926077"/>
            <a:ext cx="248246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0" name="TextBox 28"/>
          <p:cNvSpPr txBox="1"/>
          <p:nvPr/>
        </p:nvSpPr>
        <p:spPr>
          <a:xfrm>
            <a:off x="6345661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</a:t>
            </a:r>
          </a:p>
        </p:txBody>
      </p:sp>
      <p:sp>
        <p:nvSpPr>
          <p:cNvPr id="281" name="TextBox 29"/>
          <p:cNvSpPr txBox="1"/>
          <p:nvPr/>
        </p:nvSpPr>
        <p:spPr>
          <a:xfrm>
            <a:off x="6345661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拆出獨立看板系統，核心從樹狀改拖曳卡片</a:t>
            </a:r>
          </a:p>
        </p:txBody>
      </p:sp>
      <p:sp>
        <p:nvSpPr>
          <p:cNvPr id="282" name="TextBox 30"/>
          <p:cNvSpPr txBox="1"/>
          <p:nvPr/>
        </p:nvSpPr>
        <p:spPr>
          <a:xfrm>
            <a:off x="6345661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32 commits · 115 檔 · 2.0MB</a:t>
            </a:r>
          </a:p>
        </p:txBody>
      </p:sp>
      <p:grpSp>
        <p:nvGrpSpPr>
          <p:cNvPr id="285" name="Rounded Rectangle 31"/>
          <p:cNvGrpSpPr/>
          <p:nvPr/>
        </p:nvGrpSpPr>
        <p:grpSpPr>
          <a:xfrm>
            <a:off x="6345644" y="5705837"/>
            <a:ext cx="1353349" cy="310926"/>
            <a:chOff x="-1" y="0"/>
            <a:chExt cx="1353347" cy="310924"/>
          </a:xfrm>
        </p:grpSpPr>
        <p:sp>
          <p:nvSpPr>
            <p:cNvPr id="283" name="圓角矩形"/>
            <p:cNvSpPr/>
            <p:nvPr/>
          </p:nvSpPr>
          <p:spPr>
            <a:xfrm>
              <a:off x="-2" y="-1"/>
              <a:ext cx="1353349" cy="310925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84" name="耗時 5 天"/>
            <p:cNvSpPr txBox="1"/>
            <p:nvPr/>
          </p:nvSpPr>
          <p:spPr>
            <a:xfrm>
              <a:off x="365124" y="66551"/>
              <a:ext cx="623082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5 天</a:t>
              </a:r>
            </a:p>
          </p:txBody>
        </p:sp>
      </p:grpSp>
      <p:sp>
        <p:nvSpPr>
          <p:cNvPr id="286" name="Oval 32"/>
          <p:cNvSpPr/>
          <p:nvPr/>
        </p:nvSpPr>
        <p:spPr>
          <a:xfrm>
            <a:off x="10060205" y="2523744"/>
            <a:ext cx="164617" cy="16461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TextBox 33"/>
          <p:cNvSpPr txBox="1"/>
          <p:nvPr/>
        </p:nvSpPr>
        <p:spPr>
          <a:xfrm>
            <a:off x="8791544" y="2103120"/>
            <a:ext cx="270191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1B2A6B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07-17 → 08-10</a:t>
            </a:r>
          </a:p>
        </p:txBody>
      </p:sp>
      <p:sp>
        <p:nvSpPr>
          <p:cNvPr id="288" name="Rectangle 34"/>
          <p:cNvSpPr/>
          <p:nvPr/>
        </p:nvSpPr>
        <p:spPr>
          <a:xfrm>
            <a:off x="8901272" y="2926075"/>
            <a:ext cx="2482471" cy="3200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9" name="Rectangle 35"/>
          <p:cNvSpPr/>
          <p:nvPr/>
        </p:nvSpPr>
        <p:spPr>
          <a:xfrm>
            <a:off x="8901272" y="2926077"/>
            <a:ext cx="2482471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0" name="TextBox 36"/>
          <p:cNvSpPr txBox="1"/>
          <p:nvPr/>
        </p:nvSpPr>
        <p:spPr>
          <a:xfrm>
            <a:off x="9047574" y="3108960"/>
            <a:ext cx="218985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MissionBoard</a:t>
            </a:r>
          </a:p>
        </p:txBody>
      </p:sp>
      <p:sp>
        <p:nvSpPr>
          <p:cNvPr id="291" name="TextBox 37"/>
          <p:cNvSpPr txBox="1"/>
          <p:nvPr/>
        </p:nvSpPr>
        <p:spPr>
          <a:xfrm>
            <a:off x="9047574" y="3547871"/>
            <a:ext cx="2189854" cy="474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全新 repo 合併兩者，拆掉節點模型改用任務導向</a:t>
            </a:r>
          </a:p>
        </p:txBody>
      </p:sp>
      <p:sp>
        <p:nvSpPr>
          <p:cNvPr id="292" name="TextBox 38"/>
          <p:cNvSpPr txBox="1"/>
          <p:nvPr/>
        </p:nvSpPr>
        <p:spPr>
          <a:xfrm>
            <a:off x="9047574" y="5166359"/>
            <a:ext cx="218985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5B6485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73 commits · 83 檔 · 0.49MB</a:t>
            </a:r>
          </a:p>
        </p:txBody>
      </p:sp>
      <p:grpSp>
        <p:nvGrpSpPr>
          <p:cNvPr id="295" name="Rounded Rectangle 39"/>
          <p:cNvGrpSpPr/>
          <p:nvPr/>
        </p:nvGrpSpPr>
        <p:grpSpPr>
          <a:xfrm>
            <a:off x="9047560" y="5705837"/>
            <a:ext cx="1517938" cy="310926"/>
            <a:chOff x="-1" y="0"/>
            <a:chExt cx="1517936" cy="310924"/>
          </a:xfrm>
        </p:grpSpPr>
        <p:sp>
          <p:nvSpPr>
            <p:cNvPr id="293" name="圓角矩形"/>
            <p:cNvSpPr/>
            <p:nvPr/>
          </p:nvSpPr>
          <p:spPr>
            <a:xfrm>
              <a:off x="-2" y="-1"/>
              <a:ext cx="1517938" cy="310925"/>
            </a:xfrm>
            <a:prstGeom prst="roundRect">
              <a:avLst>
                <a:gd name="adj" fmla="val 50000"/>
              </a:avLst>
            </a:prstGeom>
            <a:solidFill>
              <a:srgbClr val="F5A52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94" name="耗時 24 天"/>
            <p:cNvSpPr txBox="1"/>
            <p:nvPr/>
          </p:nvSpPr>
          <p:spPr>
            <a:xfrm>
              <a:off x="409188" y="66551"/>
              <a:ext cx="699543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耗時 24 天</a:t>
              </a:r>
            </a:p>
          </p:txBody>
        </p:sp>
      </p:grpSp>
      <p:sp>
        <p:nvSpPr>
          <p:cNvPr id="296" name="TextBox 289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兩個月排出四條命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各階段在做什麼</a:t>
            </a:r>
          </a:p>
        </p:txBody>
      </p:sp>
      <p:sp>
        <p:nvSpPr>
          <p:cNvPr id="299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同一套底子，換掉核心功能</a:t>
            </a:r>
          </a:p>
        </p:txBody>
      </p:sp>
      <p:sp>
        <p:nvSpPr>
          <p:cNvPr id="300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1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3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4" name="Rectangle 7"/>
          <p:cNvSpPr/>
          <p:nvPr/>
        </p:nvSpPr>
        <p:spPr>
          <a:xfrm>
            <a:off x="685798" y="221284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→ Spring-WbsScaff：從一支單機 HTML，變成大家連得上、資料存得住的系統</a:t>
            </a:r>
          </a:p>
        </p:txBody>
      </p:sp>
      <p:sp>
        <p:nvSpPr>
          <p:cNvPr id="306" name="Rectangle 9"/>
          <p:cNvSpPr/>
          <p:nvPr/>
        </p:nvSpPr>
        <p:spPr>
          <a:xfrm>
            <a:off x="685798" y="2972305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TextBox 10"/>
          <p:cNvSpPr txBox="1"/>
          <p:nvPr/>
        </p:nvSpPr>
        <p:spPr>
          <a:xfrm>
            <a:off x="978405" y="2880866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Spring-TaskFlow：把看板做起來，也把開發流程順出來，後面要長新東西就快很多</a:t>
            </a:r>
          </a:p>
        </p:txBody>
      </p:sp>
      <p:sp>
        <p:nvSpPr>
          <p:cNvPr id="308" name="Rectangle 11"/>
          <p:cNvSpPr/>
          <p:nvPr/>
        </p:nvSpPr>
        <p:spPr>
          <a:xfrm>
            <a:off x="685798" y="3425190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9" name="TextBox 12"/>
          <p:cNvSpPr txBox="1"/>
          <p:nvPr/>
        </p:nvSpPr>
        <p:spPr>
          <a:xfrm>
            <a:off x="978405" y="3333748"/>
            <a:ext cx="10515057" cy="664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WbsFlow → MissionBoard：想把兩套的特色合在一起時卡住了，目標互相打架，乾脆重新確立方向——任務導向</a:t>
            </a:r>
          </a:p>
        </p:txBody>
      </p:sp>
      <p:sp>
        <p:nvSpPr>
          <p:cNvPr id="310" name="TextBox 302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講得雲淡風輕，其實每次都拆掉重蓋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WBSSCAFF</a:t>
            </a:r>
          </a:p>
        </p:txBody>
      </p:sp>
      <p:sp>
        <p:nvSpPr>
          <p:cNvPr id="313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一支打開就能用的 HTML 檔</a:t>
            </a:r>
          </a:p>
        </p:txBody>
      </p:sp>
      <p:sp>
        <p:nvSpPr>
          <p:cNvPr id="314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2026-06-08 → 06-19</a:t>
            </a:r>
          </a:p>
        </p:txBody>
      </p:sp>
      <p:sp>
        <p:nvSpPr>
          <p:cNvPr id="315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6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7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8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Rectangle 8"/>
          <p:cNvSpPr/>
          <p:nvPr/>
        </p:nvSpPr>
        <p:spPr>
          <a:xfrm>
            <a:off x="685798" y="2414016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0" name="TextBox 9"/>
          <p:cNvSpPr txBox="1"/>
          <p:nvPr/>
        </p:nvSpPr>
        <p:spPr>
          <a:xfrm>
            <a:off x="978405" y="2322576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不用安裝、不用連網路，檔案傳給誰都能直接打開來用</a:t>
            </a:r>
          </a:p>
        </p:txBody>
      </p:sp>
      <p:sp>
        <p:nvSpPr>
          <p:cNvPr id="321" name="Rectangle 10"/>
          <p:cNvSpPr/>
          <p:nvPr/>
        </p:nvSpPr>
        <p:spPr>
          <a:xfrm>
            <a:off x="685798" y="2848864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2" name="TextBox 11"/>
          <p:cNvSpPr txBox="1"/>
          <p:nvPr/>
        </p:nvSpPr>
        <p:spPr>
          <a:xfrm>
            <a:off x="978405" y="275742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用樹狀結構把工作拆項目，最多五層，雙擊就能改標題，也能直接拖曳搬位置</a:t>
            </a:r>
          </a:p>
        </p:txBody>
      </p:sp>
      <p:sp>
        <p:nvSpPr>
          <p:cNvPr id="323" name="Rectangle 12"/>
          <p:cNvSpPr/>
          <p:nvPr/>
        </p:nvSpPr>
        <p:spPr>
          <a:xfrm>
            <a:off x="685798" y="3283710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TextBox 13"/>
          <p:cNvSpPr txBox="1"/>
          <p:nvPr/>
        </p:nvSpPr>
        <p:spPr>
          <a:xfrm>
            <a:off x="978405" y="3192271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上層的完成狀態由下層自動算出來，不能手動亂填——這個設計後來每一代都留著</a:t>
            </a:r>
          </a:p>
        </p:txBody>
      </p:sp>
      <p:sp>
        <p:nvSpPr>
          <p:cNvPr id="325" name="Rectangle 14"/>
          <p:cNvSpPr/>
          <p:nvPr/>
        </p:nvSpPr>
        <p:spPr>
          <a:xfrm>
            <a:off x="685798" y="3718559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6" name="TextBox 15"/>
          <p:cNvSpPr txBox="1"/>
          <p:nvPr/>
        </p:nvSpPr>
        <p:spPr>
          <a:xfrm>
            <a:off x="978405" y="362711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6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可以匯出入 Excel／CSV，銜接大家原本就在用的檔案流程</a:t>
            </a:r>
          </a:p>
        </p:txBody>
      </p:sp>
      <p:sp>
        <p:nvSpPr>
          <p:cNvPr id="327" name="Rectangle 16"/>
          <p:cNvSpPr/>
          <p:nvPr/>
        </p:nvSpPr>
        <p:spPr>
          <a:xfrm>
            <a:off x="685800" y="4153406"/>
            <a:ext cx="10807659" cy="640093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17"/>
          <p:cNvSpPr txBox="1"/>
          <p:nvPr/>
        </p:nvSpPr>
        <p:spPr>
          <a:xfrm>
            <a:off x="914393" y="4226559"/>
            <a:ext cx="2926098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這一代還留著，可以直接玩：</a:t>
            </a:r>
          </a:p>
        </p:txBody>
      </p:sp>
      <p:sp>
        <p:nvSpPr>
          <p:cNvPr id="329" name="TextBox 18"/>
          <p:cNvSpPr txBox="1"/>
          <p:nvPr/>
        </p:nvSpPr>
        <p:spPr>
          <a:xfrm>
            <a:off x="3886198" y="4226559"/>
            <a:ext cx="742438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https://lingaoscar.github.io/WbsScaff/</a:t>
            </a:r>
          </a:p>
        </p:txBody>
      </p:sp>
      <p:sp>
        <p:nvSpPr>
          <p:cNvPr id="330" name="TextBox 321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從一支 HTML 開始，敢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第一代 · 畫面</a:t>
            </a:r>
          </a:p>
        </p:txBody>
      </p:sp>
      <p:sp>
        <p:nvSpPr>
          <p:cNvPr id="33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WbsScaff：離線 WBS 樹狀編輯器</a:t>
            </a:r>
          </a:p>
        </p:txBody>
      </p:sp>
      <p:sp>
        <p:nvSpPr>
          <p:cNvPr id="334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35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7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8" name="Rectangle 7"/>
          <p:cNvSpPr/>
          <p:nvPr/>
        </p:nvSpPr>
        <p:spPr>
          <a:xfrm>
            <a:off x="2889219" y="1975103"/>
            <a:ext cx="6400822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39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944092" y="2029966"/>
            <a:ext cx="6291073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Rectangle 9"/>
          <p:cNvSpPr/>
          <p:nvPr/>
        </p:nvSpPr>
        <p:spPr>
          <a:xfrm>
            <a:off x="2889229" y="1975103"/>
            <a:ext cx="310909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1" name="Rectangle 10"/>
          <p:cNvSpPr/>
          <p:nvPr/>
        </p:nvSpPr>
        <p:spPr>
          <a:xfrm>
            <a:off x="2889229" y="1975103"/>
            <a:ext cx="54870" cy="31090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44" name="Rounded Rectangle 11"/>
          <p:cNvGrpSpPr/>
          <p:nvPr/>
        </p:nvGrpSpPr>
        <p:grpSpPr>
          <a:xfrm>
            <a:off x="2944075" y="6126463"/>
            <a:ext cx="3986814" cy="310925"/>
            <a:chOff x="0" y="-1"/>
            <a:chExt cx="3986813" cy="310924"/>
          </a:xfrm>
        </p:grpSpPr>
        <p:sp>
          <p:nvSpPr>
            <p:cNvPr id="342" name="圓角矩形"/>
            <p:cNvSpPr/>
            <p:nvPr/>
          </p:nvSpPr>
          <p:spPr>
            <a:xfrm>
              <a:off x="-1" y="-2"/>
              <a:ext cx="3986814" cy="31092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43" name="打開瀏覽器就是一支完整的工具，不用裝任何東西"/>
            <p:cNvSpPr txBox="1"/>
            <p:nvPr/>
          </p:nvSpPr>
          <p:spPr>
            <a:xfrm>
              <a:off x="310643" y="47500"/>
              <a:ext cx="3365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打開瀏覽器就是一支完整的工具，不用裝任何東西</a:t>
              </a:r>
            </a:p>
          </p:txBody>
        </p:sp>
      </p:grpSp>
      <p:sp>
        <p:nvSpPr>
          <p:cNvPr id="345" name="TextBox 335"/>
          <p:cNvSpPr txBox="1"/>
          <p:nvPr/>
        </p:nvSpPr>
        <p:spPr>
          <a:xfrm>
            <a:off x="6675118" y="6537959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陽春歸陽春，能跑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SPRING-WBSSCAFF</a:t>
            </a:r>
          </a:p>
        </p:txBody>
      </p:sp>
      <p:sp>
        <p:nvSpPr>
          <p:cNvPr id="348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搬上網路，變成大家一起用的系統</a:t>
            </a:r>
          </a:p>
        </p:txBody>
      </p:sp>
      <p:sp>
        <p:nvSpPr>
          <p:cNvPr id="349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2026-06-19 → 07-03</a:t>
            </a:r>
          </a:p>
        </p:txBody>
      </p:sp>
      <p:sp>
        <p:nvSpPr>
          <p:cNvPr id="350" name="Connector 4"/>
          <p:cNvSpPr/>
          <p:nvPr/>
        </p:nvSpPr>
        <p:spPr>
          <a:xfrm>
            <a:off x="685795" y="204825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51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2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3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4" name="Rectangle 8"/>
          <p:cNvSpPr/>
          <p:nvPr/>
        </p:nvSpPr>
        <p:spPr>
          <a:xfrm>
            <a:off x="685798" y="2596894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5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從「自己電腦上的小工具」變成「打開瀏覽器就能用、資料存在同一個地方」</a:t>
            </a:r>
          </a:p>
        </p:txBody>
      </p:sp>
      <p:sp>
        <p:nvSpPr>
          <p:cNvPr id="356" name="Rectangle 10"/>
          <p:cNvSpPr/>
          <p:nvPr/>
        </p:nvSpPr>
        <p:spPr>
          <a:xfrm>
            <a:off x="685798" y="3049777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加了登入，也把部門的界線做進去：不同科別看到的東西不一樣</a:t>
            </a:r>
          </a:p>
        </p:txBody>
      </p:sp>
      <p:sp>
        <p:nvSpPr>
          <p:cNvPr id="358" name="Rectangle 12"/>
          <p:cNvSpPr/>
          <p:nvPr/>
        </p:nvSpPr>
        <p:spPr>
          <a:xfrm>
            <a:off x="685798" y="3502659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9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多人同時編輯同一張表，別人改了什麼，畫面會即時跟著動</a:t>
            </a:r>
          </a:p>
        </p:txBody>
      </p:sp>
      <p:sp>
        <p:nvSpPr>
          <p:cNvPr id="360" name="Rectangle 14"/>
          <p:cNvSpPr/>
          <p:nvPr/>
        </p:nvSpPr>
        <p:spPr>
          <a:xfrm>
            <a:off x="685798" y="3955541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這一步是整條路上第一次真正的升級：從單機檔案變成有帳號、有資料庫的正式系統</a:t>
            </a:r>
          </a:p>
        </p:txBody>
      </p:sp>
      <p:sp>
        <p:nvSpPr>
          <p:cNvPr id="362" name="TextBox 351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多人共編，恭喜開始會壞掉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第二代 · 畫面</a:t>
            </a:r>
          </a:p>
        </p:txBody>
      </p:sp>
      <p:sp>
        <p:nvSpPr>
          <p:cNvPr id="365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Spring-WbsScaff：多人版 WBS 樹狀畫面</a:t>
            </a:r>
          </a:p>
        </p:txBody>
      </p:sp>
      <p:sp>
        <p:nvSpPr>
          <p:cNvPr id="366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67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8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9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0" name="Rectangle 7"/>
          <p:cNvSpPr/>
          <p:nvPr/>
        </p:nvSpPr>
        <p:spPr>
          <a:xfrm>
            <a:off x="4899228" y="1975103"/>
            <a:ext cx="2380814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71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954092" y="2029966"/>
            <a:ext cx="2271086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372" name="Rectangle 9"/>
          <p:cNvSpPr/>
          <p:nvPr/>
        </p:nvSpPr>
        <p:spPr>
          <a:xfrm>
            <a:off x="4899228" y="1975103"/>
            <a:ext cx="310909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Rectangle 10"/>
          <p:cNvSpPr/>
          <p:nvPr/>
        </p:nvSpPr>
        <p:spPr>
          <a:xfrm>
            <a:off x="4899228" y="1975103"/>
            <a:ext cx="54870" cy="31090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76" name="Rounded Rectangle 11"/>
          <p:cNvGrpSpPr/>
          <p:nvPr/>
        </p:nvGrpSpPr>
        <p:grpSpPr>
          <a:xfrm>
            <a:off x="4954076" y="6126463"/>
            <a:ext cx="4809774" cy="310925"/>
            <a:chOff x="-1" y="-1"/>
            <a:chExt cx="4809773" cy="310924"/>
          </a:xfrm>
        </p:grpSpPr>
        <p:sp>
          <p:nvSpPr>
            <p:cNvPr id="374" name="圓角矩形"/>
            <p:cNvSpPr/>
            <p:nvPr/>
          </p:nvSpPr>
          <p:spPr>
            <a:xfrm>
              <a:off x="-2" y="-2"/>
              <a:ext cx="4809775" cy="31092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75" name="節點內容更貼近真實場景：主機申請、防火牆開通、資安檢核"/>
            <p:cNvSpPr txBox="1"/>
            <p:nvPr/>
          </p:nvSpPr>
          <p:spPr>
            <a:xfrm>
              <a:off x="341120" y="47500"/>
              <a:ext cx="41275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節點內容更貼近真實場景：主機申請、防火牆開通、資安檢核</a:t>
              </a:r>
            </a:p>
          </p:txBody>
        </p:sp>
      </p:grpSp>
      <p:sp>
        <p:nvSpPr>
          <p:cNvPr id="377" name="TextBox 365"/>
          <p:cNvSpPr txBox="1"/>
          <p:nvPr/>
        </p:nvSpPr>
        <p:spPr>
          <a:xfrm>
            <a:off x="6675118" y="6537959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看起來正常，其實後台在燒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SPRING-TASKFLOW</a:t>
            </a:r>
          </a:p>
        </p:txBody>
      </p:sp>
      <p:sp>
        <p:nvSpPr>
          <p:cNvPr id="380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把樹狀改成看板，用拖的就好</a:t>
            </a:r>
          </a:p>
        </p:txBody>
      </p:sp>
      <p:sp>
        <p:nvSpPr>
          <p:cNvPr id="381" name="TextBox 3"/>
          <p:cNvSpPr txBox="1"/>
          <p:nvPr/>
        </p:nvSpPr>
        <p:spPr>
          <a:xfrm>
            <a:off x="685800" y="1664205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2026-07-03 → 07-08</a:t>
            </a:r>
          </a:p>
        </p:txBody>
      </p:sp>
      <p:sp>
        <p:nvSpPr>
          <p:cNvPr id="382" name="Connector 4"/>
          <p:cNvSpPr/>
          <p:nvPr/>
        </p:nvSpPr>
        <p:spPr>
          <a:xfrm>
            <a:off x="685795" y="204825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83" name="Oval 5"/>
          <p:cNvSpPr/>
          <p:nvPr/>
        </p:nvSpPr>
        <p:spPr>
          <a:xfrm>
            <a:off x="658368" y="2020822"/>
            <a:ext cx="54864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Oval 6"/>
          <p:cNvSpPr/>
          <p:nvPr/>
        </p:nvSpPr>
        <p:spPr>
          <a:xfrm>
            <a:off x="106984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5" name="Oval 7"/>
          <p:cNvSpPr/>
          <p:nvPr/>
        </p:nvSpPr>
        <p:spPr>
          <a:xfrm>
            <a:off x="1481327" y="2020822"/>
            <a:ext cx="54877" cy="54868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6" name="Rectangle 8"/>
          <p:cNvSpPr/>
          <p:nvPr/>
        </p:nvSpPr>
        <p:spPr>
          <a:xfrm>
            <a:off x="685798" y="2596894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TextBox 9"/>
          <p:cNvSpPr txBox="1"/>
          <p:nvPr/>
        </p:nvSpPr>
        <p:spPr>
          <a:xfrm>
            <a:off x="978405" y="250545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畫面換成待辦／進行中／完成三欄，工作變成一張張卡片，用拖的改狀態</a:t>
            </a:r>
          </a:p>
        </p:txBody>
      </p:sp>
      <p:sp>
        <p:nvSpPr>
          <p:cNvPr id="388" name="Rectangle 10"/>
          <p:cNvSpPr/>
          <p:nvPr/>
        </p:nvSpPr>
        <p:spPr>
          <a:xfrm>
            <a:off x="685798" y="3049777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9" name="TextBox 11"/>
          <p:cNvSpPr txBox="1"/>
          <p:nvPr/>
        </p:nvSpPr>
        <p:spPr>
          <a:xfrm>
            <a:off x="978405" y="295833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卡片可以指派給人、設優先度跟日期，一眼看得出誰手上有什麼</a:t>
            </a:r>
          </a:p>
        </p:txBody>
      </p:sp>
      <p:sp>
        <p:nvSpPr>
          <p:cNvPr id="390" name="Rectangle 12"/>
          <p:cNvSpPr/>
          <p:nvPr/>
        </p:nvSpPr>
        <p:spPr>
          <a:xfrm>
            <a:off x="685798" y="3502659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TextBox 13"/>
          <p:cNvSpPr txBox="1"/>
          <p:nvPr/>
        </p:nvSpPr>
        <p:spPr>
          <a:xfrm>
            <a:off x="978405" y="3411220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登入、部門權限、頁面外框直接沿用上一代，省下重新驗證的時間</a:t>
            </a:r>
          </a:p>
        </p:txBody>
      </p:sp>
      <p:sp>
        <p:nvSpPr>
          <p:cNvPr id="392" name="Rectangle 14"/>
          <p:cNvSpPr/>
          <p:nvPr/>
        </p:nvSpPr>
        <p:spPr>
          <a:xfrm>
            <a:off x="685798" y="3955541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3" name="TextBox 15"/>
          <p:cNvSpPr txBox="1"/>
          <p:nvPr/>
        </p:nvSpPr>
        <p:spPr>
          <a:xfrm>
            <a:off x="978405" y="3864102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做完這一步，手上同時有「樹」跟「看板」兩套東西——也就是後面想合併的起因</a:t>
            </a:r>
          </a:p>
        </p:txBody>
      </p:sp>
      <p:sp>
        <p:nvSpPr>
          <p:cNvPr id="394" name="TextBox 381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終於學會拖拖樂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第三代 · 畫面</a:t>
            </a:r>
          </a:p>
        </p:txBody>
      </p:sp>
      <p:sp>
        <p:nvSpPr>
          <p:cNvPr id="397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Spring-TaskFlow：待辦／進行中／完成三欄看板</a:t>
            </a:r>
          </a:p>
        </p:txBody>
      </p:sp>
      <p:sp>
        <p:nvSpPr>
          <p:cNvPr id="398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9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0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1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2" name="Rectangle 7"/>
          <p:cNvSpPr/>
          <p:nvPr/>
        </p:nvSpPr>
        <p:spPr>
          <a:xfrm>
            <a:off x="3176538" y="1975103"/>
            <a:ext cx="5826181" cy="4041650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403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31406" y="2029966"/>
            <a:ext cx="5716445" cy="3931924"/>
          </a:xfrm>
          <a:prstGeom prst="rect">
            <a:avLst/>
          </a:prstGeom>
          <a:ln w="12700">
            <a:miter lim="400000"/>
          </a:ln>
        </p:spPr>
      </p:pic>
      <p:sp>
        <p:nvSpPr>
          <p:cNvPr id="404" name="Rectangle 9"/>
          <p:cNvSpPr/>
          <p:nvPr/>
        </p:nvSpPr>
        <p:spPr>
          <a:xfrm>
            <a:off x="3176540" y="1975103"/>
            <a:ext cx="310909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5" name="Rectangle 10"/>
          <p:cNvSpPr/>
          <p:nvPr/>
        </p:nvSpPr>
        <p:spPr>
          <a:xfrm>
            <a:off x="3176540" y="1975103"/>
            <a:ext cx="54870" cy="31090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8" name="Rounded Rectangle 11"/>
          <p:cNvGrpSpPr/>
          <p:nvPr/>
        </p:nvGrpSpPr>
        <p:grpSpPr>
          <a:xfrm>
            <a:off x="3231389" y="6126463"/>
            <a:ext cx="5138959" cy="310925"/>
            <a:chOff x="0" y="-1"/>
            <a:chExt cx="5138958" cy="310924"/>
          </a:xfrm>
        </p:grpSpPr>
        <p:sp>
          <p:nvSpPr>
            <p:cNvPr id="406" name="圓角矩形"/>
            <p:cNvSpPr/>
            <p:nvPr/>
          </p:nvSpPr>
          <p:spPr>
            <a:xfrm>
              <a:off x="-1" y="-2"/>
              <a:ext cx="5138959" cy="31092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7" name="從「一棵樹」變成「三個欄位＋卡片」，成為最終系統的核心體驗"/>
            <p:cNvSpPr txBox="1"/>
            <p:nvPr/>
          </p:nvSpPr>
          <p:spPr>
            <a:xfrm>
              <a:off x="353314" y="47500"/>
              <a:ext cx="443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從「一棵樹」變成「三個欄位＋卡片」，成為最終系統的核心體驗</a:t>
              </a:r>
            </a:p>
          </p:txBody>
        </p:sp>
      </p:grpSp>
      <p:sp>
        <p:nvSpPr>
          <p:cNvPr id="409" name="TextBox 395"/>
          <p:cNvSpPr txBox="1"/>
          <p:nvPr/>
        </p:nvSpPr>
        <p:spPr>
          <a:xfrm>
            <a:off x="6675118" y="6537959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三欄看板，療癒系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為什麼要重構</a:t>
            </a:r>
          </a:p>
        </p:txBody>
      </p:sp>
      <p:sp>
        <p:nvSpPr>
          <p:cNvPr id="412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兩個都好用的功能，合在一起卻打架</a:t>
            </a:r>
          </a:p>
        </p:txBody>
      </p:sp>
      <p:sp>
        <p:nvSpPr>
          <p:cNvPr id="413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不是技術寫不出來，是介面跟使用體驗卡住了</a:t>
            </a:r>
          </a:p>
        </p:txBody>
      </p:sp>
      <p:sp>
        <p:nvSpPr>
          <p:cNvPr id="414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15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6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7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8" name="Rectangle 8"/>
          <p:cNvSpPr/>
          <p:nvPr/>
        </p:nvSpPr>
        <p:spPr>
          <a:xfrm>
            <a:off x="685798" y="2414016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9" name="TextBox 9"/>
          <p:cNvSpPr txBox="1"/>
          <p:nvPr/>
        </p:nvSpPr>
        <p:spPr>
          <a:xfrm>
            <a:off x="978405" y="2322576"/>
            <a:ext cx="10515057" cy="58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WbsScaff 做得好的是樹狀規劃；Spring-TaskFlow 做得好的是看板指派——WbsFlow 把兩者硬合併，結果要先搭骨架才能建任務；使用者實際要的是先建任務、事後再歸類，所以拆掉樹狀階層，任務改成天生獨立</a:t>
            </a:r>
          </a:p>
        </p:txBody>
      </p:sp>
      <p:sp>
        <p:nvSpPr>
          <p:cNvPr id="420" name="Rectangle 10"/>
          <p:cNvSpPr/>
          <p:nvPr/>
        </p:nvSpPr>
        <p:spPr>
          <a:xfrm>
            <a:off x="685790" y="3408045"/>
            <a:ext cx="4946651" cy="3038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1" name="Rectangle 11"/>
          <p:cNvSpPr/>
          <p:nvPr/>
        </p:nvSpPr>
        <p:spPr>
          <a:xfrm>
            <a:off x="685790" y="3408045"/>
            <a:ext cx="4946651" cy="384061"/>
          </a:xfrm>
          <a:prstGeom prst="rect">
            <a:avLst/>
          </a:prstGeom>
          <a:solidFill>
            <a:srgbClr val="5B648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2" name="TextBox 12"/>
          <p:cNvSpPr txBox="1"/>
          <p:nvPr/>
        </p:nvSpPr>
        <p:spPr>
          <a:xfrm>
            <a:off x="685790" y="3485769"/>
            <a:ext cx="494665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之前 · WBS 樹狀規劃</a:t>
            </a:r>
          </a:p>
        </p:txBody>
      </p:sp>
      <p:sp>
        <p:nvSpPr>
          <p:cNvPr id="423" name="Rectangle 13"/>
          <p:cNvSpPr/>
          <p:nvPr/>
        </p:nvSpPr>
        <p:spPr>
          <a:xfrm>
            <a:off x="6546828" y="3408045"/>
            <a:ext cx="4946643" cy="3038488"/>
          </a:xfrm>
          <a:prstGeom prst="rect">
            <a:avLst/>
          </a:prstGeom>
          <a:solidFill>
            <a:srgbClr val="0B1130"/>
          </a:solidFill>
          <a:ln w="15875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4" name="Rectangle 14"/>
          <p:cNvSpPr/>
          <p:nvPr/>
        </p:nvSpPr>
        <p:spPr>
          <a:xfrm>
            <a:off x="6546828" y="3408045"/>
            <a:ext cx="4946643" cy="384061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5" name="TextBox 15"/>
          <p:cNvSpPr txBox="1"/>
          <p:nvPr/>
        </p:nvSpPr>
        <p:spPr>
          <a:xfrm>
            <a:off x="6546828" y="3485769"/>
            <a:ext cx="494664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 · 任務導向看板</a:t>
            </a:r>
          </a:p>
        </p:txBody>
      </p:sp>
      <p:sp>
        <p:nvSpPr>
          <p:cNvPr id="426" name="Connector 16"/>
          <p:cNvSpPr/>
          <p:nvPr/>
        </p:nvSpPr>
        <p:spPr>
          <a:xfrm>
            <a:off x="5742156" y="4927282"/>
            <a:ext cx="694957" cy="13"/>
          </a:xfrm>
          <a:prstGeom prst="line">
            <a:avLst/>
          </a:prstGeom>
          <a:ln w="28575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27" name="Isosceles Triangle 17"/>
          <p:cNvSpPr/>
          <p:nvPr/>
        </p:nvSpPr>
        <p:spPr>
          <a:xfrm rot="5400000">
            <a:off x="6290793" y="4835836"/>
            <a:ext cx="182894" cy="182893"/>
          </a:xfrm>
          <a:prstGeom prst="triangl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428" name="Picture 18" descr="Picture 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519272" y="3956684"/>
            <a:ext cx="1279685" cy="221551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9" name="Picture 19" descr="Picture 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247732" y="3956684"/>
            <a:ext cx="3544824" cy="2215516"/>
          </a:xfrm>
          <a:prstGeom prst="rect">
            <a:avLst/>
          </a:prstGeom>
          <a:ln w="12700">
            <a:miter lim="400000"/>
          </a:ln>
        </p:spPr>
      </p:pic>
      <p:sp>
        <p:nvSpPr>
          <p:cNvPr id="430" name="TextBox 415"/>
          <p:cNvSpPr txBox="1"/>
          <p:nvPr/>
        </p:nvSpPr>
        <p:spPr>
          <a:xfrm>
            <a:off x="6675118" y="6537959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兩個都好，合起來就崩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我怎麼用 AI</a:t>
            </a:r>
          </a:p>
        </p:txBody>
      </p:sp>
      <p:sp>
        <p:nvSpPr>
          <p:cNvPr id="433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實際的做法，講給有興趣的同仁參考</a:t>
            </a:r>
          </a:p>
        </p:txBody>
      </p:sp>
      <p:sp>
        <p:nvSpPr>
          <p:cNvPr id="434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35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6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7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8" name="Rectangle 7"/>
          <p:cNvSpPr/>
          <p:nvPr/>
        </p:nvSpPr>
        <p:spPr>
          <a:xfrm>
            <a:off x="685798" y="207568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9" name="TextBox 8"/>
          <p:cNvSpPr txBox="1"/>
          <p:nvPr/>
        </p:nvSpPr>
        <p:spPr>
          <a:xfrm>
            <a:off x="978405" y="1984248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動手前，我會先讓 AI 把舊專案的程式碼讀過一遍，比我自己憑印象猜準很多</a:t>
            </a:r>
          </a:p>
        </p:txBody>
      </p:sp>
      <p:sp>
        <p:nvSpPr>
          <p:cNvPr id="440" name="Rectangle 9"/>
          <p:cNvSpPr/>
          <p:nvPr/>
        </p:nvSpPr>
        <p:spPr>
          <a:xfrm>
            <a:off x="685798" y="2428619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1" name="TextBox 10"/>
          <p:cNvSpPr txBox="1"/>
          <p:nvPr/>
        </p:nvSpPr>
        <p:spPr>
          <a:xfrm>
            <a:off x="978405" y="2337180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一個任務開一個新對話，不讓前面累積的雜訊影響判斷</a:t>
            </a:r>
          </a:p>
        </p:txBody>
      </p:sp>
      <p:sp>
        <p:nvSpPr>
          <p:cNvPr id="442" name="Rectangle 11"/>
          <p:cNvSpPr/>
          <p:nvPr/>
        </p:nvSpPr>
        <p:spPr>
          <a:xfrm>
            <a:off x="685798" y="2781554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3" name="TextBox 12"/>
          <p:cNvSpPr txBox="1"/>
          <p:nvPr/>
        </p:nvSpPr>
        <p:spPr>
          <a:xfrm>
            <a:off x="978405" y="2690114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寫的跟審的分開：同一段東西，我另外開一個 AI 來挑毛病，不讓它自己審自己</a:t>
            </a:r>
          </a:p>
        </p:txBody>
      </p:sp>
      <p:sp>
        <p:nvSpPr>
          <p:cNvPr id="444" name="Rectangle 13"/>
          <p:cNvSpPr/>
          <p:nvPr/>
        </p:nvSpPr>
        <p:spPr>
          <a:xfrm>
            <a:off x="685798" y="3134485"/>
            <a:ext cx="100598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5" name="TextBox 14"/>
          <p:cNvSpPr txBox="1"/>
          <p:nvPr/>
        </p:nvSpPr>
        <p:spPr>
          <a:xfrm>
            <a:off x="978405" y="3043046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簡單的抄寫用便宜快的，需要判斷的才換強的，額度留給真的難的地方</a:t>
            </a:r>
          </a:p>
        </p:txBody>
      </p:sp>
      <p:sp>
        <p:nvSpPr>
          <p:cNvPr id="446" name="Rectangle 15"/>
          <p:cNvSpPr/>
          <p:nvPr/>
        </p:nvSpPr>
        <p:spPr>
          <a:xfrm>
            <a:off x="685798" y="3487420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7" name="TextBox 16"/>
          <p:cNvSpPr txBox="1"/>
          <p:nvPr/>
        </p:nvSpPr>
        <p:spPr>
          <a:xfrm>
            <a:off x="978405" y="3395979"/>
            <a:ext cx="10515057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進度另外記一份檔案，對話斷掉重開，看記錄就能接著做</a:t>
            </a:r>
          </a:p>
        </p:txBody>
      </p:sp>
      <p:sp>
        <p:nvSpPr>
          <p:cNvPr id="448" name="Rectangle 17"/>
          <p:cNvSpPr/>
          <p:nvPr/>
        </p:nvSpPr>
        <p:spPr>
          <a:xfrm>
            <a:off x="685800" y="3794633"/>
            <a:ext cx="10807659" cy="566941"/>
          </a:xfrm>
          <a:prstGeom prst="rect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9" name="Rectangle 18"/>
          <p:cNvSpPr/>
          <p:nvPr/>
        </p:nvSpPr>
        <p:spPr>
          <a:xfrm>
            <a:off x="685798" y="3794633"/>
            <a:ext cx="73166" cy="566941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0" name="TextBox 19"/>
          <p:cNvSpPr txBox="1"/>
          <p:nvPr/>
        </p:nvSpPr>
        <p:spPr>
          <a:xfrm>
            <a:off x="941830" y="3963796"/>
            <a:ext cx="10350463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「不讓它自己審自己」這條，後來救回過好幾次差點出包的東西。</a:t>
            </a:r>
          </a:p>
        </p:txBody>
      </p:sp>
      <p:sp>
        <p:nvSpPr>
          <p:cNvPr id="451" name="TextBox 435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認真臉講幹話的時間到了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踩過的坑</a:t>
            </a:r>
          </a:p>
        </p:txBody>
      </p:sp>
      <p:sp>
        <p:nvSpPr>
          <p:cNvPr id="454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它說沒問題，實際不一定</a:t>
            </a:r>
          </a:p>
        </p:txBody>
      </p:sp>
      <p:sp>
        <p:nvSpPr>
          <p:cNvPr id="455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56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7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8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9" name="Rectangle 7"/>
          <p:cNvSpPr/>
          <p:nvPr/>
        </p:nvSpPr>
        <p:spPr>
          <a:xfrm>
            <a:off x="685798" y="221284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0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後來養成習慣：可疑的結論不聽解釋，直接要求重現一次給我看</a:t>
            </a:r>
          </a:p>
        </p:txBody>
      </p:sp>
      <p:sp>
        <p:nvSpPr>
          <p:cNvPr id="461" name="Rectangle 9"/>
          <p:cNvSpPr/>
          <p:nvPr/>
        </p:nvSpPr>
        <p:spPr>
          <a:xfrm>
            <a:off x="685798" y="2665727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2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兩個印象比較深的例子：</a:t>
            </a:r>
          </a:p>
        </p:txBody>
      </p:sp>
      <p:sp>
        <p:nvSpPr>
          <p:cNvPr id="463" name="TextBox 446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它嘴很硬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例子一</a:t>
            </a:r>
          </a:p>
        </p:txBody>
      </p:sp>
      <p:sp>
        <p:nvSpPr>
          <p:cNvPr id="466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一句模糊指令，兩條互斥的路線</a:t>
            </a:r>
          </a:p>
        </p:txBody>
      </p:sp>
      <p:sp>
        <p:nvSpPr>
          <p:cNvPr id="467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任務導向重構開工前，我沒有直接動手，先把分岔路口攤開來問</a:t>
            </a:r>
          </a:p>
        </p:txBody>
      </p:sp>
      <p:sp>
        <p:nvSpPr>
          <p:cNvPr id="468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69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0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1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2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3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4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75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「請繼續完成系統建制」</a:t>
            </a:r>
          </a:p>
        </p:txBody>
      </p:sp>
      <p:sp>
        <p:nvSpPr>
          <p:cNvPr id="476" name="Rectangle 12"/>
          <p:cNvSpPr/>
          <p:nvPr/>
        </p:nvSpPr>
        <p:spPr>
          <a:xfrm>
            <a:off x="685800" y="3127248"/>
            <a:ext cx="10807659" cy="1645925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7" name="Rectangle 13"/>
          <p:cNvSpPr/>
          <p:nvPr/>
        </p:nvSpPr>
        <p:spPr>
          <a:xfrm>
            <a:off x="685800" y="3127248"/>
            <a:ext cx="54864" cy="1645925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8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79" name="TextBox 15"/>
          <p:cNvSpPr txBox="1"/>
          <p:nvPr/>
        </p:nvSpPr>
        <p:spPr>
          <a:xfrm>
            <a:off x="960118" y="3511296"/>
            <a:ext cx="10259023" cy="810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「繼續完成系統建制」指的是哪個方向？兩者路線互斥（重構會移除現有樹編輯器）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① 執行任務導向重構（推薦）— 看板變預設首頁，移除舊三分頁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② 在現有 WBS 樹模型上補完 — 樹狀模型不變，把佔位符分頁做出來</a:t>
            </a:r>
          </a:p>
        </p:txBody>
      </p:sp>
      <p:sp>
        <p:nvSpPr>
          <p:cNvPr id="480" name="Rectangle 16"/>
          <p:cNvSpPr/>
          <p:nvPr/>
        </p:nvSpPr>
        <p:spPr>
          <a:xfrm>
            <a:off x="685800" y="4983479"/>
            <a:ext cx="10807659" cy="594373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1" name="TextBox 17"/>
          <p:cNvSpPr txBox="1"/>
          <p:nvPr/>
        </p:nvSpPr>
        <p:spPr>
          <a:xfrm>
            <a:off x="914400" y="5172709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482" name="TextBox 18"/>
          <p:cNvSpPr txBox="1"/>
          <p:nvPr/>
        </p:nvSpPr>
        <p:spPr>
          <a:xfrm>
            <a:off x="1737360" y="5172709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選了①，後續做出 11 個任務、73 commits，104/104 測試通過，才有現在的 MissionBoard</a:t>
            </a:r>
          </a:p>
        </p:txBody>
      </p:sp>
      <p:sp>
        <p:nvSpPr>
          <p:cNvPr id="483" name="TextBox 465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一句話拆出兩條路，血條 -1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真實對話紀錄 · 例子二</a:t>
            </a:r>
          </a:p>
        </p:txBody>
      </p:sp>
      <p:sp>
        <p:nvSpPr>
          <p:cNvPr id="486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獨立審查，抓到單一任務看不出來的問題</a:t>
            </a:r>
          </a:p>
        </p:txBody>
      </p:sp>
      <p:sp>
        <p:nvSpPr>
          <p:cNvPr id="487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11 個任務都各自過關後，另一顆最強模型做最終總體檢查</a:t>
            </a:r>
          </a:p>
        </p:txBody>
      </p:sp>
      <p:sp>
        <p:nvSpPr>
          <p:cNvPr id="488" name="Connector 4"/>
          <p:cNvSpPr/>
          <p:nvPr/>
        </p:nvSpPr>
        <p:spPr>
          <a:xfrm>
            <a:off x="685795" y="1911094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489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0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1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2" name="Rectangle 8"/>
          <p:cNvSpPr/>
          <p:nvPr/>
        </p:nvSpPr>
        <p:spPr>
          <a:xfrm>
            <a:off x="685800" y="2276855"/>
            <a:ext cx="10807659" cy="68580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3" name="Rectangle 9"/>
          <p:cNvSpPr/>
          <p:nvPr/>
        </p:nvSpPr>
        <p:spPr>
          <a:xfrm>
            <a:off x="685800" y="2276855"/>
            <a:ext cx="54864" cy="685807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4" name="TextBox 10"/>
          <p:cNvSpPr txBox="1"/>
          <p:nvPr/>
        </p:nvSpPr>
        <p:spPr>
          <a:xfrm>
            <a:off x="960119" y="2404872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你</a:t>
            </a:r>
          </a:p>
        </p:txBody>
      </p:sp>
      <p:sp>
        <p:nvSpPr>
          <p:cNvPr id="495" name="TextBox 11"/>
          <p:cNvSpPr txBox="1"/>
          <p:nvPr/>
        </p:nvSpPr>
        <p:spPr>
          <a:xfrm>
            <a:off x="960118" y="2660904"/>
            <a:ext cx="102590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（11 個任務全數完成、各自審查通過後，啟動最終總體檢查）</a:t>
            </a:r>
          </a:p>
        </p:txBody>
      </p:sp>
      <p:sp>
        <p:nvSpPr>
          <p:cNvPr id="496" name="Rectangle 12"/>
          <p:cNvSpPr/>
          <p:nvPr/>
        </p:nvSpPr>
        <p:spPr>
          <a:xfrm>
            <a:off x="685800" y="3127248"/>
            <a:ext cx="10807659" cy="1901952"/>
          </a:xfrm>
          <a:prstGeom prst="rect">
            <a:avLst/>
          </a:prstGeom>
          <a:solidFill>
            <a:srgbClr val="0B1130"/>
          </a:solidFill>
          <a:ln w="12700">
            <a:solidFill>
              <a:srgbClr val="22D3EE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7" name="Rectangle 13"/>
          <p:cNvSpPr/>
          <p:nvPr/>
        </p:nvSpPr>
        <p:spPr>
          <a:xfrm>
            <a:off x="685800" y="3127248"/>
            <a:ext cx="54864" cy="1901952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8" name="TextBox 14"/>
          <p:cNvSpPr txBox="1"/>
          <p:nvPr/>
        </p:nvSpPr>
        <p:spPr>
          <a:xfrm>
            <a:off x="960119" y="3255264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</a:t>
            </a:r>
          </a:p>
        </p:txBody>
      </p:sp>
      <p:sp>
        <p:nvSpPr>
          <p:cNvPr id="499" name="TextBox 15"/>
          <p:cNvSpPr txBox="1"/>
          <p:nvPr/>
        </p:nvSpPr>
        <p:spPr>
          <a:xfrm>
            <a:off x="960118" y="3511296"/>
            <a:ext cx="10259023" cy="734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Final review: no Critical findings, 3 Important（都是文件／測試缺口）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額外納入修正：project-detail.js 同欄向下拖曳有 off-by-one（插入位置差一格）</a:t>
            </a:r>
          </a:p>
          <a:p>
            <a:pPr>
              <a:lnSpc>
                <a:spcPct val="120000"/>
              </a:lnSpc>
              <a:defRPr sz="12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pPr>
            <a:r>
              <a:t>派一個統整 fix wave 處理全部發現，不是一個發現派一個 fixer</a:t>
            </a:r>
          </a:p>
        </p:txBody>
      </p:sp>
      <p:sp>
        <p:nvSpPr>
          <p:cNvPr id="500" name="Rectangle 16"/>
          <p:cNvSpPr/>
          <p:nvPr/>
        </p:nvSpPr>
        <p:spPr>
          <a:xfrm>
            <a:off x="685800" y="5239510"/>
            <a:ext cx="10807659" cy="594365"/>
          </a:xfrm>
          <a:prstGeom prst="rect">
            <a:avLst/>
          </a:prstGeom>
          <a:solidFill>
            <a:srgbClr val="F7F8FC"/>
          </a:solidFill>
          <a:ln w="19050">
            <a:solidFill>
              <a:srgbClr val="F5A524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1" name="TextBox 17"/>
          <p:cNvSpPr txBox="1"/>
          <p:nvPr/>
        </p:nvSpPr>
        <p:spPr>
          <a:xfrm>
            <a:off x="914400" y="5428741"/>
            <a:ext cx="9144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結果</a:t>
            </a:r>
          </a:p>
        </p:txBody>
      </p:sp>
      <p:sp>
        <p:nvSpPr>
          <p:cNvPr id="502" name="TextBox 18"/>
          <p:cNvSpPr txBox="1"/>
          <p:nvPr/>
        </p:nvSpPr>
        <p:spPr>
          <a:xfrm>
            <a:off x="1737360" y="5428741"/>
            <a:ext cx="95275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8 個發現全部修復，複查乾淨，104/104 測試通過才 commit</a:t>
            </a:r>
          </a:p>
        </p:txBody>
      </p:sp>
      <p:sp>
        <p:nvSpPr>
          <p:cNvPr id="503" name="TextBox 484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連自己都要找人來抓自己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我自己設的規矩</a:t>
            </a:r>
          </a:p>
        </p:txBody>
      </p:sp>
      <p:sp>
        <p:nvSpPr>
          <p:cNvPr id="506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怎麼確認做出來的東西真的能用</a:t>
            </a:r>
          </a:p>
        </p:txBody>
      </p:sp>
      <p:sp>
        <p:nvSpPr>
          <p:cNvPr id="507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08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9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0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1" name="Rectangle 7"/>
          <p:cNvSpPr/>
          <p:nvPr/>
        </p:nvSpPr>
        <p:spPr>
          <a:xfrm>
            <a:off x="685798" y="221284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2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有畫面的功能，一定要截圖給我看，不接受只說「已完成」</a:t>
            </a:r>
          </a:p>
        </p:txBody>
      </p:sp>
      <p:sp>
        <p:nvSpPr>
          <p:cNvPr id="513" name="Rectangle 9"/>
          <p:cNvSpPr/>
          <p:nvPr/>
        </p:nvSpPr>
        <p:spPr>
          <a:xfrm>
            <a:off x="685798" y="2665727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4" name="TextBox 10"/>
          <p:cNvSpPr txBox="1"/>
          <p:nvPr/>
        </p:nvSpPr>
        <p:spPr>
          <a:xfrm>
            <a:off x="978405" y="257428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要推上遠端，一律要我親自點頭才行，AI 不能自己決定</a:t>
            </a:r>
          </a:p>
        </p:txBody>
      </p:sp>
      <p:sp>
        <p:nvSpPr>
          <p:cNvPr id="515" name="Rectangle 11"/>
          <p:cNvSpPr/>
          <p:nvPr/>
        </p:nvSpPr>
        <p:spPr>
          <a:xfrm>
            <a:off x="685798" y="3118610"/>
            <a:ext cx="100598" cy="100598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6" name="TextBox 12"/>
          <p:cNvSpPr txBox="1"/>
          <p:nvPr/>
        </p:nvSpPr>
        <p:spPr>
          <a:xfrm>
            <a:off x="978405" y="3027171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測試沒過就是還沒做完，沒有例外</a:t>
            </a:r>
          </a:p>
        </p:txBody>
      </p:sp>
      <p:sp>
        <p:nvSpPr>
          <p:cNvPr id="517" name="TextBox 497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條條都是血淚換來的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TextBox 1"/>
          <p:cNvSpPr txBox="1"/>
          <p:nvPr/>
        </p:nvSpPr>
        <p:spPr>
          <a:xfrm>
            <a:off x="685800" y="5029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開發流程</a:t>
            </a:r>
          </a:p>
        </p:txBody>
      </p:sp>
      <p:sp>
        <p:nvSpPr>
          <p:cNvPr id="520" name="TextBox 2"/>
          <p:cNvSpPr txBox="1"/>
          <p:nvPr/>
        </p:nvSpPr>
        <p:spPr>
          <a:xfrm>
            <a:off x="685800" y="868680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每個功能都走一樣的四步驟</a:t>
            </a:r>
          </a:p>
        </p:txBody>
      </p:sp>
      <p:sp>
        <p:nvSpPr>
          <p:cNvPr id="521" name="TextBox 3"/>
          <p:cNvSpPr txBox="1"/>
          <p:nvPr/>
        </p:nvSpPr>
        <p:spPr>
          <a:xfrm>
            <a:off x="685800" y="1527047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不只寫程式，分析、測試、文件也是流程裡固定要做的一步，不是事後才想到</a:t>
            </a:r>
          </a:p>
        </p:txBody>
      </p:sp>
      <p:sp>
        <p:nvSpPr>
          <p:cNvPr id="522" name="Connector 4"/>
          <p:cNvSpPr/>
          <p:nvPr/>
        </p:nvSpPr>
        <p:spPr>
          <a:xfrm>
            <a:off x="685795" y="1911094"/>
            <a:ext cx="822969" cy="11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23" name="Oval 5"/>
          <p:cNvSpPr/>
          <p:nvPr/>
        </p:nvSpPr>
        <p:spPr>
          <a:xfrm>
            <a:off x="658368" y="1883664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24" name="Oval 6"/>
          <p:cNvSpPr/>
          <p:nvPr/>
        </p:nvSpPr>
        <p:spPr>
          <a:xfrm>
            <a:off x="106984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25" name="Oval 7"/>
          <p:cNvSpPr/>
          <p:nvPr/>
        </p:nvSpPr>
        <p:spPr>
          <a:xfrm>
            <a:off x="1481327" y="1883664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26" name="Rectangle 8"/>
          <p:cNvSpPr/>
          <p:nvPr/>
        </p:nvSpPr>
        <p:spPr>
          <a:xfrm>
            <a:off x="685800" y="2304288"/>
            <a:ext cx="10807659" cy="14173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5F0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27" name="Rectangle 9"/>
          <p:cNvSpPr/>
          <p:nvPr/>
        </p:nvSpPr>
        <p:spPr>
          <a:xfrm>
            <a:off x="685798" y="2304288"/>
            <a:ext cx="73164" cy="1417324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grpSp>
        <p:nvGrpSpPr>
          <p:cNvPr id="530" name="Rounded Rectangle 10"/>
          <p:cNvGrpSpPr/>
          <p:nvPr/>
        </p:nvGrpSpPr>
        <p:grpSpPr>
          <a:xfrm>
            <a:off x="941823" y="2468866"/>
            <a:ext cx="1051586" cy="310921"/>
            <a:chOff x="0" y="-1"/>
            <a:chExt cx="1051584" cy="310920"/>
          </a:xfrm>
        </p:grpSpPr>
        <p:sp>
          <p:nvSpPr>
            <p:cNvPr id="528" name="圓角矩形"/>
            <p:cNvSpPr/>
            <p:nvPr/>
          </p:nvSpPr>
          <p:spPr>
            <a:xfrm>
              <a:off x="-1" y="-2"/>
              <a:ext cx="1051585" cy="310922"/>
            </a:xfrm>
            <a:prstGeom prst="roundRect">
              <a:avLst>
                <a:gd name="adj" fmla="val 50000"/>
              </a:avLst>
            </a:prstGeom>
            <a:solidFill>
              <a:srgbClr val="0B11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529" name="cc-new"/>
            <p:cNvSpPr txBox="1"/>
            <p:nvPr/>
          </p:nvSpPr>
          <p:spPr>
            <a:xfrm>
              <a:off x="244177" y="66550"/>
              <a:ext cx="563216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cc-new</a:t>
              </a:r>
            </a:p>
          </p:txBody>
        </p:sp>
      </p:grpSp>
      <p:sp>
        <p:nvSpPr>
          <p:cNvPr id="531" name="TextBox 11"/>
          <p:cNvSpPr txBox="1"/>
          <p:nvPr/>
        </p:nvSpPr>
        <p:spPr>
          <a:xfrm>
            <a:off x="2148839" y="2441448"/>
            <a:ext cx="90703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每次啟動新專案／新迭代的起手式，先跑 brainstorming 定方向，再決定要不要建骨架</a:t>
            </a:r>
          </a:p>
        </p:txBody>
      </p:sp>
      <p:sp>
        <p:nvSpPr>
          <p:cNvPr id="532" name="Rectangle 12"/>
          <p:cNvSpPr/>
          <p:nvPr/>
        </p:nvSpPr>
        <p:spPr>
          <a:xfrm>
            <a:off x="941832" y="2953511"/>
            <a:ext cx="82307" cy="822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33" name="TextBox 13"/>
          <p:cNvSpPr txBox="1"/>
          <p:nvPr/>
        </p:nvSpPr>
        <p:spPr>
          <a:xfrm>
            <a:off x="1106423" y="2871216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一個指令生出三種骨架（github／godot／ios），各自帶最小可跑的範例，不是空資料夾</a:t>
            </a:r>
          </a:p>
        </p:txBody>
      </p:sp>
      <p:sp>
        <p:nvSpPr>
          <p:cNvPr id="534" name="Rectangle 14"/>
          <p:cNvSpPr/>
          <p:nvPr/>
        </p:nvSpPr>
        <p:spPr>
          <a:xfrm>
            <a:off x="941832" y="3227832"/>
            <a:ext cx="82307" cy="8230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35" name="TextBox 15"/>
          <p:cNvSpPr txBox="1"/>
          <p:nvPr/>
        </p:nvSpPr>
        <p:spPr>
          <a:xfrm>
            <a:off x="1106423" y="3145533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收工前先驗證：godot 用 headless 開一次、iOS 直接 build 模擬器，骨架跑不起來不算完成</a:t>
            </a:r>
          </a:p>
        </p:txBody>
      </p:sp>
      <p:sp>
        <p:nvSpPr>
          <p:cNvPr id="536" name="Rectangle 16"/>
          <p:cNvSpPr/>
          <p:nvPr/>
        </p:nvSpPr>
        <p:spPr>
          <a:xfrm>
            <a:off x="941832" y="3502152"/>
            <a:ext cx="82307" cy="8230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37" name="TextBox 17"/>
          <p:cNvSpPr txBox="1"/>
          <p:nvPr/>
        </p:nvSpPr>
        <p:spPr>
          <a:xfrm>
            <a:off x="1106423" y="3419854"/>
            <a:ext cx="1016758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刻意不推送：本地 commit＋建立空 private repo，推送留給新開的 session 自己決定，順便避開 push gate</a:t>
            </a:r>
          </a:p>
        </p:txBody>
      </p:sp>
      <p:sp>
        <p:nvSpPr>
          <p:cNvPr id="538" name="Oval 18"/>
          <p:cNvSpPr/>
          <p:nvPr/>
        </p:nvSpPr>
        <p:spPr>
          <a:xfrm>
            <a:off x="2729207" y="4041647"/>
            <a:ext cx="1371621" cy="1371621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39" name="TextBox 19"/>
          <p:cNvSpPr txBox="1"/>
          <p:nvPr/>
        </p:nvSpPr>
        <p:spPr>
          <a:xfrm>
            <a:off x="2729207" y="4169664"/>
            <a:ext cx="137161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540" name="TextBox 20"/>
          <p:cNvSpPr txBox="1"/>
          <p:nvPr/>
        </p:nvSpPr>
        <p:spPr>
          <a:xfrm>
            <a:off x="2729207" y="4575047"/>
            <a:ext cx="137161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分析</a:t>
            </a:r>
          </a:p>
        </p:txBody>
      </p:sp>
      <p:sp>
        <p:nvSpPr>
          <p:cNvPr id="541" name="Connector 21"/>
          <p:cNvSpPr/>
          <p:nvPr/>
        </p:nvSpPr>
        <p:spPr>
          <a:xfrm>
            <a:off x="4100807" y="4727447"/>
            <a:ext cx="411486" cy="11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2" name="Oval 22"/>
          <p:cNvSpPr/>
          <p:nvPr/>
        </p:nvSpPr>
        <p:spPr>
          <a:xfrm>
            <a:off x="4512288" y="4041647"/>
            <a:ext cx="1371621" cy="1371621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43" name="TextBox 23"/>
          <p:cNvSpPr txBox="1"/>
          <p:nvPr/>
        </p:nvSpPr>
        <p:spPr>
          <a:xfrm>
            <a:off x="4512288" y="4169664"/>
            <a:ext cx="137161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544" name="TextBox 24"/>
          <p:cNvSpPr txBox="1"/>
          <p:nvPr/>
        </p:nvSpPr>
        <p:spPr>
          <a:xfrm>
            <a:off x="4512288" y="4575047"/>
            <a:ext cx="137161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實作</a:t>
            </a:r>
          </a:p>
        </p:txBody>
      </p:sp>
      <p:sp>
        <p:nvSpPr>
          <p:cNvPr id="545" name="Connector 25"/>
          <p:cNvSpPr/>
          <p:nvPr/>
        </p:nvSpPr>
        <p:spPr>
          <a:xfrm>
            <a:off x="5883888" y="4727447"/>
            <a:ext cx="411486" cy="11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46" name="Oval 26"/>
          <p:cNvSpPr/>
          <p:nvPr/>
        </p:nvSpPr>
        <p:spPr>
          <a:xfrm>
            <a:off x="6295368" y="4041647"/>
            <a:ext cx="1371621" cy="1371621"/>
          </a:xfrm>
          <a:prstGeom prst="ellipse">
            <a:avLst/>
          </a:prstGeom>
          <a:solidFill>
            <a:srgbClr val="0B113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47" name="TextBox 27"/>
          <p:cNvSpPr txBox="1"/>
          <p:nvPr/>
        </p:nvSpPr>
        <p:spPr>
          <a:xfrm>
            <a:off x="6295368" y="4169664"/>
            <a:ext cx="137161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48" name="TextBox 28"/>
          <p:cNvSpPr txBox="1"/>
          <p:nvPr/>
        </p:nvSpPr>
        <p:spPr>
          <a:xfrm>
            <a:off x="6295368" y="4575047"/>
            <a:ext cx="137161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測試</a:t>
            </a:r>
          </a:p>
        </p:txBody>
      </p:sp>
      <p:sp>
        <p:nvSpPr>
          <p:cNvPr id="549" name="Connector 29"/>
          <p:cNvSpPr/>
          <p:nvPr/>
        </p:nvSpPr>
        <p:spPr>
          <a:xfrm>
            <a:off x="7666969" y="4727447"/>
            <a:ext cx="411486" cy="11"/>
          </a:xfrm>
          <a:prstGeom prst="line">
            <a:avLst/>
          </a:prstGeom>
          <a:ln w="25400">
            <a:solidFill>
              <a:srgbClr val="F5A52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0" name="Oval 30"/>
          <p:cNvSpPr/>
          <p:nvPr/>
        </p:nvSpPr>
        <p:spPr>
          <a:xfrm>
            <a:off x="8078447" y="4041647"/>
            <a:ext cx="1371621" cy="1371621"/>
          </a:xfrm>
          <a:prstGeom prst="ellipse">
            <a:avLst/>
          </a:prstGeom>
          <a:solidFill>
            <a:srgbClr val="1B2A6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51" name="TextBox 31"/>
          <p:cNvSpPr txBox="1"/>
          <p:nvPr/>
        </p:nvSpPr>
        <p:spPr>
          <a:xfrm>
            <a:off x="8078447" y="4169664"/>
            <a:ext cx="137161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12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552" name="TextBox 32"/>
          <p:cNvSpPr txBox="1"/>
          <p:nvPr/>
        </p:nvSpPr>
        <p:spPr>
          <a:xfrm>
            <a:off x="8078447" y="4575047"/>
            <a:ext cx="137161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文件</a:t>
            </a:r>
          </a:p>
        </p:txBody>
      </p:sp>
      <p:sp>
        <p:nvSpPr>
          <p:cNvPr id="553" name="TextBox 33"/>
          <p:cNvSpPr txBox="1"/>
          <p:nvPr/>
        </p:nvSpPr>
        <p:spPr>
          <a:xfrm>
            <a:off x="685800" y="5669279"/>
            <a:ext cx="10807659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5B6485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每一代（WbsScaff、Spring-WbsScaff、Spring-TaskFlow、MissionBoard）都走這四步，不是後來才補上的規矩</a:t>
            </a:r>
          </a:p>
        </p:txBody>
      </p:sp>
      <p:sp>
        <p:nvSpPr>
          <p:cNvPr id="554" name="TextBox 533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四步驟聽起來很潮，其實就是不想再重來一次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TextBox 1"/>
          <p:cNvSpPr txBox="1"/>
          <p:nvPr/>
        </p:nvSpPr>
        <p:spPr>
          <a:xfrm>
            <a:off x="685800" y="64008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貼合現況</a:t>
            </a:r>
          </a:p>
        </p:txBody>
      </p:sp>
      <p:sp>
        <p:nvSpPr>
          <p:cNvPr id="557" name="TextBox 2"/>
          <p:cNvSpPr txBox="1"/>
          <p:nvPr/>
        </p:nvSpPr>
        <p:spPr>
          <a:xfrm>
            <a:off x="685800" y="1005838"/>
            <a:ext cx="10807659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我把現在的工作情境搬進系統裡</a:t>
            </a:r>
          </a:p>
        </p:txBody>
      </p:sp>
      <p:sp>
        <p:nvSpPr>
          <p:cNvPr id="558" name="Connector 3"/>
          <p:cNvSpPr/>
          <p:nvPr/>
        </p:nvSpPr>
        <p:spPr>
          <a:xfrm>
            <a:off x="685795" y="1664205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59" name="Oval 4"/>
          <p:cNvSpPr/>
          <p:nvPr/>
        </p:nvSpPr>
        <p:spPr>
          <a:xfrm>
            <a:off x="658368" y="163677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0" name="Oval 5"/>
          <p:cNvSpPr/>
          <p:nvPr/>
        </p:nvSpPr>
        <p:spPr>
          <a:xfrm>
            <a:off x="106984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1" name="Oval 6"/>
          <p:cNvSpPr/>
          <p:nvPr/>
        </p:nvSpPr>
        <p:spPr>
          <a:xfrm>
            <a:off x="1481327" y="163677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2" name="Rectangle 7"/>
          <p:cNvSpPr/>
          <p:nvPr/>
        </p:nvSpPr>
        <p:spPr>
          <a:xfrm>
            <a:off x="685798" y="221284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3" name="TextBox 8"/>
          <p:cNvSpPr txBox="1"/>
          <p:nvPr/>
        </p:nvSpPr>
        <p:spPr>
          <a:xfrm>
            <a:off x="978405" y="2121405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為了貼近實際狀況，我用現在工作上真的會遇到的情境來設計：主機申請、防火牆開通、資安檢核這類項目</a:t>
            </a:r>
          </a:p>
        </p:txBody>
      </p:sp>
      <p:sp>
        <p:nvSpPr>
          <p:cNvPr id="564" name="Rectangle 9"/>
          <p:cNvSpPr/>
          <p:nvPr/>
        </p:nvSpPr>
        <p:spPr>
          <a:xfrm>
            <a:off x="685798" y="2972305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5" name="TextBox 10"/>
          <p:cNvSpPr txBox="1"/>
          <p:nvPr/>
        </p:nvSpPr>
        <p:spPr>
          <a:xfrm>
            <a:off x="978405" y="2880866"/>
            <a:ext cx="10515057" cy="6644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角色也照實際職務分：長官跨科看得到但不能改、科長科內全權、專案負責人管自己的案子、成員只看得到自己參與的</a:t>
            </a:r>
          </a:p>
        </p:txBody>
      </p:sp>
      <p:sp>
        <p:nvSpPr>
          <p:cNvPr id="566" name="Rectangle 11"/>
          <p:cNvSpPr/>
          <p:nvPr/>
        </p:nvSpPr>
        <p:spPr>
          <a:xfrm>
            <a:off x="685798" y="3731767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7" name="TextBox 12"/>
          <p:cNvSpPr txBox="1"/>
          <p:nvPr/>
        </p:nvSpPr>
        <p:spPr>
          <a:xfrm>
            <a:off x="978405" y="3640328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科別之間互相看不到，每個動作都會再確認一次「這個人有沒有資格動這筆資料」</a:t>
            </a:r>
          </a:p>
        </p:txBody>
      </p:sp>
      <p:sp>
        <p:nvSpPr>
          <p:cNvPr id="568" name="Rectangle 13"/>
          <p:cNvSpPr/>
          <p:nvPr/>
        </p:nvSpPr>
        <p:spPr>
          <a:xfrm>
            <a:off x="685798" y="418464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9" name="TextBox 14"/>
          <p:cNvSpPr txBox="1"/>
          <p:nvPr/>
        </p:nvSpPr>
        <p:spPr>
          <a:xfrm>
            <a:off x="978405" y="4093209"/>
            <a:ext cx="10515057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700">
                <a:solidFill>
                  <a:srgbClr val="10152B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權限畫得細，反而增加了協作的自由度：大家可以放心一起動同一份資料</a:t>
            </a:r>
          </a:p>
        </p:txBody>
      </p:sp>
      <p:sp>
        <p:nvSpPr>
          <p:cNvPr id="570" name="TextBox 548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連權限都設計得比某些系統嚴謹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73" name="TextBox 2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數字看整段旅程</a:t>
            </a:r>
          </a:p>
        </p:txBody>
      </p:sp>
      <p:sp>
        <p:nvSpPr>
          <p:cNvPr id="574" name="TextBox 3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兩個月，四個世代</a:t>
            </a:r>
          </a:p>
        </p:txBody>
      </p:sp>
      <p:sp>
        <p:nvSpPr>
          <p:cNvPr id="575" name="Connector 4"/>
          <p:cNvSpPr/>
          <p:nvPr/>
        </p:nvSpPr>
        <p:spPr>
          <a:xfrm>
            <a:off x="685795" y="1572766"/>
            <a:ext cx="822969" cy="1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76" name="Oval 5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77" name="Oval 6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78" name="Oval 7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</p:txBody>
      </p:sp>
      <p:sp>
        <p:nvSpPr>
          <p:cNvPr id="579" name="TextBox 8"/>
          <p:cNvSpPr txBox="1"/>
          <p:nvPr/>
        </p:nvSpPr>
        <p:spPr>
          <a:xfrm>
            <a:off x="960119" y="2468877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241</a:t>
            </a:r>
          </a:p>
        </p:txBody>
      </p:sp>
      <p:sp>
        <p:nvSpPr>
          <p:cNvPr id="580" name="TextBox 9"/>
          <p:cNvSpPr txBox="1"/>
          <p:nvPr/>
        </p:nvSpPr>
        <p:spPr>
          <a:xfrm>
            <a:off x="960119" y="3337559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總 commit 數（四個 repo 合計）</a:t>
            </a:r>
          </a:p>
        </p:txBody>
      </p:sp>
      <p:sp>
        <p:nvSpPr>
          <p:cNvPr id="581" name="Connector 10"/>
          <p:cNvSpPr/>
          <p:nvPr/>
        </p:nvSpPr>
        <p:spPr>
          <a:xfrm>
            <a:off x="4288351" y="2606037"/>
            <a:ext cx="10" cy="1325892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2" name="TextBox 11"/>
          <p:cNvSpPr txBox="1"/>
          <p:nvPr/>
        </p:nvSpPr>
        <p:spPr>
          <a:xfrm>
            <a:off x="4562671" y="2468877"/>
            <a:ext cx="305392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</a:t>
            </a:r>
          </a:p>
        </p:txBody>
      </p:sp>
      <p:sp>
        <p:nvSpPr>
          <p:cNvPr id="583" name="TextBox 12"/>
          <p:cNvSpPr txBox="1"/>
          <p:nvPr/>
        </p:nvSpPr>
        <p:spPr>
          <a:xfrm>
            <a:off x="4562671" y="3337559"/>
            <a:ext cx="305392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 md 文件（四個 repo 合計）</a:t>
            </a:r>
          </a:p>
        </p:txBody>
      </p:sp>
      <p:sp>
        <p:nvSpPr>
          <p:cNvPr id="584" name="Connector 13"/>
          <p:cNvSpPr/>
          <p:nvPr/>
        </p:nvSpPr>
        <p:spPr>
          <a:xfrm>
            <a:off x="7890905" y="2606037"/>
            <a:ext cx="10" cy="1325892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85" name="TextBox 14"/>
          <p:cNvSpPr txBox="1"/>
          <p:nvPr/>
        </p:nvSpPr>
        <p:spPr>
          <a:xfrm>
            <a:off x="8165224" y="2468877"/>
            <a:ext cx="3053923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86" name="TextBox 15"/>
          <p:cNvSpPr txBox="1"/>
          <p:nvPr/>
        </p:nvSpPr>
        <p:spPr>
          <a:xfrm>
            <a:off x="8165224" y="3337559"/>
            <a:ext cx="30539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個世代 / 階段</a:t>
            </a:r>
          </a:p>
        </p:txBody>
      </p:sp>
      <p:sp>
        <p:nvSpPr>
          <p:cNvPr id="587" name="TextBox 16"/>
          <p:cNvSpPr txBox="1"/>
          <p:nvPr/>
        </p:nvSpPr>
        <p:spPr>
          <a:xfrm>
            <a:off x="960119" y="4206240"/>
            <a:ext cx="3053915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35+</a:t>
            </a:r>
          </a:p>
        </p:txBody>
      </p:sp>
      <p:sp>
        <p:nvSpPr>
          <p:cNvPr id="588" name="TextBox 17"/>
          <p:cNvSpPr txBox="1"/>
          <p:nvPr/>
        </p:nvSpPr>
        <p:spPr>
          <a:xfrm>
            <a:off x="960119" y="5074920"/>
            <a:ext cx="305391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個拆分給 AI 做的任務</a:t>
            </a:r>
          </a:p>
        </p:txBody>
      </p:sp>
      <p:sp>
        <p:nvSpPr>
          <p:cNvPr id="589" name="Connector 18"/>
          <p:cNvSpPr/>
          <p:nvPr/>
        </p:nvSpPr>
        <p:spPr>
          <a:xfrm>
            <a:off x="4288351" y="4343398"/>
            <a:ext cx="10" cy="1325891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0" name="TextBox 19"/>
          <p:cNvSpPr txBox="1"/>
          <p:nvPr/>
        </p:nvSpPr>
        <p:spPr>
          <a:xfrm>
            <a:off x="4562671" y="4206240"/>
            <a:ext cx="305392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91" name="TextBox 20"/>
          <p:cNvSpPr txBox="1"/>
          <p:nvPr/>
        </p:nvSpPr>
        <p:spPr>
          <a:xfrm>
            <a:off x="4562671" y="5074920"/>
            <a:ext cx="3053924" cy="464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份全域 Claude 設定（CLAUDE.md／hooks／settings.json）</a:t>
            </a:r>
          </a:p>
        </p:txBody>
      </p:sp>
      <p:sp>
        <p:nvSpPr>
          <p:cNvPr id="592" name="Connector 21"/>
          <p:cNvSpPr/>
          <p:nvPr/>
        </p:nvSpPr>
        <p:spPr>
          <a:xfrm>
            <a:off x="7890905" y="4343398"/>
            <a:ext cx="10" cy="1325891"/>
          </a:xfrm>
          <a:prstGeom prst="line">
            <a:avLst/>
          </a:prstGeom>
          <a:ln w="12700">
            <a:solidFill>
              <a:srgbClr val="1B2A6B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593" name="TextBox 22"/>
          <p:cNvSpPr txBox="1"/>
          <p:nvPr/>
        </p:nvSpPr>
        <p:spPr>
          <a:xfrm>
            <a:off x="8165224" y="4206240"/>
            <a:ext cx="3053923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800">
                <a:solidFill>
                  <a:srgbClr val="F5A524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594" name="TextBox 23"/>
          <p:cNvSpPr txBox="1"/>
          <p:nvPr/>
        </p:nvSpPr>
        <p:spPr>
          <a:xfrm>
            <a:off x="8165224" y="5074920"/>
            <a:ext cx="3053923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sz="1200">
                <a:solidFill>
                  <a:srgbClr val="7DE3F0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份開發規則與 skill（guides／skills／指令）</a:t>
            </a:r>
          </a:p>
        </p:txBody>
      </p:sp>
      <p:sp>
        <p:nvSpPr>
          <p:cNvPr id="595" name="TextBox 572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241 個 commit，肝出來的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Box 1"/>
          <p:cNvSpPr txBox="1"/>
          <p:nvPr/>
        </p:nvSpPr>
        <p:spPr>
          <a:xfrm>
            <a:off x="685800" y="548640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B5CC9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系統現況</a:t>
            </a:r>
          </a:p>
        </p:txBody>
      </p:sp>
      <p:sp>
        <p:nvSpPr>
          <p:cNvPr id="598" name="TextBox 2"/>
          <p:cNvSpPr txBox="1"/>
          <p:nvPr/>
        </p:nvSpPr>
        <p:spPr>
          <a:xfrm>
            <a:off x="685800" y="914400"/>
            <a:ext cx="10807659" cy="533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000">
                <a:solidFill>
                  <a:srgbClr val="0B1130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現在的 Spring-MissionBoard</a:t>
            </a:r>
          </a:p>
        </p:txBody>
      </p:sp>
      <p:sp>
        <p:nvSpPr>
          <p:cNvPr id="599" name="Connector 3"/>
          <p:cNvSpPr/>
          <p:nvPr/>
        </p:nvSpPr>
        <p:spPr>
          <a:xfrm>
            <a:off x="685795" y="1572766"/>
            <a:ext cx="822969" cy="13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00" name="Oval 4"/>
          <p:cNvSpPr/>
          <p:nvPr/>
        </p:nvSpPr>
        <p:spPr>
          <a:xfrm>
            <a:off x="658368" y="1545336"/>
            <a:ext cx="54864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1" name="Oval 5"/>
          <p:cNvSpPr/>
          <p:nvPr/>
        </p:nvSpPr>
        <p:spPr>
          <a:xfrm>
            <a:off x="106984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2" name="Oval 6"/>
          <p:cNvSpPr/>
          <p:nvPr/>
        </p:nvSpPr>
        <p:spPr>
          <a:xfrm>
            <a:off x="1481327" y="1545336"/>
            <a:ext cx="54877" cy="54877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3" name="Rectangle 7"/>
          <p:cNvSpPr/>
          <p:nvPr/>
        </p:nvSpPr>
        <p:spPr>
          <a:xfrm>
            <a:off x="630936" y="1975103"/>
            <a:ext cx="5330677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4" name="Rectangle 9"/>
          <p:cNvSpPr/>
          <p:nvPr/>
        </p:nvSpPr>
        <p:spPr>
          <a:xfrm>
            <a:off x="630934" y="1975103"/>
            <a:ext cx="310910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5" name="Rectangle 10"/>
          <p:cNvSpPr/>
          <p:nvPr/>
        </p:nvSpPr>
        <p:spPr>
          <a:xfrm>
            <a:off x="630936" y="1975103"/>
            <a:ext cx="54870" cy="31090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608" name="Rounded Rectangle 11"/>
          <p:cNvGrpSpPr/>
          <p:nvPr/>
        </p:nvGrpSpPr>
        <p:grpSpPr>
          <a:xfrm>
            <a:off x="685789" y="5457636"/>
            <a:ext cx="1024152" cy="310925"/>
            <a:chOff x="0" y="-1"/>
            <a:chExt cx="1024151" cy="310924"/>
          </a:xfrm>
        </p:grpSpPr>
        <p:sp>
          <p:nvSpPr>
            <p:cNvPr id="606" name="圓角矩形"/>
            <p:cNvSpPr/>
            <p:nvPr/>
          </p:nvSpPr>
          <p:spPr>
            <a:xfrm>
              <a:off x="-1" y="-2"/>
              <a:ext cx="1024152" cy="31092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07" name="分類管理"/>
            <p:cNvSpPr txBox="1"/>
            <p:nvPr/>
          </p:nvSpPr>
          <p:spPr>
            <a:xfrm>
              <a:off x="169811" y="47500"/>
              <a:ext cx="68451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檢視</a:t>
              </a:r>
            </a:p>
          </p:txBody>
        </p:sp>
      </p:grpSp>
      <p:sp>
        <p:nvSpPr>
          <p:cNvPr id="609" name="Rectangle 12"/>
          <p:cNvSpPr/>
          <p:nvPr/>
        </p:nvSpPr>
        <p:spPr>
          <a:xfrm>
            <a:off x="6217644" y="1975103"/>
            <a:ext cx="5330681" cy="3372821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6B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0" name="Rectangle 14"/>
          <p:cNvSpPr/>
          <p:nvPr/>
        </p:nvSpPr>
        <p:spPr>
          <a:xfrm>
            <a:off x="6217644" y="1975103"/>
            <a:ext cx="310909" cy="5487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1" name="Rectangle 15"/>
          <p:cNvSpPr/>
          <p:nvPr/>
        </p:nvSpPr>
        <p:spPr>
          <a:xfrm>
            <a:off x="6217644" y="1975103"/>
            <a:ext cx="54870" cy="310909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614" name="Rounded Rectangle 16"/>
          <p:cNvGrpSpPr/>
          <p:nvPr/>
        </p:nvGrpSpPr>
        <p:grpSpPr>
          <a:xfrm>
            <a:off x="6272488" y="5457636"/>
            <a:ext cx="1024159" cy="310925"/>
            <a:chOff x="-1" y="-1"/>
            <a:chExt cx="1024157" cy="310924"/>
          </a:xfrm>
        </p:grpSpPr>
        <p:sp>
          <p:nvSpPr>
            <p:cNvPr id="612" name="圓角矩形"/>
            <p:cNvSpPr/>
            <p:nvPr/>
          </p:nvSpPr>
          <p:spPr>
            <a:xfrm>
              <a:off x="-2" y="-2"/>
              <a:ext cx="1024159" cy="310926"/>
            </a:xfrm>
            <a:prstGeom prst="roundRect">
              <a:avLst>
                <a:gd name="adj" fmla="val 50000"/>
              </a:avLst>
            </a:prstGeom>
            <a:solidFill>
              <a:srgbClr val="1B2A6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13" name="任務看板"/>
            <p:cNvSpPr txBox="1"/>
            <p:nvPr/>
          </p:nvSpPr>
          <p:spPr>
            <a:xfrm>
              <a:off x="200920" y="47500"/>
              <a:ext cx="622301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200">
                  <a:solidFill>
                    <a:srgbClr val="FFFFFF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任務看板</a:t>
              </a:r>
            </a:p>
          </p:txBody>
        </p:sp>
      </p:grpSp>
      <p:sp>
        <p:nvSpPr>
          <p:cNvPr id="615" name="TextBox 241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先看圖，比較不無聊</a:t>
            </a:r>
          </a:p>
        </p:txBody>
      </p:sp>
      <p:grpSp>
        <p:nvGrpSpPr>
          <p:cNvPr id="618" name="Rounded Rectangle 269"/>
          <p:cNvGrpSpPr/>
          <p:nvPr/>
        </p:nvGrpSpPr>
        <p:grpSpPr>
          <a:xfrm>
            <a:off x="685795" y="1691638"/>
            <a:ext cx="1353321" cy="292616"/>
            <a:chOff x="-1" y="0"/>
            <a:chExt cx="1353319" cy="292615"/>
          </a:xfrm>
        </p:grpSpPr>
        <p:sp>
          <p:nvSpPr>
            <p:cNvPr id="616" name="圓角矩形"/>
            <p:cNvSpPr/>
            <p:nvPr/>
          </p:nvSpPr>
          <p:spPr>
            <a:xfrm>
              <a:off x="-2" y="-1"/>
              <a:ext cx="1353321" cy="292617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617" name="白色簡約視覺"/>
            <p:cNvSpPr txBox="1"/>
            <p:nvPr/>
          </p:nvSpPr>
          <p:spPr>
            <a:xfrm>
              <a:off x="251206" y="44703"/>
              <a:ext cx="8509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白色簡約視覺</a:t>
              </a:r>
            </a:p>
          </p:txBody>
        </p:sp>
      </p:grpSp>
      <p:grpSp>
        <p:nvGrpSpPr>
          <p:cNvPr id="621" name="Rounded Rectangle 270"/>
          <p:cNvGrpSpPr/>
          <p:nvPr/>
        </p:nvGrpSpPr>
        <p:grpSpPr>
          <a:xfrm>
            <a:off x="2203703" y="1691638"/>
            <a:ext cx="1517913" cy="292616"/>
            <a:chOff x="-1" y="0"/>
            <a:chExt cx="1517911" cy="292615"/>
          </a:xfrm>
        </p:grpSpPr>
        <p:sp>
          <p:nvSpPr>
            <p:cNvPr id="619" name="圓角矩形"/>
            <p:cNvSpPr/>
            <p:nvPr/>
          </p:nvSpPr>
          <p:spPr>
            <a:xfrm>
              <a:off x="-2" y="-1"/>
              <a:ext cx="1517913" cy="292617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620" name="側邊欄導覽重構"/>
            <p:cNvSpPr txBox="1"/>
            <p:nvPr/>
          </p:nvSpPr>
          <p:spPr>
            <a:xfrm>
              <a:off x="263651" y="44703"/>
              <a:ext cx="9906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側邊欄導覽重構</a:t>
              </a:r>
            </a:p>
          </p:txBody>
        </p:sp>
      </p:grpSp>
      <p:grpSp>
        <p:nvGrpSpPr>
          <p:cNvPr id="624" name="Rounded Rectangle 271"/>
          <p:cNvGrpSpPr/>
          <p:nvPr/>
        </p:nvGrpSpPr>
        <p:grpSpPr>
          <a:xfrm>
            <a:off x="3886200" y="1691638"/>
            <a:ext cx="1682498" cy="292616"/>
            <a:chOff x="0" y="0"/>
            <a:chExt cx="1682497" cy="292615"/>
          </a:xfrm>
        </p:grpSpPr>
        <p:sp>
          <p:nvSpPr>
            <p:cNvPr id="622" name="圓角矩形"/>
            <p:cNvSpPr/>
            <p:nvPr/>
          </p:nvSpPr>
          <p:spPr>
            <a:xfrm>
              <a:off x="0" y="-1"/>
              <a:ext cx="1682498" cy="292617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623" name="WBS 新增大項"/>
            <p:cNvSpPr txBox="1"/>
            <p:nvPr/>
          </p:nvSpPr>
          <p:spPr>
            <a:xfrm>
              <a:off x="387284" y="44703"/>
              <a:ext cx="907927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WBS 新增大項</a:t>
              </a:r>
            </a:p>
          </p:txBody>
        </p:sp>
      </p:grpSp>
      <p:grpSp>
        <p:nvGrpSpPr>
          <p:cNvPr id="627" name="Rounded Rectangle 272"/>
          <p:cNvGrpSpPr/>
          <p:nvPr/>
        </p:nvGrpSpPr>
        <p:grpSpPr>
          <a:xfrm>
            <a:off x="5733285" y="1691638"/>
            <a:ext cx="1517913" cy="292616"/>
            <a:chOff x="-1" y="0"/>
            <a:chExt cx="1517911" cy="292615"/>
          </a:xfrm>
        </p:grpSpPr>
        <p:sp>
          <p:nvSpPr>
            <p:cNvPr id="625" name="圓角矩形"/>
            <p:cNvSpPr/>
            <p:nvPr/>
          </p:nvSpPr>
          <p:spPr>
            <a:xfrm>
              <a:off x="-2" y="-1"/>
              <a:ext cx="1517913" cy="292617"/>
            </a:xfrm>
            <a:prstGeom prst="roundRect">
              <a:avLst>
                <a:gd name="adj" fmla="val 50000"/>
              </a:avLst>
            </a:prstGeom>
            <a:solidFill>
              <a:srgbClr val="EAEFFB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</a:p>
          </p:txBody>
        </p:sp>
        <p:sp>
          <p:nvSpPr>
            <p:cNvPr id="626" name="首頁儀表板三層"/>
            <p:cNvSpPr txBox="1"/>
            <p:nvPr/>
          </p:nvSpPr>
          <p:spPr>
            <a:xfrm>
              <a:off x="263651" y="44703"/>
              <a:ext cx="990601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>
                <a:defRPr b="1" sz="1100">
                  <a:solidFill>
                    <a:srgbClr val="0B113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首頁儀表板三層</a:t>
              </a:r>
            </a:p>
          </p:txBody>
        </p:sp>
      </p:grpSp>
      <p:pic>
        <p:nvPicPr>
          <p:cNvPr id="628" name="Picture 281" descr="Picture 28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29966"/>
            <a:ext cx="5220950" cy="3263097"/>
          </a:xfrm>
          <a:prstGeom prst="rect">
            <a:avLst/>
          </a:prstGeom>
          <a:ln w="12700">
            <a:miter lim="400000"/>
          </a:ln>
        </p:spPr>
      </p:pic>
      <p:pic>
        <p:nvPicPr>
          <p:cNvPr id="629" name="Picture 282" descr="Picture 28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72507" y="2029966"/>
            <a:ext cx="5220952" cy="32630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B11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2" name="Connector 2"/>
          <p:cNvSpPr/>
          <p:nvPr/>
        </p:nvSpPr>
        <p:spPr>
          <a:xfrm>
            <a:off x="685800" y="685800"/>
            <a:ext cx="2011680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33" name="Oval 3"/>
          <p:cNvSpPr/>
          <p:nvPr/>
        </p:nvSpPr>
        <p:spPr>
          <a:xfrm>
            <a:off x="658368" y="658368"/>
            <a:ext cx="54864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4" name="Oval 4"/>
          <p:cNvSpPr/>
          <p:nvPr/>
        </p:nvSpPr>
        <p:spPr>
          <a:xfrm>
            <a:off x="1664205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5" name="Oval 5"/>
          <p:cNvSpPr/>
          <p:nvPr/>
        </p:nvSpPr>
        <p:spPr>
          <a:xfrm>
            <a:off x="2670048" y="658368"/>
            <a:ext cx="54877" cy="54864"/>
          </a:xfrm>
          <a:prstGeom prst="ellipse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6" name="TextBox 6"/>
          <p:cNvSpPr txBox="1"/>
          <p:nvPr/>
        </p:nvSpPr>
        <p:spPr>
          <a:xfrm>
            <a:off x="685800" y="960119"/>
            <a:ext cx="10807659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22D3EE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寫在最後</a:t>
            </a:r>
          </a:p>
        </p:txBody>
      </p:sp>
      <p:sp>
        <p:nvSpPr>
          <p:cNvPr id="637" name="TextBox 7"/>
          <p:cNvSpPr txBox="1"/>
          <p:nvPr/>
        </p:nvSpPr>
        <p:spPr>
          <a:xfrm>
            <a:off x="685800" y="1325877"/>
            <a:ext cx="10807659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800">
                <a:solidFill>
                  <a:srgbClr val="FFFFFF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這次做完，我自己比較有感的幾件事</a:t>
            </a:r>
          </a:p>
        </p:txBody>
      </p:sp>
      <p:sp>
        <p:nvSpPr>
          <p:cNvPr id="638" name="Rectangle 8"/>
          <p:cNvSpPr/>
          <p:nvPr/>
        </p:nvSpPr>
        <p:spPr>
          <a:xfrm>
            <a:off x="685798" y="2706622"/>
            <a:ext cx="100598" cy="100586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9" name="TextBox 9"/>
          <p:cNvSpPr txBox="1"/>
          <p:nvPr/>
        </p:nvSpPr>
        <p:spPr>
          <a:xfrm>
            <a:off x="978405" y="2606038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AI 省下的是打字跟查資料的時間；要做什麼、方向對不對，還是得自己判斷</a:t>
            </a:r>
          </a:p>
        </p:txBody>
      </p:sp>
      <p:sp>
        <p:nvSpPr>
          <p:cNvPr id="640" name="Rectangle 10"/>
          <p:cNvSpPr/>
          <p:nvPr/>
        </p:nvSpPr>
        <p:spPr>
          <a:xfrm>
            <a:off x="685798" y="3218688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1" name="TextBox 11"/>
          <p:cNvSpPr txBox="1"/>
          <p:nvPr/>
        </p:nvSpPr>
        <p:spPr>
          <a:xfrm>
            <a:off x="978405" y="3118104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一個人開發最怕沒人幫忙看，讓另一個 AI 來挑毛病，剛好補上這塊</a:t>
            </a:r>
          </a:p>
        </p:txBody>
      </p:sp>
      <p:sp>
        <p:nvSpPr>
          <p:cNvPr id="642" name="Rectangle 12"/>
          <p:cNvSpPr/>
          <p:nvPr/>
        </p:nvSpPr>
        <p:spPr>
          <a:xfrm>
            <a:off x="685798" y="3730752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3" name="TextBox 13"/>
          <p:cNvSpPr txBox="1"/>
          <p:nvPr/>
        </p:nvSpPr>
        <p:spPr>
          <a:xfrm>
            <a:off x="978405" y="3630167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最花時間的不是寫程式，是把需求想清楚——這件事 AI 幫不上忙</a:t>
            </a:r>
          </a:p>
        </p:txBody>
      </p:sp>
      <p:sp>
        <p:nvSpPr>
          <p:cNvPr id="644" name="Rectangle 14"/>
          <p:cNvSpPr/>
          <p:nvPr/>
        </p:nvSpPr>
        <p:spPr>
          <a:xfrm>
            <a:off x="685798" y="4242815"/>
            <a:ext cx="100598" cy="100597"/>
          </a:xfrm>
          <a:prstGeom prst="rect">
            <a:avLst/>
          </a:prstGeom>
          <a:solidFill>
            <a:srgbClr val="F5A52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5" name="TextBox 15"/>
          <p:cNvSpPr txBox="1"/>
          <p:nvPr/>
        </p:nvSpPr>
        <p:spPr>
          <a:xfrm>
            <a:off x="978405" y="4142232"/>
            <a:ext cx="10515057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1600">
                <a:solidFill>
                  <a:srgbClr val="FFFFFF"/>
                </a:solidFill>
                <a:latin typeface="PingFang TC Regular"/>
                <a:ea typeface="PingFang TC Regular"/>
                <a:cs typeface="PingFang TC Regular"/>
                <a:sym typeface="PingFang TC Regular"/>
              </a:defRPr>
            </a:lvl1pPr>
          </a:lstStyle>
          <a:p>
            <a:pPr/>
            <a:r>
              <a:t>兩個月做了四個世代，走的冤枉路比想像多，但每次砍掉重來都比硬撐下去快</a:t>
            </a:r>
          </a:p>
        </p:txBody>
      </p:sp>
      <p:sp>
        <p:nvSpPr>
          <p:cNvPr id="646" name="Connector 16"/>
          <p:cNvSpPr/>
          <p:nvPr/>
        </p:nvSpPr>
        <p:spPr>
          <a:xfrm>
            <a:off x="685791" y="4791454"/>
            <a:ext cx="4983502" cy="13"/>
          </a:xfrm>
          <a:prstGeom prst="line">
            <a:avLst/>
          </a:prstGeom>
          <a:ln w="12700">
            <a:solidFill>
              <a:srgbClr val="22D3EE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7" name="TextBox 17"/>
          <p:cNvSpPr txBox="1"/>
          <p:nvPr/>
        </p:nvSpPr>
        <p:spPr>
          <a:xfrm>
            <a:off x="685800" y="4974335"/>
            <a:ext cx="10807659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20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謝謝聆聽 · Q &amp; A</a:t>
            </a:r>
          </a:p>
        </p:txBody>
      </p:sp>
      <p:sp>
        <p:nvSpPr>
          <p:cNvPr id="648" name="TextBox 640"/>
          <p:cNvSpPr txBox="1"/>
          <p:nvPr/>
        </p:nvSpPr>
        <p:spPr>
          <a:xfrm>
            <a:off x="6675118" y="6428232"/>
            <a:ext cx="4800607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sz="1300">
                <a:solidFill>
                  <a:srgbClr val="F5A524"/>
                </a:solidFill>
                <a:latin typeface="PingFang TC Semibold"/>
                <a:ea typeface="PingFang TC Semibold"/>
                <a:cs typeface="PingFang TC Semibold"/>
                <a:sym typeface="PingFang TC Semibold"/>
              </a:defRPr>
            </a:lvl1pPr>
          </a:lstStyle>
          <a:p>
            <a:pPr/>
            <a:r>
              <a:t>»  沒了嗎？可以休息啦！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